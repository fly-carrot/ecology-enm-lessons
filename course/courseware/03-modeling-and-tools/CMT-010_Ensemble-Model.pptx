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0"/>
  </p:notesMasterIdLst>
  <p:sldIdLst>
    <p:sldId id="256" r:id="rId2"/>
    <p:sldId id="796" r:id="rId3"/>
    <p:sldId id="799" r:id="rId4"/>
    <p:sldId id="780" r:id="rId5"/>
    <p:sldId id="766" r:id="rId6"/>
    <p:sldId id="794" r:id="rId7"/>
    <p:sldId id="777" r:id="rId8"/>
    <p:sldId id="779" r:id="rId9"/>
    <p:sldId id="778" r:id="rId10"/>
    <p:sldId id="798" r:id="rId11"/>
    <p:sldId id="795" r:id="rId12"/>
    <p:sldId id="782" r:id="rId13"/>
    <p:sldId id="432" r:id="rId14"/>
    <p:sldId id="661" r:id="rId15"/>
    <p:sldId id="662" r:id="rId16"/>
    <p:sldId id="793" r:id="rId17"/>
    <p:sldId id="435" r:id="rId18"/>
    <p:sldId id="792" r:id="rId19"/>
    <p:sldId id="785" r:id="rId20"/>
    <p:sldId id="786" r:id="rId21"/>
    <p:sldId id="787" r:id="rId22"/>
    <p:sldId id="789" r:id="rId23"/>
    <p:sldId id="791" r:id="rId24"/>
    <p:sldId id="790" r:id="rId25"/>
    <p:sldId id="685" r:id="rId26"/>
    <p:sldId id="695" r:id="rId27"/>
    <p:sldId id="797" r:id="rId28"/>
    <p:sldId id="800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CC0099"/>
    <a:srgbClr val="660033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14" autoAdjust="0"/>
    <p:restoredTop sz="94660"/>
  </p:normalViewPr>
  <p:slideViewPr>
    <p:cSldViewPr snapToGrid="0">
      <p:cViewPr varScale="1">
        <p:scale>
          <a:sx n="90" d="100"/>
          <a:sy n="90" d="100"/>
        </p:scale>
        <p:origin x="1070" y="67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3888ED-F378-4B2C-92BC-1C90BE688313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7C8CF2-068D-4E1E-A256-93AEDA15FE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07808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7C8CF2-068D-4E1E-A256-93AEDA15FE0A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06444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1C06-9919-48EC-A4F9-7825A7865E7E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5532-604D-40F1-9141-AD72F9809A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13396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1C06-9919-48EC-A4F9-7825A7865E7E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5532-604D-40F1-9141-AD72F9809A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1246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1C06-9919-48EC-A4F9-7825A7865E7E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5532-604D-40F1-9141-AD72F9809A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3083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1C06-9919-48EC-A4F9-7825A7865E7E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5532-604D-40F1-9141-AD72F9809A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3108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1C06-9919-48EC-A4F9-7825A7865E7E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5532-604D-40F1-9141-AD72F9809A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3292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1C06-9919-48EC-A4F9-7825A7865E7E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5532-604D-40F1-9141-AD72F9809A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0534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1C06-9919-48EC-A4F9-7825A7865E7E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5532-604D-40F1-9141-AD72F9809A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0287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1C06-9919-48EC-A4F9-7825A7865E7E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5532-604D-40F1-9141-AD72F9809A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333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1C06-9919-48EC-A4F9-7825A7865E7E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5532-604D-40F1-9141-AD72F9809A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4720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1C06-9919-48EC-A4F9-7825A7865E7E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5532-604D-40F1-9141-AD72F9809A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7063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1C06-9919-48EC-A4F9-7825A7865E7E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5532-604D-40F1-9141-AD72F9809A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9381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F51C06-9919-48EC-A4F9-7825A7865E7E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195532-604D-40F1-9141-AD72F9809A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8990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gengping.zhu@wsu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cran.r-project.org/web/packages/maxnet/index.html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ill.chez-alice.fr/" TargetMode="External"/><Relationship Id="rId2" Type="http://schemas.openxmlformats.org/officeDocument/2006/relationships/hyperlink" Target="https://biomodhub.github.io/biomod2/index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ayagueguen.github.io/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www.biogeoinformatics.org/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sjevelazco.github.io/flexsdm/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sjevelazco.github.io/flexsdm/articles/v05_Rare_species_example.html" TargetMode="Externa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D105F94-253A-E23E-1E65-290028E49F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2800" y="982134"/>
            <a:ext cx="7518400" cy="3356188"/>
          </a:xfrm>
        </p:spPr>
        <p:txBody>
          <a:bodyPr>
            <a:normAutofit lnSpcReduction="10000"/>
          </a:bodyPr>
          <a:lstStyle/>
          <a:p>
            <a:pPr fontAlgn="t">
              <a:spcBef>
                <a:spcPts val="0"/>
              </a:spcBef>
              <a:spcAft>
                <a:spcPts val="1200"/>
              </a:spcAft>
            </a:pPr>
            <a:r>
              <a:rPr lang="en-US" altLang="zh-CN" sz="3200" b="1" dirty="0"/>
              <a:t>ensemble model</a:t>
            </a:r>
          </a:p>
          <a:p>
            <a:pPr fontAlgn="t">
              <a:spcBef>
                <a:spcPts val="0"/>
              </a:spcBef>
              <a:spcAft>
                <a:spcPts val="1200"/>
              </a:spcAft>
            </a:pPr>
            <a:r>
              <a:rPr lang="en-US" altLang="zh-CN" sz="3200" b="1" dirty="0"/>
              <a:t>&amp;</a:t>
            </a:r>
          </a:p>
          <a:p>
            <a:pPr fontAlgn="t">
              <a:spcBef>
                <a:spcPts val="0"/>
              </a:spcBef>
              <a:spcAft>
                <a:spcPts val="1200"/>
              </a:spcAft>
            </a:pPr>
            <a:r>
              <a:rPr lang="en-US" altLang="zh-CN" sz="3200" b="1" dirty="0"/>
              <a:t>ensemble of small model</a:t>
            </a:r>
          </a:p>
          <a:p>
            <a:pPr fontAlgn="t">
              <a:spcBef>
                <a:spcPts val="0"/>
              </a:spcBef>
              <a:spcAft>
                <a:spcPts val="1200"/>
              </a:spcAft>
            </a:pPr>
            <a:endParaRPr lang="en-US" altLang="zh-CN" sz="3200" b="1" dirty="0"/>
          </a:p>
          <a:p>
            <a:pPr fontAlgn="t">
              <a:spcBef>
                <a:spcPts val="0"/>
              </a:spcBef>
              <a:spcAft>
                <a:spcPts val="1200"/>
              </a:spcAft>
            </a:pPr>
            <a:r>
              <a:rPr lang="en-US" altLang="zh-CN" sz="3200" b="1" dirty="0"/>
              <a:t> </a:t>
            </a:r>
          </a:p>
          <a:p>
            <a:pPr fontAlgn="t">
              <a:spcBef>
                <a:spcPts val="0"/>
              </a:spcBef>
              <a:spcAft>
                <a:spcPts val="1200"/>
              </a:spcAft>
            </a:pPr>
            <a:r>
              <a:rPr lang="en-US" altLang="zh-CN" sz="2400" dirty="0"/>
              <a:t>“All models are wrong, some are useful” </a:t>
            </a:r>
            <a:endParaRPr lang="en-US" altLang="zh-CN" sz="3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E206D6-C0E2-8630-AD5C-5711CC2FA285}"/>
              </a:ext>
            </a:extLst>
          </p:cNvPr>
          <p:cNvSpPr txBox="1"/>
          <p:nvPr/>
        </p:nvSpPr>
        <p:spPr>
          <a:xfrm>
            <a:off x="2335152" y="4914420"/>
            <a:ext cx="52019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Gengping Zhu</a:t>
            </a:r>
          </a:p>
          <a:p>
            <a:pPr algn="ctr"/>
            <a:r>
              <a:rPr lang="en-US" altLang="zh-CN" sz="2400" dirty="0">
                <a:solidFill>
                  <a:srgbClr val="0563C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gengping.zhu@wsu.edu</a:t>
            </a:r>
            <a:r>
              <a:rPr lang="en-US" altLang="zh-CN" sz="2400" dirty="0"/>
              <a:t> 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007618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F7BEC-67A2-740C-7104-77A6831B15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018317"/>
            <a:ext cx="7886700" cy="4351338"/>
          </a:xfrm>
        </p:spPr>
        <p:txBody>
          <a:bodyPr/>
          <a:lstStyle/>
          <a:p>
            <a:r>
              <a:rPr lang="en-US" altLang="zh-CN" dirty="0"/>
              <a:t>In 1976, a British statistician named George Box wrote the famous line, “</a:t>
            </a:r>
            <a:r>
              <a:rPr lang="en-US" altLang="zh-CN" b="1" dirty="0">
                <a:solidFill>
                  <a:srgbClr val="0000FF"/>
                </a:solidFill>
              </a:rPr>
              <a:t>All models are wrong, some are useful</a:t>
            </a:r>
            <a:r>
              <a:rPr lang="en-US" altLang="zh-CN" dirty="0"/>
              <a:t>.” </a:t>
            </a:r>
          </a:p>
          <a:p>
            <a:endParaRPr lang="en-US" altLang="zh-CN" dirty="0"/>
          </a:p>
          <a:p>
            <a:r>
              <a:rPr lang="en-US" altLang="zh-CN" dirty="0"/>
              <a:t>"</a:t>
            </a:r>
            <a:r>
              <a:rPr lang="en-US" altLang="zh-CN" b="1" dirty="0">
                <a:solidFill>
                  <a:srgbClr val="0000FF"/>
                </a:solidFill>
              </a:rPr>
              <a:t>Nothing in Biology Makes Sense Except in the Light of Evolution</a:t>
            </a:r>
            <a:r>
              <a:rPr lang="en-US" altLang="zh-CN" dirty="0"/>
              <a:t>"  is a 1973 essay by the evolutionary biologist </a:t>
            </a:r>
            <a:r>
              <a:rPr lang="en-US" altLang="zh-CN" dirty="0" err="1"/>
              <a:t>Thodosius</a:t>
            </a:r>
            <a:r>
              <a:rPr lang="en-US" altLang="zh-CN" dirty="0"/>
              <a:t> Dobzhansky;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17985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1809A-57C0-D4E2-F812-06B47066C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Occ data </a:t>
            </a:r>
            <a:r>
              <a:rPr lang="en-US" b="1" dirty="0">
                <a:sym typeface="Wingdings" panose="05000000000000000000" pitchFamily="2" charset="2"/>
              </a:rPr>
              <a:t> Model strategy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56D99-42D8-82C4-7703-557D0B68B3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00200"/>
            <a:ext cx="7886700" cy="4441827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For species that have 1-10 points: No model, try ecoregion (ecoregion also can be used to delimit model calibration area).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80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For species that have &gt; 20 points: ensemble model (I will show this with </a:t>
            </a:r>
            <a:r>
              <a:rPr lang="en-US" dirty="0" err="1"/>
              <a:t>sdm</a:t>
            </a:r>
            <a:r>
              <a:rPr lang="en-US" dirty="0"/>
              <a:t>). 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80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For species that have 10-20 points: ensemble of small model (I will show this with </a:t>
            </a:r>
            <a:r>
              <a:rPr lang="en-US" dirty="0" err="1"/>
              <a:t>FlexSDM</a:t>
            </a:r>
            <a:r>
              <a:rPr lang="en-US" dirty="0"/>
              <a:t>)</a:t>
            </a:r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967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6DE7F-EDC4-A5FA-DE60-5FCC99DA6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149" y="172720"/>
            <a:ext cx="7886700" cy="788171"/>
          </a:xfrm>
        </p:spPr>
        <p:txBody>
          <a:bodyPr>
            <a:normAutofit/>
          </a:bodyPr>
          <a:lstStyle/>
          <a:p>
            <a:r>
              <a:rPr lang="en-US" altLang="zh-CN" sz="3200" b="1" dirty="0">
                <a:latin typeface="Adobe Garamond Pro Bold" panose="02020702060506020403" pitchFamily="18" charset="0"/>
              </a:rPr>
              <a:t>Why we need ensemble model ?</a:t>
            </a:r>
            <a:endParaRPr lang="zh-CN" altLang="en-US" sz="3200" b="1" dirty="0">
              <a:latin typeface="Adobe Garamond Pro Bold" panose="02020702060506020403" pitchFamily="18" charset="0"/>
            </a:endParaRPr>
          </a:p>
        </p:txBody>
      </p:sp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id="{F020D079-758D-4F7A-F638-87CF548E4B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62" y="847409"/>
            <a:ext cx="7011378" cy="58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86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6DE7F-EDC4-A5FA-DE60-5FCC99DA6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149" y="172720"/>
            <a:ext cx="7886700" cy="788171"/>
          </a:xfrm>
        </p:spPr>
        <p:txBody>
          <a:bodyPr>
            <a:normAutofit/>
          </a:bodyPr>
          <a:lstStyle/>
          <a:p>
            <a:r>
              <a:rPr lang="en-US" altLang="zh-CN" sz="3200" b="1">
                <a:latin typeface="Adobe Garamond Pro Bold" panose="02020702060506020403" pitchFamily="18" charset="0"/>
              </a:rPr>
              <a:t>Why ensemble </a:t>
            </a:r>
            <a:r>
              <a:rPr lang="en-US" altLang="zh-CN" sz="3200" b="1" dirty="0">
                <a:latin typeface="Adobe Garamond Pro Bold" panose="02020702060506020403" pitchFamily="18" charset="0"/>
              </a:rPr>
              <a:t>model ?</a:t>
            </a:r>
            <a:endParaRPr lang="zh-CN" altLang="en-US" sz="3200" b="1" dirty="0">
              <a:latin typeface="Adobe Garamond Pro Bold" panose="02020702060506020403" pitchFamily="18" charset="0"/>
            </a:endParaRPr>
          </a:p>
        </p:txBody>
      </p:sp>
      <p:pic>
        <p:nvPicPr>
          <p:cNvPr id="4" name="Picture 3" descr="Diagram, map&#10;&#10;Description automatically generated">
            <a:extLst>
              <a:ext uri="{FF2B5EF4-FFF2-40B4-BE49-F238E27FC236}">
                <a16:creationId xmlns:a16="http://schemas.microsoft.com/office/drawing/2014/main" id="{04262F6C-8F4A-F567-19A3-04AFC75A73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" y="857377"/>
            <a:ext cx="7528560" cy="6000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669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alendar, map&#10;&#10;Description automatically generated">
            <a:extLst>
              <a:ext uri="{FF2B5EF4-FFF2-40B4-BE49-F238E27FC236}">
                <a16:creationId xmlns:a16="http://schemas.microsoft.com/office/drawing/2014/main" id="{E3603440-F472-E8B9-A5FC-1821F1ED1E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7701" y="0"/>
            <a:ext cx="4081096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4B71914-80CA-ABFE-8381-AE962A0FCD58}"/>
              </a:ext>
            </a:extLst>
          </p:cNvPr>
          <p:cNvSpPr txBox="1"/>
          <p:nvPr/>
        </p:nvSpPr>
        <p:spPr>
          <a:xfrm>
            <a:off x="82377" y="2720716"/>
            <a:ext cx="378940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/>
              <a:t>Individual and consensus models predictions of Fall Webworm in East Asia. </a:t>
            </a:r>
          </a:p>
          <a:p>
            <a:endParaRPr lang="en-US" altLang="zh-CN" dirty="0"/>
          </a:p>
          <a:p>
            <a:r>
              <a:rPr lang="en-US" altLang="zh-CN" dirty="0"/>
              <a:t>Zhu &amp; Peterson 2017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52604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CC90C5-7C08-1B6A-01E4-8163897157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867" y="45720"/>
            <a:ext cx="6725131" cy="68122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C948D09-1231-30BE-2A33-007CC4DE9AFC}"/>
              </a:ext>
            </a:extLst>
          </p:cNvPr>
          <p:cNvSpPr txBox="1"/>
          <p:nvPr/>
        </p:nvSpPr>
        <p:spPr>
          <a:xfrm>
            <a:off x="94735" y="45720"/>
            <a:ext cx="479030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/>
              <a:t>Why ensemble model?</a:t>
            </a:r>
          </a:p>
        </p:txBody>
      </p:sp>
    </p:spTree>
    <p:extLst>
      <p:ext uri="{BB962C8B-B14F-4D97-AF65-F5344CB8AC3E}">
        <p14:creationId xmlns:p14="http://schemas.microsoft.com/office/powerpoint/2010/main" val="735688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DDED3FC-F8B8-DE16-ED77-8CF258CE87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6" y="0"/>
            <a:ext cx="90814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395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5E6F0C-30CE-E998-D58A-4B2EAA27D8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5804"/>
            <a:ext cx="9143999" cy="5184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468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ttps://oup.silverchair-cdn.com/oup/backfile/Content_public/Journal/jee/118/5/10.1093_jee_toaf175/1/m_toaf175_fig3.jpeg?Expires=1791604682&amp;Signature=DBSVgvXCNJ3woedLBDXhz9uNLQPxmyZ-ux2FDAjQBRzod~qhwvzwnDDA4vI-QrL3FbZP-4oYShcjYYy8FuNPj~amO-dGanilwcXdvFawdC62AlEL2IjB-ZRng3cIS~TRpszIekA1wwTK9q5HaDfYgHAEJKllGdZJ~afUlFDkcQH1xhfXNhehNZcDtNkcQRFQeGxSOupda8LIbic-jCH6GGUeE4uLzfS5l2-nbevJJrqBDARGyAsblv1J92tWWt6JGbiDYVoyx4nxvkZKsB2xSp5~yb9zHlu4-MhlSvQuVEGKFd~gMxkqnoNwJUvMu5TZHdM8~VDVaeutoSLcA~hkmQ__&amp;Key-Pair-Id=APKAIE5G5CRDK6RD3PGA">
            <a:extLst>
              <a:ext uri="{FF2B5EF4-FFF2-40B4-BE49-F238E27FC236}">
                <a16:creationId xmlns:a16="http://schemas.microsoft.com/office/drawing/2014/main" id="{38564B52-C14D-3085-5599-D6D651564B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484" y="1289488"/>
            <a:ext cx="9144000" cy="393895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248181A-6FE1-18FE-D53C-5411A71F7D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0867" y="30181"/>
            <a:ext cx="3830168" cy="12239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9B649C3-2851-D7E8-8C3A-BCB6AB7364DE}"/>
              </a:ext>
            </a:extLst>
          </p:cNvPr>
          <p:cNvSpPr txBox="1"/>
          <p:nvPr/>
        </p:nvSpPr>
        <p:spPr>
          <a:xfrm>
            <a:off x="-1" y="5228441"/>
            <a:ext cx="907103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Fig. 3. Ensemble habitat suitability model prediction for emerald ash borer in the Pacific Northwest. Bivariate maps denote ensemble predictions and their uncertainty; the increasing intensities of yellow represent increasing habitat suitability, and increasing blue represent increasing uncertainty.</a:t>
            </a:r>
          </a:p>
        </p:txBody>
      </p:sp>
    </p:spTree>
    <p:extLst>
      <p:ext uri="{BB962C8B-B14F-4D97-AF65-F5344CB8AC3E}">
        <p14:creationId xmlns:p14="http://schemas.microsoft.com/office/powerpoint/2010/main" val="3227421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90698-A242-D4D6-72FA-4DA2E75EF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28" y="299224"/>
            <a:ext cx="7886700" cy="788171"/>
          </a:xfrm>
        </p:spPr>
        <p:txBody>
          <a:bodyPr>
            <a:normAutofit/>
          </a:bodyPr>
          <a:lstStyle/>
          <a:p>
            <a:r>
              <a:rPr lang="en-US" altLang="zh-CN" sz="3600" b="1" dirty="0">
                <a:solidFill>
                  <a:srgbClr val="0000FF"/>
                </a:solidFill>
              </a:rPr>
              <a:t>Where these variations came from ?</a:t>
            </a:r>
            <a:endParaRPr lang="zh-CN" altLang="en-US" sz="3600" b="1" dirty="0">
              <a:solidFill>
                <a:srgbClr val="0000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E3F6EC-4B5A-3BDE-A4E4-F8FD4A5B2F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055" y="971378"/>
            <a:ext cx="6293708" cy="31563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943FC19-7C74-B57B-8D28-058D894C5C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29000"/>
            <a:ext cx="9144000" cy="3412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042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4E665-A283-F846-9687-CD3E40CEE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520" y="508000"/>
            <a:ext cx="7886700" cy="873760"/>
          </a:xfrm>
        </p:spPr>
        <p:txBody>
          <a:bodyPr/>
          <a:lstStyle/>
          <a:p>
            <a:r>
              <a:rPr lang="en-US" altLang="zh-CN" b="1" dirty="0"/>
              <a:t>How to produce ensemble model?</a:t>
            </a:r>
            <a:endParaRPr lang="zh-CN" altLang="en-US" b="1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3B0608F-A35E-66D5-415C-A2E4F44CD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520" y="1463040"/>
            <a:ext cx="8371840" cy="5252719"/>
          </a:xfrm>
        </p:spPr>
        <p:txBody>
          <a:bodyPr/>
          <a:lstStyle/>
          <a:p>
            <a:pPr>
              <a:buFont typeface="Wingdings" panose="05000000000000000000" pitchFamily="2" charset="2"/>
              <a:buChar char="n"/>
            </a:pPr>
            <a:r>
              <a:rPr lang="en-US" altLang="zh-CN" dirty="0"/>
              <a:t>Ensemble model should be fitted based on individual models…</a:t>
            </a:r>
          </a:p>
          <a:p>
            <a:pPr>
              <a:buFont typeface="Wingdings" panose="05000000000000000000" pitchFamily="2" charset="2"/>
              <a:buChar char="n"/>
            </a:pPr>
            <a:r>
              <a:rPr lang="en-US" altLang="zh-CN" dirty="0"/>
              <a:t>These individual models could be fitted separately, by unique package,</a:t>
            </a:r>
          </a:p>
          <a:p>
            <a:pPr>
              <a:buFont typeface="Wingdings" panose="05000000000000000000" pitchFamily="2" charset="2"/>
              <a:buChar char="n"/>
            </a:pPr>
            <a:r>
              <a:rPr lang="en-US" altLang="zh-CN" dirty="0"/>
              <a:t> then, a consensus model is produced, i.e., mean, median, weighted average..</a:t>
            </a:r>
          </a:p>
          <a:p>
            <a:pPr marL="0" indent="0">
              <a:buNone/>
            </a:pPr>
            <a:r>
              <a:rPr lang="en-US" altLang="zh-CN" dirty="0"/>
              <a:t>….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71444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29606-5C23-7063-035D-A81273141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7"/>
            <a:ext cx="9144000" cy="466896"/>
          </a:xfrm>
        </p:spPr>
        <p:txBody>
          <a:bodyPr>
            <a:normAutofit fontScale="90000"/>
          </a:bodyPr>
          <a:lstStyle/>
          <a:p>
            <a:r>
              <a:rPr lang="en-US" altLang="zh-CN" sz="3600" b="1" dirty="0">
                <a:solidFill>
                  <a:srgbClr val="0000FF"/>
                </a:solidFill>
                <a:latin typeface="Abadi" panose="020B0604020104020204" pitchFamily="34" charset="0"/>
              </a:rPr>
              <a:t>Generalized linear model (GLM) parameters…</a:t>
            </a:r>
            <a:endParaRPr lang="zh-CN" altLang="en-US" sz="3600" b="1" dirty="0">
              <a:solidFill>
                <a:srgbClr val="0000FF"/>
              </a:solidFill>
              <a:latin typeface="Abadi" panose="020B0604020104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272343-FBD1-2854-16FF-31AED50D5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270" y="947351"/>
            <a:ext cx="8460260" cy="5848865"/>
          </a:xfrm>
        </p:spPr>
        <p:txBody>
          <a:bodyPr>
            <a:normAutofit/>
          </a:bodyPr>
          <a:lstStyle/>
          <a:p>
            <a:pPr algn="l">
              <a:buFont typeface="Wingdings" panose="05000000000000000000" pitchFamily="2" charset="2"/>
              <a:buChar char="Ø"/>
            </a:pPr>
            <a:r>
              <a:rPr lang="en-US" altLang="zh-CN" sz="2200" b="0" i="0" u="none" strike="noStrike" baseline="0" dirty="0">
                <a:solidFill>
                  <a:srgbClr val="333333"/>
                </a:solidFill>
                <a:latin typeface="HelveticaNeue"/>
              </a:rPr>
              <a:t>We can fit linear, quadratic or higher polynomial terms (check </a:t>
            </a:r>
            <a:r>
              <a:rPr lang="en-US" altLang="zh-CN" sz="2200" b="1" i="0" u="none" strike="noStrike" baseline="0" dirty="0">
                <a:solidFill>
                  <a:srgbClr val="C00000"/>
                </a:solidFill>
                <a:latin typeface="Courier"/>
              </a:rPr>
              <a:t>poly()</a:t>
            </a:r>
            <a:r>
              <a:rPr lang="en-US" altLang="zh-CN" sz="2200" b="0" i="0" u="none" strike="noStrike" baseline="0" dirty="0">
                <a:solidFill>
                  <a:srgbClr val="333333"/>
                </a:solidFill>
                <a:latin typeface="HelveticaNeue"/>
              </a:rPr>
              <a:t>) and interactions between predictors: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altLang="zh-CN" sz="2200" b="0" i="0" u="none" strike="noStrike" baseline="0" dirty="0">
                <a:solidFill>
                  <a:srgbClr val="333333"/>
                </a:solidFill>
                <a:latin typeface="HelveticaNeue"/>
              </a:rPr>
              <a:t>the term </a:t>
            </a:r>
            <a:r>
              <a:rPr lang="en-US" altLang="zh-CN" sz="2200" b="1" i="0" u="none" strike="noStrike" baseline="0" dirty="0">
                <a:solidFill>
                  <a:srgbClr val="C00000"/>
                </a:solidFill>
                <a:latin typeface="Courier"/>
              </a:rPr>
              <a:t>I() </a:t>
            </a:r>
            <a:r>
              <a:rPr lang="en-US" altLang="zh-CN" sz="2200" b="0" i="0" u="none" strike="noStrike" baseline="0" dirty="0">
                <a:solidFill>
                  <a:srgbClr val="333333"/>
                </a:solidFill>
                <a:latin typeface="HelveticaNeue"/>
              </a:rPr>
              <a:t>indicates that a variable should be transformed before being used as predictor in the formula;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altLang="zh-CN" sz="2200" b="1" i="0" u="none" strike="noStrike" baseline="0" dirty="0">
                <a:solidFill>
                  <a:srgbClr val="C00000"/>
                </a:solidFill>
                <a:latin typeface="Courier"/>
              </a:rPr>
              <a:t>poly(</a:t>
            </a:r>
            <a:r>
              <a:rPr lang="en-US" altLang="zh-CN" sz="2200" b="1" i="0" u="none" strike="noStrike" baseline="0" dirty="0" err="1">
                <a:solidFill>
                  <a:srgbClr val="C00000"/>
                </a:solidFill>
                <a:latin typeface="Courier"/>
              </a:rPr>
              <a:t>x,n</a:t>
            </a:r>
            <a:r>
              <a:rPr lang="en-US" altLang="zh-CN" sz="2200" b="1" i="0" u="none" strike="noStrike" baseline="0" dirty="0">
                <a:solidFill>
                  <a:srgbClr val="C00000"/>
                </a:solidFill>
                <a:latin typeface="Courier"/>
              </a:rPr>
              <a:t>) </a:t>
            </a:r>
            <a:r>
              <a:rPr lang="en-US" altLang="zh-CN" sz="2200" b="0" i="0" u="none" strike="noStrike" baseline="0" dirty="0">
                <a:solidFill>
                  <a:srgbClr val="333333"/>
                </a:solidFill>
                <a:latin typeface="HelveticaNeue"/>
              </a:rPr>
              <a:t>creates a polynomial of degree;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altLang="zh-CN" sz="2200" b="1" i="0" u="none" strike="noStrike" baseline="0" dirty="0">
                <a:solidFill>
                  <a:srgbClr val="C00000"/>
                </a:solidFill>
                <a:latin typeface="Courier"/>
              </a:rPr>
              <a:t>x1:x2 </a:t>
            </a:r>
            <a:r>
              <a:rPr lang="en-US" altLang="zh-CN" sz="2200" b="0" i="0" u="none" strike="noStrike" baseline="0" dirty="0">
                <a:solidFill>
                  <a:srgbClr val="333333"/>
                </a:solidFill>
                <a:latin typeface="HelveticaNeue"/>
              </a:rPr>
              <a:t>creates a two-way interaction term between variables x1 and x2, the linear terms of x1 and x2 would have to be specified separately;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altLang="zh-CN" sz="2200" b="1" i="0" u="none" strike="noStrike" baseline="0" dirty="0">
                <a:solidFill>
                  <a:srgbClr val="C00000"/>
                </a:solidFill>
                <a:latin typeface="Courier"/>
              </a:rPr>
              <a:t>x1*x2 </a:t>
            </a:r>
            <a:r>
              <a:rPr lang="en-US" altLang="zh-CN" sz="2200" b="0" i="0" u="none" strike="noStrike" baseline="0" dirty="0">
                <a:solidFill>
                  <a:srgbClr val="333333"/>
                </a:solidFill>
                <a:latin typeface="HelveticaNeue"/>
              </a:rPr>
              <a:t>creates a two-way interaction term between variables x1 and x2 </a:t>
            </a:r>
            <a:r>
              <a:rPr lang="en-US" altLang="zh-CN" sz="2200" b="1" i="0" u="none" strike="noStrike" baseline="0" dirty="0">
                <a:solidFill>
                  <a:srgbClr val="FF0000"/>
                </a:solidFill>
                <a:latin typeface="HelveticaNeue"/>
              </a:rPr>
              <a:t>plus</a:t>
            </a:r>
            <a:r>
              <a:rPr lang="en-US" altLang="zh-CN" sz="2200" b="0" i="0" u="none" strike="noStrike" baseline="0" dirty="0">
                <a:solidFill>
                  <a:srgbClr val="333333"/>
                </a:solidFill>
                <a:latin typeface="HelveticaNeue"/>
              </a:rPr>
              <a:t> their linear terms, i.e.,</a:t>
            </a:r>
            <a:r>
              <a:rPr lang="en-US" altLang="zh-CN" sz="2200" b="1" i="0" u="none" strike="noStrike" baseline="0" dirty="0">
                <a:solidFill>
                  <a:srgbClr val="C00000"/>
                </a:solidFill>
                <a:latin typeface="Courier"/>
              </a:rPr>
              <a:t> x1*x2 == 1x + x2+ x1:x2</a:t>
            </a:r>
            <a:r>
              <a:rPr lang="en-US" altLang="zh-CN" sz="2200" b="0" i="0" u="none" strike="noStrike" baseline="0" dirty="0">
                <a:solidFill>
                  <a:srgbClr val="333333"/>
                </a:solidFill>
                <a:latin typeface="HelveticaNeue"/>
              </a:rPr>
              <a:t> 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altLang="zh-CN" sz="2200" b="1" i="0" u="none" strike="noStrike" baseline="0" dirty="0">
                <a:solidFill>
                  <a:srgbClr val="C00000"/>
                </a:solidFill>
                <a:latin typeface="Courier"/>
              </a:rPr>
              <a:t>x1*x2*x3 </a:t>
            </a:r>
            <a:r>
              <a:rPr lang="en-US" altLang="zh-CN" sz="2200" b="0" i="0" u="none" strike="noStrike" baseline="0" dirty="0">
                <a:solidFill>
                  <a:srgbClr val="333333"/>
                </a:solidFill>
                <a:latin typeface="HelveticaNeue"/>
              </a:rPr>
              <a:t>creates the linear terms of the three variables, all possible two-way interactions between these variables and the three-way interaction</a:t>
            </a:r>
          </a:p>
          <a:p>
            <a:pPr marL="0" indent="0" algn="l">
              <a:buNone/>
            </a:pPr>
            <a:r>
              <a:rPr lang="en-US" altLang="zh-CN" sz="2200" dirty="0">
                <a:solidFill>
                  <a:srgbClr val="333333"/>
                </a:solidFill>
                <a:latin typeface="HelveticaNeue"/>
              </a:rPr>
              <a:t>…</a:t>
            </a:r>
            <a:endParaRPr lang="zh-CN" altLang="en-US" sz="2200" dirty="0"/>
          </a:p>
        </p:txBody>
      </p:sp>
    </p:spTree>
    <p:extLst>
      <p:ext uri="{BB962C8B-B14F-4D97-AF65-F5344CB8AC3E}">
        <p14:creationId xmlns:p14="http://schemas.microsoft.com/office/powerpoint/2010/main" val="1956144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29606-5C23-7063-035D-A81273141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9144000" cy="1325563"/>
          </a:xfrm>
        </p:spPr>
        <p:txBody>
          <a:bodyPr>
            <a:normAutofit fontScale="90000"/>
          </a:bodyPr>
          <a:lstStyle/>
          <a:p>
            <a:r>
              <a:rPr lang="en-US" altLang="zh-CN" sz="3600" b="1" dirty="0">
                <a:solidFill>
                  <a:srgbClr val="0000FF"/>
                </a:solidFill>
                <a:latin typeface="Abadi" panose="020B0604020104020204" pitchFamily="34" charset="0"/>
              </a:rPr>
              <a:t>Generalized Additive Model (GAM) parameters…</a:t>
            </a:r>
            <a:br>
              <a:rPr lang="en-US" altLang="zh-CN" sz="3600" b="1" dirty="0">
                <a:solidFill>
                  <a:srgbClr val="0000FF"/>
                </a:solidFill>
                <a:latin typeface="Abadi" panose="020B0604020104020204" pitchFamily="34" charset="0"/>
              </a:rPr>
            </a:br>
            <a:r>
              <a:rPr lang="en-US" altLang="zh-CN" sz="3600" b="1" dirty="0">
                <a:solidFill>
                  <a:srgbClr val="0000FF"/>
                </a:solidFill>
                <a:latin typeface="Abadi" panose="020B0604020104020204" pitchFamily="34" charset="0"/>
              </a:rPr>
              <a:t>package: gam, </a:t>
            </a:r>
            <a:r>
              <a:rPr lang="en-US" altLang="zh-CN" sz="3600" b="1" dirty="0" err="1">
                <a:solidFill>
                  <a:srgbClr val="0000FF"/>
                </a:solidFill>
                <a:latin typeface="Abadi" panose="020B0604020104020204" pitchFamily="34" charset="0"/>
              </a:rPr>
              <a:t>mgcv</a:t>
            </a:r>
            <a:endParaRPr lang="zh-CN" altLang="en-US" sz="3600" b="1" dirty="0">
              <a:solidFill>
                <a:srgbClr val="0000FF"/>
              </a:solidFill>
              <a:latin typeface="Abadi" panose="020B0604020104020204" pitchFamily="34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1F2E52-E262-3CF1-9C61-B20F04DE6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999" y="1767840"/>
            <a:ext cx="8353991" cy="5193682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dirty="0"/>
              <a:t> used when the linear predictor depends linearly on unknown smooth functions of some predictor variables. The distinction is blurry as you can represent numeric covariables e.g. by a spline also in a GLM</a:t>
            </a:r>
          </a:p>
          <a:p>
            <a:r>
              <a:rPr lang="en-US" altLang="zh-CN" dirty="0"/>
              <a:t>an adaptation that allows us to model </a:t>
            </a:r>
            <a:r>
              <a:rPr lang="en-US" altLang="zh-CN" b="1" dirty="0"/>
              <a:t>non-linear data</a:t>
            </a:r>
            <a:r>
              <a:rPr lang="en-US" altLang="zh-CN" dirty="0"/>
              <a:t> while maintaining </a:t>
            </a:r>
            <a:r>
              <a:rPr lang="en-US" altLang="zh-CN" dirty="0" err="1"/>
              <a:t>explainability</a:t>
            </a:r>
            <a:r>
              <a:rPr lang="en-US" altLang="zh-CN" dirty="0"/>
              <a:t>.</a:t>
            </a:r>
          </a:p>
          <a:p>
            <a:r>
              <a:rPr lang="en-US" altLang="zh-CN" dirty="0"/>
              <a:t>allows to either shrink the importance of variables depending on the significance, or it allows to shrink insignificant variables to ‘zero’, meaning that this represents a variable selection. </a:t>
            </a:r>
          </a:p>
          <a:p>
            <a:r>
              <a:rPr lang="en-US" altLang="zh-CN" u="sng" dirty="0">
                <a:solidFill>
                  <a:srgbClr val="FF0000"/>
                </a:solidFill>
              </a:rPr>
              <a:t>spline smoother s()</a:t>
            </a:r>
            <a:r>
              <a:rPr lang="en-US" altLang="zh-CN" dirty="0"/>
              <a:t> is related to model complexity, with the complexity parameter k set to 3 for a simple shape, and k=-1 for letting </a:t>
            </a:r>
            <a:r>
              <a:rPr lang="en-US" altLang="zh-CN" dirty="0" err="1"/>
              <a:t>mgcv</a:t>
            </a:r>
            <a:r>
              <a:rPr lang="en-US" altLang="zh-CN" dirty="0"/>
              <a:t> optimizing the complexity.</a:t>
            </a:r>
          </a:p>
          <a:p>
            <a:r>
              <a:rPr lang="en-US" altLang="zh-CN" dirty="0"/>
              <a:t>….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41579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29606-5C23-7063-035D-A81273141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" y="254000"/>
            <a:ext cx="9113520" cy="711834"/>
          </a:xfrm>
        </p:spPr>
        <p:txBody>
          <a:bodyPr>
            <a:normAutofit fontScale="90000"/>
          </a:bodyPr>
          <a:lstStyle/>
          <a:p>
            <a:r>
              <a:rPr lang="en-US" altLang="zh-CN" sz="3600" b="1" dirty="0">
                <a:solidFill>
                  <a:srgbClr val="0000FF"/>
                </a:solidFill>
                <a:latin typeface="Abadi" panose="020B0604020104020204" pitchFamily="34" charset="0"/>
              </a:rPr>
              <a:t>Random Forest (RF) parameters…</a:t>
            </a:r>
            <a:br>
              <a:rPr lang="en-US" altLang="zh-CN" sz="3600" b="1" dirty="0">
                <a:solidFill>
                  <a:srgbClr val="0000FF"/>
                </a:solidFill>
                <a:latin typeface="Abadi" panose="020B0604020104020204" pitchFamily="34" charset="0"/>
              </a:rPr>
            </a:br>
            <a:r>
              <a:rPr lang="en-US" altLang="zh-CN" sz="3600" b="1" dirty="0">
                <a:solidFill>
                  <a:srgbClr val="0000FF"/>
                </a:solidFill>
                <a:latin typeface="Abadi" panose="020B0604020104020204" pitchFamily="34" charset="0"/>
              </a:rPr>
              <a:t>package: </a:t>
            </a:r>
            <a:r>
              <a:rPr lang="en-US" altLang="zh-CN" sz="3600" b="1" dirty="0" err="1">
                <a:solidFill>
                  <a:srgbClr val="0000FF"/>
                </a:solidFill>
                <a:latin typeface="Abadi" panose="020B0604020104020204" pitchFamily="34" charset="0"/>
              </a:rPr>
              <a:t>randomforest</a:t>
            </a:r>
            <a:endParaRPr lang="zh-CN" altLang="en-US" sz="3600" b="1" dirty="0">
              <a:solidFill>
                <a:srgbClr val="0000FF"/>
              </a:solidFill>
              <a:latin typeface="Abadi" panose="020B0604020104020204" pitchFamily="34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1F2E52-E262-3CF1-9C61-B20F04DE6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840" y="1076961"/>
            <a:ext cx="8727440" cy="552703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method…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 bagging procedure for averaging the outputs of many different CARTs (classification and regression trees)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CARTs bootstrapped samples of the training data and then either average the results in case of regression trees or make a simple vote in case of classification trees (committee averaging)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altLang="zh-CN" sz="2400" b="0" i="0" u="none" strike="noStrike" baseline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important feature of random forests are the out-of-bag samples, which means that the prediction/fit for a specific data point is only derived from averaging trees that did not include this data point during tree growing.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altLang="zh-CN" sz="2400" b="0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output of Random Forests is essentially cross-validated! 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altLang="zh-CN" sz="2400" b="0" i="0" u="none" strike="noStrike" baseline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forests estimate variable importance by a permutation procedure, which measures for each variable the drop in mean accuracy when this variable is permutated.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0744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5A923-8FF6-F2F7-2553-206CBE093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0000FF"/>
                </a:solidFill>
              </a:rPr>
              <a:t>Maxent</a:t>
            </a:r>
            <a:r>
              <a:rPr lang="en-US" altLang="zh-CN" dirty="0"/>
              <a:t>: </a:t>
            </a:r>
            <a:r>
              <a:rPr lang="en-US" altLang="zh-CN" b="1" dirty="0" err="1"/>
              <a:t>maxnet</a:t>
            </a:r>
            <a:r>
              <a:rPr lang="en-US" altLang="zh-CN" b="1" dirty="0"/>
              <a:t> package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011F0-A56F-3680-1D67-C3C473154D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86728"/>
            <a:ext cx="7886700" cy="4351338"/>
          </a:xfrm>
        </p:spPr>
        <p:txBody>
          <a:bodyPr/>
          <a:lstStyle/>
          <a:p>
            <a:r>
              <a:rPr lang="en-US" altLang="zh-CN" sz="2400" dirty="0" err="1"/>
              <a:t>maxnet</a:t>
            </a:r>
            <a:r>
              <a:rPr lang="en-US" altLang="zh-CN" sz="2400" dirty="0"/>
              <a:t>: Fitting 'Maxent' Species Distribution Models with '</a:t>
            </a:r>
            <a:r>
              <a:rPr lang="en-US" altLang="zh-CN" sz="2400" dirty="0" err="1"/>
              <a:t>glmnet</a:t>
            </a:r>
            <a:r>
              <a:rPr lang="en-US" altLang="zh-CN" sz="2400" dirty="0"/>
              <a:t>’</a:t>
            </a:r>
          </a:p>
          <a:p>
            <a:r>
              <a:rPr lang="en-US" altLang="zh-CN" sz="2000" b="1" dirty="0">
                <a:hlinkClick r:id="rId2"/>
              </a:rPr>
              <a:t>https://cran.r-project.org/web/packages/maxnet/index.html</a:t>
            </a:r>
            <a:r>
              <a:rPr lang="en-US" altLang="zh-CN" sz="2000" b="1" dirty="0"/>
              <a:t> </a:t>
            </a:r>
          </a:p>
          <a:p>
            <a:endParaRPr lang="en-US" altLang="zh-CN" sz="2000" b="1" dirty="0"/>
          </a:p>
          <a:p>
            <a:r>
              <a:rPr lang="en-US" altLang="zh-CN" sz="2000" dirty="0"/>
              <a:t>Procedures to fit species distributions models from occurrence records and environmental variables, using '</a:t>
            </a:r>
            <a:r>
              <a:rPr lang="en-US" altLang="zh-CN" sz="2000" dirty="0" err="1"/>
              <a:t>glmnet</a:t>
            </a:r>
            <a:r>
              <a:rPr lang="en-US" altLang="zh-CN" sz="2000" dirty="0"/>
              <a:t>' for model fitting. </a:t>
            </a:r>
          </a:p>
          <a:p>
            <a:r>
              <a:rPr lang="en-US" altLang="zh-CN" sz="2000" dirty="0"/>
              <a:t>Model structure is the same as for the 'Maxent' Java package, version 3.4.0, with the same feature types and regularization options. </a:t>
            </a:r>
            <a:endParaRPr lang="en-US" altLang="zh-CN" sz="2000" b="1" dirty="0"/>
          </a:p>
          <a:p>
            <a:endParaRPr lang="en-US" altLang="zh-CN" sz="2000" b="1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2430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hart, scatter chart&#10;&#10;Description automatically generated">
            <a:extLst>
              <a:ext uri="{FF2B5EF4-FFF2-40B4-BE49-F238E27FC236}">
                <a16:creationId xmlns:a16="http://schemas.microsoft.com/office/drawing/2014/main" id="{20DC3271-1106-3BAF-6ED0-0012507889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5114" y="0"/>
            <a:ext cx="2719693" cy="6858000"/>
          </a:xfrm>
          <a:prstGeom prst="rect">
            <a:avLst/>
          </a:prstGeom>
        </p:spPr>
      </p:pic>
      <p:sp>
        <p:nvSpPr>
          <p:cNvPr id="4" name="Arrow: Down 3">
            <a:extLst>
              <a:ext uri="{FF2B5EF4-FFF2-40B4-BE49-F238E27FC236}">
                <a16:creationId xmlns:a16="http://schemas.microsoft.com/office/drawing/2014/main" id="{2CD4CB35-91D4-CC87-E24D-F0BCBED36364}"/>
              </a:ext>
            </a:extLst>
          </p:cNvPr>
          <p:cNvSpPr/>
          <p:nvPr/>
        </p:nvSpPr>
        <p:spPr>
          <a:xfrm>
            <a:off x="2468880" y="844039"/>
            <a:ext cx="756234" cy="5288692"/>
          </a:xfrm>
          <a:prstGeom prst="downArrow">
            <a:avLst/>
          </a:prstGeom>
          <a:gradFill>
            <a:gsLst>
              <a:gs pos="26250">
                <a:srgbClr val="FFFFFF"/>
              </a:gs>
              <a:gs pos="17500">
                <a:srgbClr val="FFFFFF"/>
              </a:gs>
              <a:gs pos="0">
                <a:schemeClr val="accent1">
                  <a:lumMod val="0"/>
                  <a:lumOff val="100000"/>
                </a:schemeClr>
              </a:gs>
              <a:gs pos="35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path path="circle">
              <a:fillToRect l="50000" t="-80000" r="50000" b="180000"/>
            </a:path>
          </a:gra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328F90-57EF-9912-E801-E50B558E6901}"/>
              </a:ext>
            </a:extLst>
          </p:cNvPr>
          <p:cNvSpPr txBox="1"/>
          <p:nvPr/>
        </p:nvSpPr>
        <p:spPr>
          <a:xfrm>
            <a:off x="132080" y="1659285"/>
            <a:ext cx="286726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</a:rPr>
              <a:t>Simple model</a:t>
            </a:r>
          </a:p>
          <a:p>
            <a:endParaRPr lang="en-US" altLang="zh-CN" sz="2800" b="1" u="sng" dirty="0">
              <a:solidFill>
                <a:srgbClr val="FF0000"/>
              </a:solidFill>
            </a:endParaRPr>
          </a:p>
          <a:p>
            <a:endParaRPr lang="en-US" altLang="zh-CN" sz="2800" b="1" u="sng" dirty="0">
              <a:solidFill>
                <a:srgbClr val="FF0000"/>
              </a:solidFill>
            </a:endParaRPr>
          </a:p>
          <a:p>
            <a:r>
              <a:rPr lang="en-US" altLang="zh-CN" sz="2800" b="1" dirty="0">
                <a:solidFill>
                  <a:srgbClr val="0000FF"/>
                </a:solidFill>
              </a:rPr>
              <a:t>Complexity</a:t>
            </a:r>
          </a:p>
          <a:p>
            <a:endParaRPr lang="en-US" altLang="zh-CN" sz="2800" b="1" u="sng" dirty="0">
              <a:solidFill>
                <a:srgbClr val="FF0000"/>
              </a:solidFill>
            </a:endParaRPr>
          </a:p>
          <a:p>
            <a:endParaRPr lang="en-US" altLang="zh-CN" sz="2800" b="1" u="sng" dirty="0">
              <a:solidFill>
                <a:srgbClr val="FF0000"/>
              </a:solidFill>
            </a:endParaRPr>
          </a:p>
          <a:p>
            <a:endParaRPr lang="en-US" altLang="zh-CN" sz="2800" b="1" u="sng" dirty="0">
              <a:solidFill>
                <a:srgbClr val="FF0000"/>
              </a:solidFill>
            </a:endParaRPr>
          </a:p>
          <a:p>
            <a:r>
              <a:rPr lang="en-US" altLang="zh-CN" sz="2800" b="1" dirty="0">
                <a:solidFill>
                  <a:srgbClr val="FF0000"/>
                </a:solidFill>
              </a:rPr>
              <a:t>Complex model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9A6D97-BA04-91F1-7912-2F78B2E0E291}"/>
              </a:ext>
            </a:extLst>
          </p:cNvPr>
          <p:cNvSpPr txBox="1"/>
          <p:nvPr/>
        </p:nvSpPr>
        <p:spPr>
          <a:xfrm>
            <a:off x="5918887" y="784654"/>
            <a:ext cx="3225113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Abadi" panose="020B0604020104020204" pitchFamily="34" charset="0"/>
              </a:rPr>
              <a:t>Linear model</a:t>
            </a:r>
          </a:p>
          <a:p>
            <a:endParaRPr lang="en-US" altLang="zh-CN" b="1" dirty="0">
              <a:solidFill>
                <a:srgbClr val="FF0000"/>
              </a:solidFill>
              <a:latin typeface="Abadi" panose="020B0604020104020204" pitchFamily="34" charset="0"/>
            </a:endParaRPr>
          </a:p>
          <a:p>
            <a:endParaRPr lang="en-US" altLang="zh-CN" b="1" dirty="0">
              <a:solidFill>
                <a:srgbClr val="FF0000"/>
              </a:solidFill>
              <a:latin typeface="Abadi" panose="020B0604020104020204" pitchFamily="34" charset="0"/>
            </a:endParaRPr>
          </a:p>
          <a:p>
            <a:endParaRPr lang="en-US" altLang="zh-CN" b="1" dirty="0">
              <a:solidFill>
                <a:srgbClr val="FF0000"/>
              </a:solidFill>
              <a:latin typeface="Abadi" panose="020B0604020104020204" pitchFamily="34" charset="0"/>
            </a:endParaRPr>
          </a:p>
          <a:p>
            <a:endParaRPr lang="en-US" altLang="zh-CN" b="1" dirty="0">
              <a:solidFill>
                <a:srgbClr val="FF0000"/>
              </a:solidFill>
              <a:latin typeface="Abadi" panose="020B0604020104020204" pitchFamily="34" charset="0"/>
            </a:endParaRPr>
          </a:p>
          <a:p>
            <a:r>
              <a:rPr lang="en-US" altLang="zh-CN" b="1" dirty="0">
                <a:solidFill>
                  <a:srgbClr val="FF0000"/>
                </a:solidFill>
                <a:latin typeface="Abadi" panose="020B0604020104020204" pitchFamily="34" charset="0"/>
              </a:rPr>
              <a:t>Generalized linear model</a:t>
            </a:r>
          </a:p>
          <a:p>
            <a:endParaRPr lang="en-US" altLang="zh-CN" b="1" dirty="0">
              <a:solidFill>
                <a:srgbClr val="FF0000"/>
              </a:solidFill>
              <a:latin typeface="Abadi" panose="020B0604020104020204" pitchFamily="34" charset="0"/>
            </a:endParaRPr>
          </a:p>
          <a:p>
            <a:endParaRPr lang="en-US" altLang="zh-CN" b="1" dirty="0">
              <a:solidFill>
                <a:srgbClr val="FF0000"/>
              </a:solidFill>
              <a:latin typeface="Abadi" panose="020B0604020104020204" pitchFamily="34" charset="0"/>
            </a:endParaRPr>
          </a:p>
          <a:p>
            <a:endParaRPr lang="en-US" altLang="zh-CN" b="1" dirty="0">
              <a:solidFill>
                <a:srgbClr val="FF0000"/>
              </a:solidFill>
              <a:latin typeface="Abadi" panose="020B0604020104020204" pitchFamily="34" charset="0"/>
            </a:endParaRPr>
          </a:p>
          <a:p>
            <a:endParaRPr lang="en-US" altLang="zh-CN" b="1" dirty="0">
              <a:solidFill>
                <a:srgbClr val="FF0000"/>
              </a:solidFill>
              <a:latin typeface="Abadi" panose="020B0604020104020204" pitchFamily="34" charset="0"/>
            </a:endParaRPr>
          </a:p>
          <a:p>
            <a:endParaRPr lang="en-US" altLang="zh-CN" b="1" dirty="0">
              <a:solidFill>
                <a:srgbClr val="FF0000"/>
              </a:solidFill>
              <a:latin typeface="Abadi" panose="020B0604020104020204" pitchFamily="34" charset="0"/>
            </a:endParaRPr>
          </a:p>
          <a:p>
            <a:endParaRPr lang="en-US" altLang="zh-CN" b="1" dirty="0">
              <a:solidFill>
                <a:srgbClr val="FF0000"/>
              </a:solidFill>
              <a:latin typeface="Abadi" panose="020B0604020104020204" pitchFamily="34" charset="0"/>
            </a:endParaRPr>
          </a:p>
          <a:p>
            <a:r>
              <a:rPr lang="en-US" altLang="zh-CN" b="1" dirty="0">
                <a:solidFill>
                  <a:srgbClr val="FF0000"/>
                </a:solidFill>
                <a:latin typeface="Abadi" panose="020B0604020104020204" pitchFamily="34" charset="0"/>
              </a:rPr>
              <a:t>Generalized additive model</a:t>
            </a:r>
          </a:p>
          <a:p>
            <a:endParaRPr lang="en-US" altLang="zh-CN" b="1" dirty="0">
              <a:solidFill>
                <a:srgbClr val="FF0000"/>
              </a:solidFill>
              <a:latin typeface="Abadi" panose="020B0604020104020204" pitchFamily="34" charset="0"/>
            </a:endParaRPr>
          </a:p>
          <a:p>
            <a:endParaRPr lang="en-US" altLang="zh-CN" b="1" dirty="0">
              <a:solidFill>
                <a:srgbClr val="FF0000"/>
              </a:solidFill>
              <a:latin typeface="Abadi" panose="020B0604020104020204" pitchFamily="34" charset="0"/>
            </a:endParaRPr>
          </a:p>
          <a:p>
            <a:endParaRPr lang="en-US" altLang="zh-CN" b="1" dirty="0">
              <a:solidFill>
                <a:srgbClr val="FF0000"/>
              </a:solidFill>
              <a:latin typeface="Abadi" panose="020B0604020104020204" pitchFamily="34" charset="0"/>
            </a:endParaRPr>
          </a:p>
          <a:p>
            <a:r>
              <a:rPr lang="en-US" altLang="zh-CN" b="1" dirty="0">
                <a:solidFill>
                  <a:srgbClr val="FF0000"/>
                </a:solidFill>
                <a:latin typeface="Abadi" panose="020B0604020104020204" pitchFamily="34" charset="0"/>
              </a:rPr>
              <a:t>Machine learning</a:t>
            </a:r>
          </a:p>
          <a:p>
            <a:r>
              <a:rPr lang="en-US" altLang="zh-CN" b="1" dirty="0">
                <a:solidFill>
                  <a:srgbClr val="FF0000"/>
                </a:solidFill>
                <a:latin typeface="Abadi" panose="020B0604020104020204" pitchFamily="34" charset="0"/>
              </a:rPr>
              <a:t>Random forest</a:t>
            </a:r>
          </a:p>
          <a:p>
            <a:r>
              <a:rPr lang="en-US" altLang="zh-CN" b="1" dirty="0">
                <a:solidFill>
                  <a:srgbClr val="FF0000"/>
                </a:solidFill>
                <a:latin typeface="Abadi" panose="020B0604020104020204" pitchFamily="34" charset="0"/>
              </a:rPr>
              <a:t>Boot regression</a:t>
            </a:r>
          </a:p>
          <a:p>
            <a:r>
              <a:rPr lang="en-US" altLang="zh-CN" b="1" dirty="0">
                <a:solidFill>
                  <a:srgbClr val="FF0000"/>
                </a:solidFill>
                <a:latin typeface="Abadi" panose="020B0604020104020204" pitchFamily="34" charset="0"/>
              </a:rPr>
              <a:t>Maxent</a:t>
            </a:r>
          </a:p>
          <a:p>
            <a:r>
              <a:rPr lang="en-US" altLang="zh-CN" b="1" dirty="0">
                <a:solidFill>
                  <a:srgbClr val="FF0000"/>
                </a:solidFill>
                <a:latin typeface="Abadi" panose="020B0604020104020204" pitchFamily="34" charset="0"/>
              </a:rPr>
              <a:t>.. </a:t>
            </a:r>
            <a:endParaRPr lang="zh-CN" altLang="en-US" b="1" dirty="0">
              <a:solidFill>
                <a:srgbClr val="FF0000"/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3189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4E665-A283-F846-9687-CD3E40CEE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520" y="508000"/>
            <a:ext cx="7886700" cy="873760"/>
          </a:xfrm>
        </p:spPr>
        <p:txBody>
          <a:bodyPr/>
          <a:lstStyle/>
          <a:p>
            <a:r>
              <a:rPr lang="en-US" altLang="zh-CN" b="1" dirty="0"/>
              <a:t>How to produce ensemble model?</a:t>
            </a:r>
            <a:endParaRPr lang="zh-CN" altLang="en-US" b="1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3B0608F-A35E-66D5-415C-A2E4F44CD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520" y="1463040"/>
            <a:ext cx="8371840" cy="5252719"/>
          </a:xfrm>
        </p:spPr>
        <p:txBody>
          <a:bodyPr/>
          <a:lstStyle/>
          <a:p>
            <a:pPr>
              <a:buFont typeface="Wingdings" panose="05000000000000000000" pitchFamily="2" charset="2"/>
              <a:buChar char="n"/>
            </a:pPr>
            <a:r>
              <a:rPr lang="en-US" altLang="zh-CN" dirty="0"/>
              <a:t>Ensemble model should be fitted based on individual models…</a:t>
            </a:r>
          </a:p>
          <a:p>
            <a:pPr>
              <a:buFont typeface="Wingdings" panose="05000000000000000000" pitchFamily="2" charset="2"/>
              <a:buChar char="n"/>
            </a:pPr>
            <a:r>
              <a:rPr lang="en-US" altLang="zh-CN" dirty="0"/>
              <a:t>These individual models could be fitted separately, by unique package, then produce a consensus model;</a:t>
            </a:r>
          </a:p>
          <a:p>
            <a:pPr>
              <a:buFont typeface="Wingdings" panose="05000000000000000000" pitchFamily="2" charset="2"/>
              <a:buChar char="n"/>
            </a:pPr>
            <a:r>
              <a:rPr lang="en-US" altLang="zh-CN" dirty="0"/>
              <a:t>Now, these individual models can be fitted on single platform, example include: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0000FF"/>
                </a:solidFill>
              </a:rPr>
              <a:t>                    </a:t>
            </a:r>
            <a:r>
              <a:rPr lang="en-US" altLang="zh-CN" sz="3200" b="1" dirty="0" err="1">
                <a:solidFill>
                  <a:srgbClr val="0000FF"/>
                </a:solidFill>
              </a:rPr>
              <a:t>dismo</a:t>
            </a:r>
            <a:r>
              <a:rPr lang="en-US" altLang="zh-CN" sz="3200" b="1" dirty="0"/>
              <a:t>, </a:t>
            </a:r>
            <a:r>
              <a:rPr lang="en-US" altLang="zh-CN" sz="3200" b="1" dirty="0">
                <a:solidFill>
                  <a:srgbClr val="0000FF"/>
                </a:solidFill>
              </a:rPr>
              <a:t>Bimod2</a:t>
            </a:r>
            <a:r>
              <a:rPr lang="en-US" altLang="zh-CN" sz="3200" b="1" dirty="0"/>
              <a:t>,</a:t>
            </a:r>
            <a:r>
              <a:rPr lang="en-US" altLang="zh-CN" sz="3200" b="1" dirty="0">
                <a:solidFill>
                  <a:srgbClr val="0000FF"/>
                </a:solidFill>
              </a:rPr>
              <a:t> </a:t>
            </a:r>
            <a:r>
              <a:rPr lang="en-US" altLang="zh-CN" sz="3200" b="1" dirty="0" err="1">
                <a:solidFill>
                  <a:srgbClr val="0000FF"/>
                </a:solidFill>
              </a:rPr>
              <a:t>sdm</a:t>
            </a:r>
            <a:r>
              <a:rPr lang="en-US" altLang="zh-CN" sz="3200" b="1" dirty="0"/>
              <a:t>,</a:t>
            </a:r>
            <a:r>
              <a:rPr lang="en-US" altLang="zh-CN" sz="3200" b="1" dirty="0">
                <a:solidFill>
                  <a:srgbClr val="0000FF"/>
                </a:solidFill>
              </a:rPr>
              <a:t> </a:t>
            </a:r>
            <a:r>
              <a:rPr lang="en-US" altLang="zh-CN" sz="3200" b="1" dirty="0" err="1">
                <a:solidFill>
                  <a:srgbClr val="0000FF"/>
                </a:solidFill>
              </a:rPr>
              <a:t>flexsdm</a:t>
            </a:r>
            <a:endParaRPr lang="en-US" altLang="zh-CN" sz="3200" b="1" dirty="0">
              <a:solidFill>
                <a:srgbClr val="0000FF"/>
              </a:solidFill>
            </a:endParaRPr>
          </a:p>
          <a:p>
            <a:pPr marL="0" indent="0">
              <a:buNone/>
            </a:pPr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57092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F3D3D-36DD-0557-FA17-DD5C12694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92236"/>
            <a:ext cx="7886700" cy="1392724"/>
          </a:xfrm>
        </p:spPr>
        <p:txBody>
          <a:bodyPr>
            <a:normAutofit/>
          </a:bodyPr>
          <a:lstStyle/>
          <a:p>
            <a:r>
              <a:rPr lang="en-US" altLang="zh-CN" b="1" dirty="0" err="1"/>
              <a:t>dismo</a:t>
            </a:r>
            <a:r>
              <a:rPr lang="en-US" altLang="zh-CN" b="1" dirty="0"/>
              <a:t> package</a:t>
            </a:r>
            <a:br>
              <a:rPr lang="en-US" altLang="zh-CN" dirty="0">
                <a:solidFill>
                  <a:srgbClr val="0000FF"/>
                </a:solidFill>
              </a:rPr>
            </a:br>
            <a:r>
              <a:rPr lang="en-US" altLang="zh-CN" sz="3200" dirty="0">
                <a:solidFill>
                  <a:srgbClr val="0000FF"/>
                </a:solidFill>
              </a:rPr>
              <a:t>https://rspatial.org/raster/sdm/</a:t>
            </a:r>
            <a:endParaRPr lang="zh-CN" altLang="en-US" sz="3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D5D42CF-964D-AC54-7006-13BFA1F85B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6002" y="1442405"/>
            <a:ext cx="6002238" cy="5434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93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606C7-FD21-8CB4-D1E2-C3F0C7A95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3686"/>
            <a:ext cx="8950960" cy="1325563"/>
          </a:xfrm>
        </p:spPr>
        <p:txBody>
          <a:bodyPr>
            <a:normAutofit fontScale="90000"/>
          </a:bodyPr>
          <a:lstStyle/>
          <a:p>
            <a:r>
              <a:rPr lang="en-US" altLang="zh-CN" b="1" dirty="0"/>
              <a:t>Bimod2 package</a:t>
            </a:r>
            <a:br>
              <a:rPr lang="en-US" altLang="zh-CN" b="1" dirty="0"/>
            </a:br>
            <a:r>
              <a:rPr lang="en-US" altLang="zh-CN" sz="3600" b="1" dirty="0">
                <a:hlinkClick r:id="rId2"/>
              </a:rPr>
              <a:t>https://biomodhub.github.io/biomod2/index.html</a:t>
            </a:r>
            <a:br>
              <a:rPr lang="en-US" altLang="zh-CN" sz="3600" b="1" dirty="0"/>
            </a:br>
            <a:endParaRPr lang="zh-CN" altLang="en-US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0B163-8A7E-6173-53BC-415A5E2DFA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129" y="1660868"/>
            <a:ext cx="8158789" cy="4351338"/>
          </a:xfrm>
        </p:spPr>
        <p:txBody>
          <a:bodyPr/>
          <a:lstStyle/>
          <a:p>
            <a:r>
              <a:rPr lang="en-US" altLang="zh-CN" dirty="0"/>
              <a:t>Originate in 2009, the first ensemble model platform;</a:t>
            </a:r>
          </a:p>
          <a:p>
            <a:r>
              <a:rPr lang="en-US" altLang="zh-CN" dirty="0"/>
              <a:t>Very powerful in post model processing;</a:t>
            </a:r>
          </a:p>
          <a:p>
            <a:r>
              <a:rPr lang="en-US" altLang="zh-CN" dirty="0"/>
              <a:t>Most widely used climate change forecast;</a:t>
            </a:r>
          </a:p>
          <a:p>
            <a:r>
              <a:rPr lang="en-US" altLang="zh-CN" dirty="0"/>
              <a:t>Powerful in multiple species/big data;</a:t>
            </a:r>
          </a:p>
          <a:p>
            <a:r>
              <a:rPr lang="en-US" altLang="zh-CN" dirty="0"/>
              <a:t>Later, included Maxent, together with </a:t>
            </a:r>
            <a:r>
              <a:rPr lang="en-US" altLang="zh-CN" dirty="0" err="1"/>
              <a:t>shinyapp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Developed by </a:t>
            </a:r>
            <a:r>
              <a:rPr lang="en-US" altLang="zh-CN" dirty="0">
                <a:hlinkClick r:id="rId3"/>
              </a:rPr>
              <a:t>Wilfried </a:t>
            </a:r>
            <a:r>
              <a:rPr lang="en-US" altLang="zh-CN" dirty="0" err="1">
                <a:hlinkClick r:id="rId3"/>
              </a:rPr>
              <a:t>Thuiller</a:t>
            </a:r>
            <a:r>
              <a:rPr lang="en-US" altLang="zh-CN" dirty="0"/>
              <a:t>, Damien Georges, </a:t>
            </a:r>
            <a:r>
              <a:rPr lang="en-US" altLang="zh-CN" dirty="0">
                <a:hlinkClick r:id="rId4"/>
              </a:rPr>
              <a:t>Maya </a:t>
            </a:r>
            <a:r>
              <a:rPr lang="en-US" altLang="zh-CN" dirty="0" err="1">
                <a:hlinkClick r:id="rId4"/>
              </a:rPr>
              <a:t>Gueguen</a:t>
            </a:r>
            <a:r>
              <a:rPr lang="en-US" altLang="zh-CN" dirty="0"/>
              <a:t>, Robin Engler, Frank </a:t>
            </a:r>
            <a:r>
              <a:rPr lang="en-US" altLang="zh-CN" dirty="0" err="1"/>
              <a:t>Breiner</a:t>
            </a:r>
            <a:r>
              <a:rPr lang="en-US" altLang="zh-CN" dirty="0"/>
              <a:t>, Bruno </a:t>
            </a:r>
            <a:r>
              <a:rPr lang="en-US" altLang="zh-CN" dirty="0" err="1"/>
              <a:t>Lafourcade</a:t>
            </a:r>
            <a:r>
              <a:rPr lang="en-US" altLang="zh-CN" dirty="0"/>
              <a:t>, Remi </a:t>
            </a:r>
            <a:r>
              <a:rPr lang="en-US" altLang="zh-CN" dirty="0" err="1"/>
              <a:t>Patin</a:t>
            </a:r>
            <a:r>
              <a:rPr lang="en-US" altLang="zh-CN" dirty="0"/>
              <a:t>.</a:t>
            </a:r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86312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6D370EDF-1FAF-3D30-BB22-325DC6B072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756" y="0"/>
            <a:ext cx="8472488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EF0DA5C-5BBF-ACB4-B6E5-3A04979EEC7E}"/>
              </a:ext>
            </a:extLst>
          </p:cNvPr>
          <p:cNvSpPr txBox="1"/>
          <p:nvPr/>
        </p:nvSpPr>
        <p:spPr>
          <a:xfrm>
            <a:off x="6299200" y="5885934"/>
            <a:ext cx="21031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b="1" dirty="0"/>
              <a:t>Bimod2 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940096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8D762-FC4C-DB50-51FB-137B3AC0E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515350" cy="1325563"/>
          </a:xfrm>
        </p:spPr>
        <p:txBody>
          <a:bodyPr>
            <a:normAutofit/>
          </a:bodyPr>
          <a:lstStyle/>
          <a:p>
            <a:r>
              <a:rPr lang="en-US" altLang="zh-CN" sz="4000" b="1" dirty="0" err="1">
                <a:solidFill>
                  <a:srgbClr val="0000FF"/>
                </a:solidFill>
              </a:rPr>
              <a:t>sdm</a:t>
            </a:r>
            <a:r>
              <a:rPr lang="en-US" altLang="zh-CN" sz="4000" b="1" dirty="0">
                <a:solidFill>
                  <a:srgbClr val="0000FF"/>
                </a:solidFill>
              </a:rPr>
              <a:t> package </a:t>
            </a:r>
            <a:br>
              <a:rPr lang="en-US" altLang="zh-CN" sz="1800" dirty="0">
                <a:solidFill>
                  <a:srgbClr val="0000FF"/>
                </a:solidFill>
              </a:rPr>
            </a:br>
            <a:r>
              <a:rPr lang="en-US" altLang="zh-CN" sz="2000" b="1" dirty="0">
                <a:hlinkClick r:id="rId2"/>
              </a:rPr>
              <a:t>https://www.biogeoinformatics.org</a:t>
            </a:r>
            <a:r>
              <a:rPr lang="en-US" altLang="zh-CN" sz="2000" b="1" dirty="0"/>
              <a:t>; </a:t>
            </a:r>
            <a:br>
              <a:rPr lang="en-US" altLang="zh-CN" sz="2000" b="1" dirty="0"/>
            </a:br>
            <a:endParaRPr lang="zh-CN" altLang="en-US" sz="20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F6BBF1-0918-D424-4C11-F70FF090A0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8627" y="1004287"/>
            <a:ext cx="6377943" cy="38477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71D466-AB08-BB23-9344-04AD9AF5669A}"/>
              </a:ext>
            </a:extLst>
          </p:cNvPr>
          <p:cNvSpPr txBox="1"/>
          <p:nvPr/>
        </p:nvSpPr>
        <p:spPr>
          <a:xfrm>
            <a:off x="189470" y="4852086"/>
            <a:ext cx="872387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en-US" altLang="zh-CN" sz="2400" dirty="0"/>
              <a:t>Simplized version of biomod2;</a:t>
            </a:r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en-US" altLang="zh-CN" sz="2400" dirty="0" err="1"/>
              <a:t>sdm</a:t>
            </a:r>
            <a:r>
              <a:rPr lang="en-US" altLang="zh-CN" sz="2400" dirty="0"/>
              <a:t> is an object-oriented, reproducible and extensible, platform for species distribution modelling.</a:t>
            </a:r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en-US" altLang="zh-CN" sz="2400" dirty="0"/>
              <a:t>Developed by Babak Naimi and </a:t>
            </a:r>
            <a:r>
              <a:rPr lang="en-US" altLang="zh-CN" sz="2400" dirty="0">
                <a:solidFill>
                  <a:srgbClr val="FF0000"/>
                </a:solidFill>
              </a:rPr>
              <a:t>Miguel B. Araújo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735109-A1D6-75A5-8502-9684EB64988C}"/>
              </a:ext>
            </a:extLst>
          </p:cNvPr>
          <p:cNvSpPr txBox="1"/>
          <p:nvPr/>
        </p:nvSpPr>
        <p:spPr>
          <a:xfrm>
            <a:off x="5535827" y="4313194"/>
            <a:ext cx="33775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https://sdm.r-forge.r-project.org/</a:t>
            </a:r>
          </a:p>
        </p:txBody>
      </p:sp>
    </p:spTree>
    <p:extLst>
      <p:ext uri="{BB962C8B-B14F-4D97-AF65-F5344CB8AC3E}">
        <p14:creationId xmlns:p14="http://schemas.microsoft.com/office/powerpoint/2010/main" val="4109757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5A80B-7870-BB39-9584-880237B77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942" y="323113"/>
            <a:ext cx="7886700" cy="1325563"/>
          </a:xfrm>
        </p:spPr>
        <p:txBody>
          <a:bodyPr>
            <a:norm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flexsdm</a:t>
            </a:r>
            <a:r>
              <a:rPr lang="en-US" altLang="zh-CN" b="1" dirty="0">
                <a:solidFill>
                  <a:srgbClr val="0000FF"/>
                </a:solidFill>
              </a:rPr>
              <a:t> package</a:t>
            </a:r>
            <a:br>
              <a:rPr lang="en-US" altLang="zh-CN" b="1" dirty="0">
                <a:solidFill>
                  <a:srgbClr val="0000FF"/>
                </a:solidFill>
              </a:rPr>
            </a:br>
            <a:r>
              <a:rPr lang="en-US" altLang="zh-CN" sz="3200" b="1" dirty="0">
                <a:hlinkClick r:id="rId2"/>
              </a:rPr>
              <a:t>https://sjevelazco.github.io/flexsdm/</a:t>
            </a:r>
            <a:r>
              <a:rPr lang="en-US" altLang="zh-CN" sz="3200" b="1" dirty="0"/>
              <a:t> </a:t>
            </a:r>
            <a:endParaRPr lang="zh-CN" altLang="en-US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31C889-85E1-DCAB-B2B6-5F25C1B121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942" y="1648676"/>
            <a:ext cx="8282116" cy="4570892"/>
          </a:xfrm>
        </p:spPr>
        <p:txBody>
          <a:bodyPr>
            <a:normAutofit/>
          </a:bodyPr>
          <a:lstStyle/>
          <a:p>
            <a:r>
              <a:rPr lang="en-US" altLang="zh-CN" dirty="0"/>
              <a:t>Released last year 2022, s</a:t>
            </a:r>
            <a:r>
              <a:rPr lang="en-US" altLang="zh-CN" sz="2800" dirty="0"/>
              <a:t>till under development</a:t>
            </a:r>
            <a:endParaRPr lang="en-US" altLang="zh-CN" dirty="0"/>
          </a:p>
          <a:p>
            <a:r>
              <a:rPr lang="en-US" altLang="zh-CN" dirty="0"/>
              <a:t>Developed by </a:t>
            </a:r>
            <a:r>
              <a:rPr lang="en-US" altLang="zh-CN" b="1" dirty="0">
                <a:solidFill>
                  <a:srgbClr val="FF0000"/>
                </a:solidFill>
              </a:rPr>
              <a:t>Janet Franklin lab</a:t>
            </a:r>
            <a:r>
              <a:rPr lang="en-US" altLang="zh-CN" dirty="0"/>
              <a:t>, former chief editor of </a:t>
            </a:r>
            <a:r>
              <a:rPr lang="en-US" altLang="zh-CN" i="1" dirty="0">
                <a:solidFill>
                  <a:srgbClr val="FF0000"/>
                </a:solidFill>
              </a:rPr>
              <a:t>Diversity and Distributions</a:t>
            </a:r>
          </a:p>
          <a:p>
            <a:r>
              <a:rPr lang="en-US" altLang="zh-CN" dirty="0"/>
              <a:t>Flexible: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2800" dirty="0"/>
              <a:t>pre-model,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2800" dirty="0"/>
              <a:t>modelling functions,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2800" dirty="0"/>
              <a:t>Post-modelling functions,</a:t>
            </a:r>
          </a:p>
          <a:p>
            <a:pPr>
              <a:buSzPct val="50000"/>
              <a:buFont typeface="Wingdings" panose="05000000000000000000" pitchFamily="2" charset="2"/>
              <a:buChar char="l"/>
            </a:pPr>
            <a:r>
              <a:rPr lang="en-US" altLang="zh-CN" sz="3200" dirty="0"/>
              <a:t>Lack of function for summarizing model predictions;</a:t>
            </a:r>
          </a:p>
        </p:txBody>
      </p:sp>
    </p:spTree>
    <p:extLst>
      <p:ext uri="{BB962C8B-B14F-4D97-AF65-F5344CB8AC3E}">
        <p14:creationId xmlns:p14="http://schemas.microsoft.com/office/powerpoint/2010/main" val="2559797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id="{0B6906E8-A421-6025-77D5-56C597B011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7024" y="0"/>
            <a:ext cx="56499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826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C8897-6B61-26E1-C9CA-C19A424BB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Rare, endemic species</a:t>
            </a:r>
            <a:endParaRPr lang="zh-CN" alt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80AE8-FE71-2D7E-C0C5-4540C05D77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" y="1524000"/>
            <a:ext cx="8332470" cy="4652963"/>
          </a:xfrm>
        </p:spPr>
        <p:txBody>
          <a:bodyPr/>
          <a:lstStyle/>
          <a:p>
            <a:r>
              <a:rPr lang="en-US" altLang="zh-CN" dirty="0"/>
              <a:t>Leaving-one-out method;</a:t>
            </a:r>
          </a:p>
          <a:p>
            <a:pPr marL="0" indent="0">
              <a:buNone/>
            </a:pPr>
            <a:r>
              <a:rPr lang="en-US" altLang="zh-CN" dirty="0"/>
              <a:t>  Propose by Richard Pearson et al. 2007</a:t>
            </a:r>
          </a:p>
          <a:p>
            <a:pPr marL="0" indent="0">
              <a:buNone/>
            </a:pPr>
            <a:r>
              <a:rPr lang="en-US" altLang="zh-CN" dirty="0"/>
              <a:t>  lowest presence threshold (LPT)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b="1" dirty="0"/>
              <a:t>Ensemble of small model</a:t>
            </a:r>
            <a:r>
              <a:rPr lang="en-US" altLang="zh-CN" dirty="0"/>
              <a:t>;</a:t>
            </a:r>
          </a:p>
          <a:p>
            <a:pPr marL="0" indent="0">
              <a:buNone/>
            </a:pPr>
            <a:r>
              <a:rPr lang="en-US" altLang="zh-CN" dirty="0"/>
              <a:t>  Proposed by </a:t>
            </a:r>
            <a:r>
              <a:rPr lang="en-US" altLang="zh-CN" dirty="0" err="1"/>
              <a:t>Guisan</a:t>
            </a:r>
            <a:r>
              <a:rPr lang="en-US" altLang="zh-CN" dirty="0"/>
              <a:t> group</a:t>
            </a:r>
          </a:p>
          <a:p>
            <a:pPr marL="0" indent="0">
              <a:buNone/>
            </a:pPr>
            <a:r>
              <a:rPr lang="en-US" altLang="zh-CN" dirty="0"/>
              <a:t>  </a:t>
            </a:r>
            <a:r>
              <a:rPr lang="en-US" altLang="zh-CN" dirty="0" err="1">
                <a:solidFill>
                  <a:srgbClr val="FF0000"/>
                </a:solidFill>
              </a:rPr>
              <a:t>ecospat</a:t>
            </a:r>
            <a:r>
              <a:rPr lang="en-US" altLang="zh-CN" dirty="0">
                <a:solidFill>
                  <a:srgbClr val="FF0000"/>
                </a:solidFill>
              </a:rPr>
              <a:t> package 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D5098D-A338-5785-5C4D-2E4B5545CD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4854" y="1189037"/>
            <a:ext cx="2606266" cy="251481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959A6C0-26F4-EBC6-411D-C2B3F8809A28}"/>
              </a:ext>
            </a:extLst>
          </p:cNvPr>
          <p:cNvSpPr txBox="1"/>
          <p:nvPr/>
        </p:nvSpPr>
        <p:spPr>
          <a:xfrm>
            <a:off x="6354854" y="3749160"/>
            <a:ext cx="26062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0" i="0" u="none" strike="noStrike" baseline="0" dirty="0">
                <a:latin typeface="Calibri" panose="020F0502020204030204" pitchFamily="34" charset="0"/>
              </a:rPr>
              <a:t>leave-one-out (jackknife)</a:t>
            </a:r>
            <a:endParaRPr lang="zh-CN" alt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014F9CC-CA1F-441A-EF3E-95AD32D6D039}"/>
              </a:ext>
            </a:extLst>
          </p:cNvPr>
          <p:cNvCxnSpPr>
            <a:cxnSpLocks/>
          </p:cNvCxnSpPr>
          <p:nvPr/>
        </p:nvCxnSpPr>
        <p:spPr>
          <a:xfrm>
            <a:off x="335280" y="3986412"/>
            <a:ext cx="4714240" cy="0"/>
          </a:xfrm>
          <a:prstGeom prst="straightConnector1">
            <a:avLst/>
          </a:prstGeom>
          <a:ln w="603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813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id="{BEDD683C-013C-EF8A-ADC5-CEC275E5A0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91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355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6301B4-E07F-5121-EF9D-2B7810851C00}"/>
              </a:ext>
            </a:extLst>
          </p:cNvPr>
          <p:cNvSpPr txBox="1"/>
          <p:nvPr/>
        </p:nvSpPr>
        <p:spPr>
          <a:xfrm>
            <a:off x="0" y="2065867"/>
            <a:ext cx="91439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/>
              <a:t>Demo</a:t>
            </a:r>
          </a:p>
          <a:p>
            <a:pPr algn="ctr"/>
            <a:r>
              <a:rPr lang="en-US" sz="2000" dirty="0">
                <a:hlinkClick r:id="rId2"/>
              </a:rPr>
              <a:t>https://sjevelazco.github.io/flexsdm/articles/v05_Rare_species_example.html</a:t>
            </a:r>
            <a:r>
              <a:rPr lang="en-US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08350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B38699-BB87-304F-0DA5-E3FD63447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939035" cy="26291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A738F96-4589-3588-D04D-D3AFAAB5E5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4588" y="0"/>
            <a:ext cx="5614477" cy="6804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808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5435</TotalTime>
  <Words>1129</Words>
  <Application>Microsoft Office PowerPoint</Application>
  <PresentationFormat>On-screen Show (4:3)</PresentationFormat>
  <Paragraphs>127</Paragraphs>
  <Slides>28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9" baseType="lpstr">
      <vt:lpstr>Adobe Garamond Pro Bold</vt:lpstr>
      <vt:lpstr>Courier</vt:lpstr>
      <vt:lpstr>等线</vt:lpstr>
      <vt:lpstr>HelveticaNeue</vt:lpstr>
      <vt:lpstr>Abadi</vt:lpstr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Occ data  Model strategy</vt:lpstr>
      <vt:lpstr>Why we need ensemble model ?</vt:lpstr>
      <vt:lpstr>Why ensemble model 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Where these variations came from ?</vt:lpstr>
      <vt:lpstr>How to produce ensemble model?</vt:lpstr>
      <vt:lpstr>Generalized linear model (GLM) parameters…</vt:lpstr>
      <vt:lpstr>Generalized Additive Model (GAM) parameters… package: gam, mgcv</vt:lpstr>
      <vt:lpstr>Random Forest (RF) parameters… package: randomforest</vt:lpstr>
      <vt:lpstr>Maxent: maxnet package</vt:lpstr>
      <vt:lpstr>PowerPoint Presentation</vt:lpstr>
      <vt:lpstr>How to produce ensemble model?</vt:lpstr>
      <vt:lpstr>dismo package https://rspatial.org/raster/sdm/</vt:lpstr>
      <vt:lpstr>Bimod2 package https://biomodhub.github.io/biomod2/index.html </vt:lpstr>
      <vt:lpstr>PowerPoint Presentation</vt:lpstr>
      <vt:lpstr>sdm package  https://www.biogeoinformatics.org;  </vt:lpstr>
      <vt:lpstr>flexsdm package https://sjevelazco.github.io/flexsdm/ </vt:lpstr>
      <vt:lpstr>PowerPoint Presentation</vt:lpstr>
      <vt:lpstr>Rare, endemic species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ONE</dc:title>
  <dc:creator>ZHU Gengping</dc:creator>
  <cp:lastModifiedBy>Zhu, Gengping</cp:lastModifiedBy>
  <cp:revision>171</cp:revision>
  <dcterms:created xsi:type="dcterms:W3CDTF">2023-01-08T05:02:36Z</dcterms:created>
  <dcterms:modified xsi:type="dcterms:W3CDTF">2026-09-18T21:33:32Z</dcterms:modified>
</cp:coreProperties>
</file>