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/>
    <p:restoredTop sz="94658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2A2B-0FAF-E41E-20AC-56102CC4F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9D53-2C0D-061C-1E98-48D31189C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B4315-08D2-048A-A26B-E1B577C8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7CAF5-76AC-C2AA-CA5C-08C33626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16261-9C03-4622-E672-41B1A3D7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1681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8ABC1-C2BC-15A3-9F7A-D89B1251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468D0-9BA6-D945-1405-A1632DE2A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2D5CE-7C2C-B830-6278-281DF01B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5929-5BC8-C109-FEE7-B7755A49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3CE5-7EE6-7265-9531-86D6716F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532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173D-957E-FFE7-B999-96C16D42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3F89D-430A-8801-AAC8-3CDB2FCB9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4E3F0-D1ED-11F6-DD0E-7EBC4194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D993C-6550-2A6C-19A0-1665054C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A1BF4-1673-9070-209D-B071B289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7991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37F6-DFFA-D6F4-A7F3-65D6B9563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211CD-2528-8CDB-8CEB-A55159D4C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680D6-58B0-367A-A0A2-881E8B821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7B5B1-54B3-9A02-8990-9E324261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E2B90-B17B-1645-5540-F7CAD92D9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D7E8E-8C83-3E8A-7E83-A92B0A0D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1710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A01A-2D2A-7498-F654-6449AB1E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B0430-3971-0694-B5F0-BC6B2C93D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0F6F5-B315-CEDF-9E13-6EE1D2F61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B44D1-759C-9001-CEF4-1D07DD4FC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566A1-2EB0-1EE7-EEEF-F6CFFC9B7D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6A024-624F-C384-3CE7-9B009468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F767D-C292-B1D1-5F50-333624E5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38917-8EF3-32C4-73F5-1BDF79DC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613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9BE7-CA13-3C64-1E0B-CF4755F7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DD030-DADB-035E-334D-9DC93C86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488E4-E97D-B451-623A-CD8E851F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C136F-7D26-339B-DC85-22403F55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89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2BF87-9615-320E-581B-CE58C9E91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5D6CA-9D41-C4F8-565E-57D45D9E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696D2-2EA8-1758-E107-4AB672D3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8257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289C-89AE-B262-BC3C-6332D13F8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1F48-34C6-1C84-B282-CAC42499E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9D9B9-8159-8BF5-4679-3907E4403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5EB89-8A28-2968-66C0-0842D68F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1DD57-2738-4C95-1E1C-9FF865A2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21472-8023-114D-6BF1-882DF36E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25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127B-BB06-03C8-714A-E92B2017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E6FE0-72B5-8F52-8F21-DACA4F7F6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AFAF2-B74B-C907-D9BD-4F320C368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FF26A-DAAC-F6DC-78EA-BBB55C5A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B36B4-6D1E-7263-A1E5-8F1ADEA5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24642-993F-1F3C-E412-B8F56F20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07388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8A75-779F-93B9-4430-F74CD128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E6D63-E18D-CE8F-7754-F379C332E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F0D28-E9C5-3388-4B91-5A34AFBB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59A3A-1E27-E301-226C-B707B0C4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6B1E5-A011-7BAD-7924-507196A25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730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EBBC29-361F-7A86-6467-839E9307F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A4434-B6CA-A911-2E25-DF1BD342B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14DCE-A428-FEB1-3826-91142013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DA682-35AF-ACEB-A173-F5CEF81DF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0FF1F-3B59-F2D9-B44F-2BF6CF8F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024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C62E4-0665-DFC4-D7AC-2D18708B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64EFC-AF93-41C6-49D0-821A572F1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04888-5482-FDD8-B045-F93B49DED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23370-231B-644E-9320-37AE5CD2C05E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66D21-86B6-64EE-515A-FA8BA856E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897A4-8113-33E3-FAC5-AFCB3811A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C6700-79CB-3E42-8405-05ED6D877A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732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D7F48A-379C-D2E3-E7A5-433C1A2B107E}"/>
              </a:ext>
            </a:extLst>
          </p:cNvPr>
          <p:cNvSpPr txBox="1"/>
          <p:nvPr/>
        </p:nvSpPr>
        <p:spPr>
          <a:xfrm>
            <a:off x="4854767" y="6213246"/>
            <a:ext cx="7337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https://nsojournals.onlinelibrary.wiley.com/doi/full/10.1111/ecog.04960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6742C-6665-BA37-EF3D-CC7B8D41C5CB}"/>
              </a:ext>
            </a:extLst>
          </p:cNvPr>
          <p:cNvSpPr txBox="1"/>
          <p:nvPr/>
        </p:nvSpPr>
        <p:spPr>
          <a:xfrm>
            <a:off x="3390661" y="2501205"/>
            <a:ext cx="5410676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Merriweather"/>
              </a:rPr>
              <a:t>The ODMAP Protocol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A3F39-9745-E064-2BA0-5261CEA4310E}"/>
              </a:ext>
            </a:extLst>
          </p:cNvPr>
          <p:cNvSpPr txBox="1"/>
          <p:nvPr/>
        </p:nvSpPr>
        <p:spPr>
          <a:xfrm>
            <a:off x="824428" y="3253237"/>
            <a:ext cx="10543142" cy="895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50"/>
              </a:lnSpc>
            </a:pPr>
            <a:r>
              <a:rPr sz="2400" b="0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DM Sans"/>
              </a:rPr>
              <a:t>A Standard Protocol for Reporting Species Distribution Models for Reproducibility, Transparency,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103884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28875"/>
            <a:ext cx="5334000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428875"/>
            <a:ext cx="5334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2290" y="2743200"/>
            <a:ext cx="4669333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SDM 应用的爆炸式增长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4325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Noto Sans SC"/>
              </a:rPr>
              <a:t>主流工具：</a:t>
            </a:r>
            <a:r>
              <a:rPr sz="1125" b="0" i="0" u="none">
                <a:solidFill>
                  <a:srgbClr val="475569"/>
                </a:solidFill>
                <a:latin typeface="Noto Sans SC"/>
              </a:rPr>
              <a:t>物种分布模型已成为生态学、演化生物学与保护生物学中最广泛使用的工具，年发文量超过 1000 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1475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Noto Sans SC"/>
              </a:rPr>
              <a:t>政策依赖：</a:t>
            </a:r>
            <a:r>
              <a:rPr sz="1125" b="0" i="0" u="none">
                <a:solidFill>
                  <a:srgbClr val="475569"/>
                </a:solidFill>
                <a:latin typeface="Noto Sans SC"/>
              </a:rPr>
              <a:t>广泛应用于 IPBES 全球生物多样性评估、IUCN 濒危物种红色名录及气候变化风险预测。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28625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Noto Sans SC"/>
              </a:rPr>
              <a:t>门槛降低：</a:t>
            </a:r>
            <a:r>
              <a:rPr sz="1125" b="0" i="0" u="none">
                <a:solidFill>
                  <a:srgbClr val="475569"/>
                </a:solidFill>
                <a:latin typeface="Noto Sans SC"/>
              </a:rPr>
              <a:t>易用软件与海量数字地理数据的普及加速了应用，但也导致“黑箱化”操作泛滥。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1090" y="2743200"/>
            <a:ext cx="4669333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报告规范的严重缺失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14325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Noto Sans SC"/>
              </a:rPr>
              <a:t>方法不可重现：</a:t>
            </a:r>
            <a:r>
              <a:rPr sz="1125" b="0" i="0" u="none">
                <a:solidFill>
                  <a:srgbClr val="475569"/>
                </a:solidFill>
                <a:latin typeface="Noto Sans SC"/>
              </a:rPr>
              <a:t>大量文献缺乏对数据清洗、变量筛选、参数调整与不确定性的完整记录，无法独立复现。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71475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Noto Sans SC"/>
              </a:rPr>
              <a:t>信息分散割裂：</a:t>
            </a:r>
            <a:r>
              <a:rPr sz="1125" b="0" i="0" u="none">
                <a:solidFill>
                  <a:srgbClr val="475569"/>
                </a:solidFill>
                <a:latin typeface="Noto Sans SC"/>
              </a:rPr>
              <a:t>建模关键细节常散落在正文、附录各处甚至完全遗漏，极大阻碍同行评议与元分析。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28625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Noto Sans SC"/>
              </a:rPr>
              <a:t>决策风险：</a:t>
            </a:r>
            <a:r>
              <a:rPr sz="1125" b="0" i="0" u="none">
                <a:solidFill>
                  <a:srgbClr val="475569"/>
                </a:solidFill>
                <a:latin typeface="Noto Sans SC"/>
              </a:rPr>
              <a:t>不严谨的建模与不透明的报告可能导致错误的生态推断，进而误导关键的保护决策。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81300"/>
            <a:ext cx="16311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781300"/>
            <a:ext cx="16311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3400"/>
            <a:ext cx="1136142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SDM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的繁荣与背后的可</a:t>
            </a:r>
            <a:r>
              <a:rPr lang="en-US" sz="2550" b="1" i="0" u="none" dirty="0" err="1">
                <a:solidFill>
                  <a:srgbClr val="0F172A"/>
                </a:solidFill>
                <a:latin typeface="Plus Jakarta Sans"/>
              </a:rPr>
              <a:t>复现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危机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9600" y="533400"/>
            <a:ext cx="47625" cy="438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38450"/>
            <a:ext cx="3429000" cy="1924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3190875"/>
            <a:ext cx="295275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sz="6900" b="0" i="0" u="none">
                <a:solidFill>
                  <a:srgbClr val="0284C7"/>
                </a:solidFill>
                <a:latin typeface="Plus Jakarta Sans ExtraBold"/>
              </a:rPr>
              <a:t>46%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4181475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369A1"/>
                </a:solidFill>
                <a:latin typeface="Noto Sans SC"/>
              </a:rPr>
              <a:t>SDM 研究存在关键缺陷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9600" y="2612975"/>
            <a:ext cx="752094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Plus Jakarta Sans"/>
              </a:rPr>
              <a:t>Araújo et al. (2019) 400篇文献抽样评估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9600" y="3079700"/>
            <a:ext cx="7162800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200" b="0" i="0" u="none" dirty="0" err="1">
                <a:solidFill>
                  <a:srgbClr val="475569"/>
                </a:solidFill>
                <a:latin typeface="Noto Sans SC"/>
              </a:rPr>
              <a:t>在对</a:t>
            </a:r>
            <a:r>
              <a:rPr sz="1200" b="0" i="0" u="none" dirty="0">
                <a:solidFill>
                  <a:srgbClr val="475569"/>
                </a:solidFill>
                <a:latin typeface="Noto Sans SC"/>
              </a:rPr>
              <a:t> 400 篇已发表的物种分布模型研究评估中，</a:t>
            </a:r>
            <a:r>
              <a:rPr sz="1200" b="1" i="0" u="none" dirty="0">
                <a:solidFill>
                  <a:srgbClr val="475569"/>
                </a:solidFill>
                <a:latin typeface="Noto Sans SC"/>
              </a:rPr>
              <a:t>46% </a:t>
            </a:r>
            <a:r>
              <a:rPr sz="1200" b="1" i="0" u="none" dirty="0" err="1">
                <a:solidFill>
                  <a:srgbClr val="475569"/>
                </a:solidFill>
                <a:latin typeface="Noto Sans SC"/>
              </a:rPr>
              <a:t>的论文在数据、算法、验证或预测维度至少存在一项严重缺陷</a:t>
            </a:r>
            <a:r>
              <a:rPr sz="1200" b="0" i="0" u="none" dirty="0">
                <a:solidFill>
                  <a:srgbClr val="475569"/>
                </a:solidFill>
                <a:latin typeface="Noto Sans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9600" y="3715791"/>
            <a:ext cx="7162800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200" b="1" i="0" u="none" dirty="0" err="1">
                <a:solidFill>
                  <a:srgbClr val="475569"/>
                </a:solidFill>
                <a:latin typeface="Noto Sans SC"/>
              </a:rPr>
              <a:t>高频缺失项包括：</a:t>
            </a:r>
            <a:r>
              <a:rPr sz="1200" b="0" i="0" u="none" dirty="0" err="1">
                <a:solidFill>
                  <a:srgbClr val="475569"/>
                </a:solidFill>
                <a:latin typeface="Noto Sans SC"/>
              </a:rPr>
              <a:t>未检验环境变量的不确定性、缺乏模型结构与参数敏感性测试、忽视核心生态假设的成立边界</a:t>
            </a:r>
            <a:r>
              <a:rPr sz="1200" b="0" i="0" u="none" dirty="0">
                <a:solidFill>
                  <a:srgbClr val="475569"/>
                </a:solidFill>
                <a:latin typeface="Noto Sans SC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4351883"/>
            <a:ext cx="7162800" cy="23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200" b="1" i="0" u="none" dirty="0" err="1">
                <a:solidFill>
                  <a:srgbClr val="475569"/>
                </a:solidFill>
                <a:latin typeface="Noto Sans SC"/>
              </a:rPr>
              <a:t>根本根源：</a:t>
            </a:r>
            <a:r>
              <a:rPr sz="1200" b="0" i="0" u="none" dirty="0" err="1">
                <a:solidFill>
                  <a:srgbClr val="475569"/>
                </a:solidFill>
                <a:latin typeface="Noto Sans SC"/>
              </a:rPr>
              <a:t>缺乏被学界共同遵守的标准报告框架（Standard</a:t>
            </a:r>
            <a:r>
              <a:rPr sz="1200" b="0" i="0" u="none" dirty="0">
                <a:solidFill>
                  <a:srgbClr val="475569"/>
                </a:solidFill>
                <a:latin typeface="Noto Sans SC"/>
              </a:rPr>
              <a:t> Reporting Protocol），</a:t>
            </a:r>
            <a:r>
              <a:rPr sz="1200" b="0" i="0" u="none" dirty="0" err="1">
                <a:solidFill>
                  <a:srgbClr val="475569"/>
                </a:solidFill>
                <a:latin typeface="Noto Sans SC"/>
              </a:rPr>
              <a:t>导致研究者“无章可循</a:t>
            </a:r>
            <a:r>
              <a:rPr sz="1200" b="0" i="0" u="none" dirty="0">
                <a:solidFill>
                  <a:srgbClr val="475569"/>
                </a:solidFill>
                <a:latin typeface="Noto Sans SC"/>
              </a:rPr>
              <a:t>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36142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实证：近半数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SDM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研究存在缺陷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533400"/>
            <a:ext cx="47625" cy="438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97063"/>
            <a:ext cx="2571750" cy="22068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2697063"/>
            <a:ext cx="2571750" cy="220682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697063"/>
            <a:ext cx="2571750" cy="220682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2697063"/>
            <a:ext cx="2571750" cy="220682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35188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544788"/>
            <a:ext cx="22802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数据偏差处理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68638"/>
            <a:ext cx="2171700" cy="797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64748B"/>
                </a:solidFill>
                <a:latin typeface="Noto Sans SC"/>
              </a:rPr>
              <a:t>采样偏差（Sampling Bias）与不完美探测（Imperfect Detection）未说明校正方法，伪缺失/背景点采样策略含糊不清。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975" y="2935188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9975" y="3544788"/>
            <a:ext cx="22802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算法与参数设置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9975" y="3868638"/>
            <a:ext cx="2171700" cy="597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64748B"/>
                </a:solidFill>
                <a:latin typeface="Noto Sans SC"/>
              </a:rPr>
              <a:t>仅简单提及“使用默认参数”，未注明具体软件版本、正则化乘数、特征类型或 MCMC 链收敛诊断准则。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2935188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0325" y="3544788"/>
            <a:ext cx="22802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生态假设检验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868638"/>
            <a:ext cx="2171700" cy="597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64748B"/>
                </a:solidFill>
                <a:latin typeface="Noto Sans SC"/>
              </a:rPr>
              <a:t>忽略物种-环境平衡假设、生态位保守性假设以及空间自相关（Spatial Autocorrelation）对残差的干扰。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675" y="2935188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10675" y="3544788"/>
            <a:ext cx="22802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外推与不确定性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3868638"/>
            <a:ext cx="2171700" cy="597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64748B"/>
                </a:solidFill>
                <a:latin typeface="Noto Sans SC"/>
              </a:rPr>
              <a:t>跨时空投影时未量化新环境（Novel Environments），缺乏预测不确定性地图（Maps of Ignorance）。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25" y="3049488"/>
            <a:ext cx="177849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575" y="3049488"/>
            <a:ext cx="177849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9925" y="3049488"/>
            <a:ext cx="177849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275" y="3049488"/>
            <a:ext cx="177849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2000" y="533400"/>
            <a:ext cx="1136142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传统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SDM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报告的盲区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9600" y="533400"/>
            <a:ext cx="47625" cy="438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162050"/>
            <a:ext cx="2137320" cy="23348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495" y="1162050"/>
            <a:ext cx="2137469" cy="233481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265" y="1162050"/>
            <a:ext cx="2137320" cy="23348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885" y="1162050"/>
            <a:ext cx="2137469" cy="23348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0655" y="1162050"/>
            <a:ext cx="2137320" cy="23348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7225" y="1343025"/>
            <a:ext cx="1870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5088"/>
                </a:solidFill>
                <a:latin typeface="DM Sans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1533525"/>
            <a:ext cx="187062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erriweather"/>
              </a:rPr>
              <a:t>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8845" y="1343025"/>
            <a:ext cx="187076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5088"/>
                </a:solidFill>
                <a:latin typeface="DM San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8845" y="1533525"/>
            <a:ext cx="187076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erriweather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0615" y="1343025"/>
            <a:ext cx="1870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5088"/>
                </a:solidFill>
                <a:latin typeface="DM Sans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0615" y="1533525"/>
            <a:ext cx="187062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erriweather"/>
              </a:rPr>
              <a:t>Model Fitting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2235" y="1343025"/>
            <a:ext cx="187076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5088"/>
                </a:solidFill>
                <a:latin typeface="DM Sans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2235" y="1533525"/>
            <a:ext cx="187076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erriweather"/>
              </a:rPr>
              <a:t>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4005" y="1343025"/>
            <a:ext cx="1870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5088"/>
                </a:solidFill>
                <a:latin typeface="DM Sans"/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4005" y="1533525"/>
            <a:ext cx="187062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Merriweather"/>
              </a:rPr>
              <a:t>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1838325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Authorship &amp;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575" y="2056209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Focal Taxon &amp;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575" y="2274093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Scale of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575" y="2491978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Biodiversity Data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575" y="2709862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Predictor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75" y="2927746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Hypotheses &amp; Assumptions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575" y="3145631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SDM Algorithms &amp; Software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2195" y="1838325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Biodiversity Data Prep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2195" y="2056209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Sampling Bias &amp; Absences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2195" y="2274093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Data Partitioning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2195" y="2491978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Predictor Variables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2195" y="2709862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Scaling &amp; Harmonisation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2195" y="2927746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Transfer Data (Projections)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42195" y="3145631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Novel Environment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3965" y="1838325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Variable Pre-selection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3965" y="2056209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Multicollinearity Handling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3965" y="2274093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Model Complexity &amp; Settings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3965" y="2491978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Model Selection &amp; Tuning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93965" y="2709862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Averaging &amp; Ensembles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93965" y="2927746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Non-independence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93965" y="3145631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Threshold Selection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5585" y="1838325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Performance Statistics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5585" y="2056209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AUC, TSS, RMSE, Boyce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5585" y="2274093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Validation on Test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5585" y="2491978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Plausibility Checks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5585" y="2709862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Response Curve Shapes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5585" y="2927746"/>
            <a:ext cx="1737419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Expert Map Inspection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97355" y="1838325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Prediction Output Units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97355" y="2056209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Suitability / Probabilities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97355" y="2274093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Post-processing &amp; Clipping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97355" y="2491978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Uncertainty Quantification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7355" y="2709862"/>
            <a:ext cx="1737270" cy="16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Scenario &amp; Parameter Error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97355" y="2927746"/>
            <a:ext cx="1737270" cy="321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937" b="0" i="0" u="none">
                <a:solidFill>
                  <a:srgbClr val="475569"/>
                </a:solidFill>
                <a:latin typeface="DM Sans"/>
              </a:rPr>
              <a:t>Novelty Masks &amp; Ignorance Maps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7225" y="1838325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7225" y="2056209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225" y="2274093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225" y="2491978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7225" y="2709862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225" y="2927746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7225" y="3145631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8845" y="1838325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8845" y="2056209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08845" y="2274093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08845" y="2491978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08845" y="2709862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08845" y="2927746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08845" y="3145631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0615" y="1838325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0615" y="2056209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0615" y="2274093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60615" y="2491978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60615" y="2709862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60615" y="2927746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0615" y="3145631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12235" y="1838325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12235" y="2056209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12235" y="2274093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12235" y="2491978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12235" y="2709862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12235" y="2927746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64005" y="1838325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64005" y="2056209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64005" y="2274093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64005" y="2491978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64005" y="2709862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64005" y="2927746"/>
            <a:ext cx="47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005088"/>
                </a:solidFill>
                <a:latin typeface="DM Sans"/>
              </a:rPr>
              <a:t>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875" y="428625"/>
            <a:ext cx="11668125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50" b="1" dirty="0">
                <a:solidFill>
                  <a:srgbClr val="0F172A"/>
                </a:solidFill>
                <a:latin typeface="Plus Jakarta Sans"/>
              </a:rPr>
              <a:t>ODMAP </a:t>
            </a:r>
            <a:r>
              <a:rPr lang="en-CN" sz="2550" b="1" dirty="0">
                <a:solidFill>
                  <a:srgbClr val="0F172A"/>
                </a:solidFill>
                <a:latin typeface="Plus Jakarta Sans"/>
              </a:rPr>
              <a:t>端到端工作流</a:t>
            </a:r>
            <a:endParaRPr sz="255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23875" y="866775"/>
            <a:ext cx="1114425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A6E1DB95-48DB-3902-96EB-013EDE1FBA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3677840"/>
            <a:ext cx="4826500" cy="299355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B95DA79C-9658-0394-501A-57B6C2957A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8885" y="3677840"/>
            <a:ext cx="3262040" cy="29824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tails are in the caption following the image">
            <a:extLst>
              <a:ext uri="{FF2B5EF4-FFF2-40B4-BE49-F238E27FC236}">
                <a16:creationId xmlns:a16="http://schemas.microsoft.com/office/drawing/2014/main" id="{0C239D7F-A923-4C34-8956-57D51963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59" y="586113"/>
            <a:ext cx="10381728" cy="545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359</Words>
  <Application>Microsoft Macintosh PowerPoint</Application>
  <PresentationFormat>Widescreen</PresentationFormat>
  <Paragraphs>105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Noto Sans SC</vt:lpstr>
      <vt:lpstr>Plus Jakarta Sans</vt:lpstr>
      <vt:lpstr>Plus Jakarta Sans ExtraBold</vt:lpstr>
      <vt:lpstr>Aptos</vt:lpstr>
      <vt:lpstr>Aptos Display</vt:lpstr>
      <vt:lpstr>Arial</vt:lpstr>
      <vt:lpstr>DM Sans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Huijie Qiao</dc:creator>
  <cp:lastModifiedBy>Huijie Qiao</cp:lastModifiedBy>
  <cp:revision>19</cp:revision>
  <dcterms:created xsi:type="dcterms:W3CDTF">2026-08-31T15:34:53Z</dcterms:created>
  <dcterms:modified xsi:type="dcterms:W3CDTF">2026-08-31T15:54:35Z</dcterms:modified>
</cp:coreProperties>
</file>