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6" r:id="rId2"/>
    <p:sldId id="679" r:id="rId3"/>
    <p:sldId id="713" r:id="rId4"/>
    <p:sldId id="692" r:id="rId5"/>
    <p:sldId id="694" r:id="rId6"/>
    <p:sldId id="685" r:id="rId7"/>
    <p:sldId id="712" r:id="rId8"/>
    <p:sldId id="721" r:id="rId9"/>
    <p:sldId id="722" r:id="rId10"/>
    <p:sldId id="716" r:id="rId11"/>
    <p:sldId id="725" r:id="rId12"/>
    <p:sldId id="740" r:id="rId13"/>
    <p:sldId id="745" r:id="rId14"/>
    <p:sldId id="739" r:id="rId15"/>
    <p:sldId id="741" r:id="rId16"/>
    <p:sldId id="742" r:id="rId17"/>
    <p:sldId id="744" r:id="rId18"/>
    <p:sldId id="728" r:id="rId19"/>
    <p:sldId id="727" r:id="rId20"/>
    <p:sldId id="711" r:id="rId21"/>
    <p:sldId id="729" r:id="rId22"/>
    <p:sldId id="726" r:id="rId23"/>
    <p:sldId id="736" r:id="rId24"/>
    <p:sldId id="732" r:id="rId25"/>
    <p:sldId id="733" r:id="rId26"/>
    <p:sldId id="730" r:id="rId27"/>
    <p:sldId id="737" r:id="rId28"/>
    <p:sldId id="738" r:id="rId29"/>
    <p:sldId id="718" r:id="rId30"/>
    <p:sldId id="731" r:id="rId31"/>
    <p:sldId id="735" r:id="rId32"/>
    <p:sldId id="719" r:id="rId33"/>
    <p:sldId id="734" r:id="rId34"/>
    <p:sldId id="746" r:id="rId35"/>
    <p:sldId id="748" r:id="rId36"/>
    <p:sldId id="747" r:id="rId37"/>
    <p:sldId id="749" r:id="rId38"/>
    <p:sldId id="750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9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888ED-F378-4B2C-92BC-1C90BE68831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C8CF2-068D-4E1E-A256-93AEDA15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78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33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2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0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10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29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3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8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2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06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38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9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gengping.zhu@ws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rdrr.io/github/manubio13/ku.enm/man/kuenm_proc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luismurao.github.io/ntbox/reference/pROC.html" TargetMode="External"/><Relationship Id="rId2" Type="http://schemas.openxmlformats.org/officeDocument/2006/relationships/hyperlink" Target="https://github.com/luismurao/ntbo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uismurao/ntbox/blob/master/R/pROC.R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search.r-project.org/CRAN/refmans/ecospat/html/ecospat.boyce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-bloggers.com/2022/05/model-evaluation-with-presence-points-and-raster-predictions/" TargetMode="External"/><Relationship Id="rId2" Type="http://schemas.openxmlformats.org/officeDocument/2006/relationships/hyperlink" Target="https://search.r-project.org/CRAN/refmans/modEvA/html/Boyce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105F94-253A-E23E-1E65-290028E49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2546" y="1750587"/>
            <a:ext cx="7518400" cy="2103121"/>
          </a:xfrm>
        </p:spPr>
        <p:txBody>
          <a:bodyPr>
            <a:normAutofit/>
          </a:bodyPr>
          <a:lstStyle/>
          <a:p>
            <a:pPr fontAlgn="t">
              <a:spcBef>
                <a:spcPts val="0"/>
              </a:spcBef>
              <a:spcAft>
                <a:spcPts val="1200"/>
              </a:spcAft>
            </a:pPr>
            <a:r>
              <a:rPr lang="en-US" altLang="zh-CN" sz="3600" b="1" dirty="0">
                <a:solidFill>
                  <a:srgbClr val="000000"/>
                </a:solidFill>
                <a:ea typeface="等线" panose="02010600030101010101" pitchFamily="2" charset="-122"/>
              </a:rPr>
              <a:t>Model Threshold and Evaluation</a:t>
            </a:r>
          </a:p>
          <a:p>
            <a:pPr algn="l" fontAlgn="t">
              <a:spcBef>
                <a:spcPts val="0"/>
              </a:spcBef>
              <a:spcAft>
                <a:spcPts val="1200"/>
              </a:spcAft>
            </a:pPr>
            <a:endParaRPr lang="zh-CN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206D6-C0E2-8630-AD5C-5711CC2FA285}"/>
              </a:ext>
            </a:extLst>
          </p:cNvPr>
          <p:cNvSpPr txBox="1"/>
          <p:nvPr/>
        </p:nvSpPr>
        <p:spPr>
          <a:xfrm>
            <a:off x="2060786" y="4514427"/>
            <a:ext cx="5201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Gengping Zhu</a:t>
            </a:r>
          </a:p>
          <a:p>
            <a:pPr algn="ctr"/>
            <a:r>
              <a:rPr lang="en-US" altLang="zh-CN" sz="24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gengping.zhu@wsu.edu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0761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396B662C-E534-5C3D-D901-EA69BD8C5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" y="757554"/>
            <a:ext cx="7672070" cy="4932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22C44E-87C7-3E08-63BD-DC8AEC9AFE8A}"/>
              </a:ext>
            </a:extLst>
          </p:cNvPr>
          <p:cNvSpPr txBox="1"/>
          <p:nvPr/>
        </p:nvSpPr>
        <p:spPr>
          <a:xfrm>
            <a:off x="5715001" y="2702695"/>
            <a:ext cx="2734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AUC value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b="1" dirty="0"/>
              <a:t>rea </a:t>
            </a:r>
            <a:r>
              <a:rPr lang="en-US" altLang="zh-CN" b="1" dirty="0">
                <a:solidFill>
                  <a:srgbClr val="FF0000"/>
                </a:solidFill>
              </a:rPr>
              <a:t>U</a:t>
            </a:r>
            <a:r>
              <a:rPr lang="en-US" altLang="zh-CN" b="1" dirty="0"/>
              <a:t>nder the ROC 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dirty="0"/>
              <a:t>urve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C2A3B-C26B-7F6B-1502-43860E61ED72}"/>
              </a:ext>
            </a:extLst>
          </p:cNvPr>
          <p:cNvSpPr txBox="1"/>
          <p:nvPr/>
        </p:nvSpPr>
        <p:spPr>
          <a:xfrm>
            <a:off x="5715001" y="3719382"/>
            <a:ext cx="3528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ROC</a:t>
            </a:r>
            <a:r>
              <a:rPr lang="en-US" altLang="zh-CN" b="1" dirty="0"/>
              <a:t> curve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b="1" dirty="0"/>
              <a:t>eceiver </a:t>
            </a:r>
            <a:r>
              <a:rPr lang="en-US" altLang="zh-CN" b="1" dirty="0">
                <a:solidFill>
                  <a:srgbClr val="FF0000"/>
                </a:solidFill>
              </a:rPr>
              <a:t>O</a:t>
            </a:r>
            <a:r>
              <a:rPr lang="en-US" altLang="zh-CN" b="1" dirty="0"/>
              <a:t>perating 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dirty="0"/>
              <a:t>haracteristics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49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D3A1C-F779-5943-F099-D5AA0BD2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Input data </a:t>
            </a:r>
            <a:r>
              <a:rPr lang="en-US" altLang="zh-CN" b="1" dirty="0"/>
              <a:t>for model evaluation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26434-FFE1-7402-2E23-5C103801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63159"/>
            <a:ext cx="7886700" cy="5394841"/>
          </a:xfrm>
        </p:spPr>
        <p:txBody>
          <a:bodyPr>
            <a:normAutofit lnSpcReduction="10000"/>
          </a:bodyPr>
          <a:lstStyle/>
          <a:p>
            <a:r>
              <a:rPr lang="en-US" altLang="zh-CN" b="1" dirty="0"/>
              <a:t>Testing point (long, </a:t>
            </a:r>
            <a:r>
              <a:rPr lang="en-US" altLang="zh-CN" b="1" dirty="0" err="1"/>
              <a:t>lat</a:t>
            </a:r>
            <a:r>
              <a:rPr lang="en-US" altLang="zh-CN" b="1" dirty="0"/>
              <a:t>, CSV)</a:t>
            </a:r>
          </a:p>
          <a:p>
            <a:pPr marL="0" indent="0">
              <a:buNone/>
            </a:pPr>
            <a:r>
              <a:rPr lang="en-US" altLang="zh-CN" dirty="0"/>
              <a:t>data splitting strategy </a:t>
            </a:r>
          </a:p>
          <a:p>
            <a:endParaRPr lang="en-US" altLang="zh-CN" dirty="0"/>
          </a:p>
          <a:p>
            <a:r>
              <a:rPr lang="en-US" altLang="zh-CN" b="1" dirty="0"/>
              <a:t>Model suitability/binary predictions: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Threshold dependent approach </a:t>
            </a:r>
          </a:p>
          <a:p>
            <a:pPr marL="0" indent="0">
              <a:buNone/>
            </a:pPr>
            <a:r>
              <a:rPr lang="en-US" altLang="zh-CN" dirty="0"/>
              <a:t>-&gt; binary prediction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Threshold independent approach</a:t>
            </a:r>
          </a:p>
          <a:p>
            <a:pPr marL="0" indent="0">
              <a:buNone/>
            </a:pPr>
            <a:r>
              <a:rPr lang="en-US" altLang="zh-CN" dirty="0"/>
              <a:t>-&gt; suitability prediction</a:t>
            </a:r>
          </a:p>
          <a:p>
            <a:pPr marL="403225" indent="-403225">
              <a:buNone/>
            </a:pPr>
            <a:r>
              <a:rPr lang="en-US" altLang="zh-CN" dirty="0"/>
              <a:t>-&gt; they still need “binary” predictions but summarize the metrics across the spectrum of thresholds.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113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05CEEC-B23C-61FB-0ADD-21D028D40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0772"/>
            <a:ext cx="9144000" cy="46364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B512BF-09CF-B959-7DF7-A3DA064A07EB}"/>
              </a:ext>
            </a:extLst>
          </p:cNvPr>
          <p:cNvSpPr txBox="1"/>
          <p:nvPr/>
        </p:nvSpPr>
        <p:spPr>
          <a:xfrm>
            <a:off x="233680" y="386080"/>
            <a:ext cx="8107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Method 1: Spatial block cross validations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2278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EBC3A3-33B8-5C37-DA81-2F7CA95FDC76}"/>
              </a:ext>
            </a:extLst>
          </p:cNvPr>
          <p:cNvSpPr txBox="1"/>
          <p:nvPr/>
        </p:nvSpPr>
        <p:spPr>
          <a:xfrm>
            <a:off x="396240" y="501134"/>
            <a:ext cx="685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/>
              <a:t>Method 2: </a:t>
            </a:r>
            <a:r>
              <a:rPr lang="en-US" altLang="zh-CN" sz="3200" b="1" i="0" u="none" strike="noStrike" baseline="0" dirty="0">
                <a:latin typeface="Calibri" panose="020F0502020204030204" pitchFamily="34" charset="0"/>
              </a:rPr>
              <a:t>Spatial checkerboard</a:t>
            </a:r>
            <a:endParaRPr lang="zh-CN" altLang="en-US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A9E5F-C105-0E1C-D47D-F243622D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" y="1085909"/>
            <a:ext cx="9141910" cy="40951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3B3836-36F8-7807-1FB0-06437ED8511B}"/>
              </a:ext>
            </a:extLst>
          </p:cNvPr>
          <p:cNvSpPr txBox="1"/>
          <p:nvPr/>
        </p:nvSpPr>
        <p:spPr>
          <a:xfrm>
            <a:off x="396240" y="5765874"/>
            <a:ext cx="417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R package: </a:t>
            </a:r>
            <a:r>
              <a:rPr lang="en-US" altLang="zh-CN" b="1" dirty="0" err="1"/>
              <a:t>ENMeval</a:t>
            </a:r>
            <a:r>
              <a:rPr lang="en-US" altLang="zh-C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356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8897-6B61-26E1-C9CA-C19A424B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Rare, endemic species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0AE8-FE71-2D7E-C0C5-4540C05D7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524000"/>
            <a:ext cx="8332470" cy="4652963"/>
          </a:xfrm>
        </p:spPr>
        <p:txBody>
          <a:bodyPr/>
          <a:lstStyle/>
          <a:p>
            <a:r>
              <a:rPr lang="en-US" altLang="zh-CN" dirty="0"/>
              <a:t>Leaving-one-out method;</a:t>
            </a:r>
          </a:p>
          <a:p>
            <a:pPr marL="0" indent="0">
              <a:buNone/>
            </a:pPr>
            <a:r>
              <a:rPr lang="en-US" altLang="zh-CN" dirty="0"/>
              <a:t>  Propose by Richard Pearson et al. 2007</a:t>
            </a:r>
          </a:p>
          <a:p>
            <a:pPr marL="0" indent="0">
              <a:buNone/>
            </a:pPr>
            <a:r>
              <a:rPr lang="en-US" altLang="zh-CN" dirty="0"/>
              <a:t>  lowest presence threshold (LPT)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Ensemble of small model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Proposed by </a:t>
            </a:r>
            <a:r>
              <a:rPr lang="en-US" altLang="zh-CN" dirty="0" err="1"/>
              <a:t>Guisan</a:t>
            </a:r>
            <a:r>
              <a:rPr lang="en-US" altLang="zh-CN" dirty="0"/>
              <a:t> group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</a:rPr>
              <a:t>ecospat</a:t>
            </a:r>
            <a:r>
              <a:rPr lang="en-US" altLang="zh-CN" dirty="0">
                <a:solidFill>
                  <a:srgbClr val="FF0000"/>
                </a:solidFill>
              </a:rPr>
              <a:t> package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5098D-A338-5785-5C4D-2E4B5545C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854" y="1189037"/>
            <a:ext cx="2606266" cy="2514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59A6C0-26F4-EBC6-411D-C2B3F8809A28}"/>
              </a:ext>
            </a:extLst>
          </p:cNvPr>
          <p:cNvSpPr txBox="1"/>
          <p:nvPr/>
        </p:nvSpPr>
        <p:spPr>
          <a:xfrm>
            <a:off x="6354854" y="3749160"/>
            <a:ext cx="260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Calibri" panose="020F0502020204030204" pitchFamily="34" charset="0"/>
              </a:rPr>
              <a:t>leave-one-out (jackknife)</a:t>
            </a:r>
            <a:endParaRPr lang="zh-CN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14F9CC-CA1F-441A-EF3E-95AD32D6D039}"/>
              </a:ext>
            </a:extLst>
          </p:cNvPr>
          <p:cNvCxnSpPr>
            <a:cxnSpLocks/>
          </p:cNvCxnSpPr>
          <p:nvPr/>
        </p:nvCxnSpPr>
        <p:spPr>
          <a:xfrm>
            <a:off x="335280" y="3986412"/>
            <a:ext cx="4714240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1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C5C1-12A3-E22B-1E02-0C21615D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00074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Model evaluation overview</a:t>
            </a:r>
            <a:endParaRPr lang="zh-CN" altLang="en-US" b="1" dirty="0">
              <a:latin typeface="Adobe Gothic Std B" panose="020B08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C91F-3DD4-238B-29C4-43EF594B9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178" y="1188720"/>
            <a:ext cx="8128172" cy="49882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Threshold dependent approach</a:t>
            </a:r>
          </a:p>
          <a:p>
            <a:r>
              <a:rPr lang="en-US" altLang="zh-CN" dirty="0"/>
              <a:t>Omission error (</a:t>
            </a:r>
            <a:r>
              <a:rPr lang="en-US" altLang="zh-CN" b="1" dirty="0">
                <a:solidFill>
                  <a:srgbClr val="FF0000"/>
                </a:solidFill>
              </a:rPr>
              <a:t>Type I</a:t>
            </a:r>
            <a:r>
              <a:rPr lang="en-US" altLang="zh-CN" dirty="0"/>
              <a:t>), Commission error (</a:t>
            </a:r>
            <a:r>
              <a:rPr lang="en-US" altLang="zh-CN" b="1" dirty="0">
                <a:solidFill>
                  <a:srgbClr val="FF0000"/>
                </a:solidFill>
              </a:rPr>
              <a:t>Type II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Sensitivity, Specificity, Kappa, True Skill Statistic (TSS) </a:t>
            </a:r>
          </a:p>
          <a:p>
            <a:r>
              <a:rPr lang="en-US" altLang="zh-CN" dirty="0"/>
              <a:t> …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Threshold independent approach</a:t>
            </a:r>
          </a:p>
          <a:p>
            <a:r>
              <a:rPr lang="en-US" altLang="zh-CN" dirty="0"/>
              <a:t>AUC, AUC ratio, Boyce index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Present-only model: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AUC ratio, Boyce index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845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70216A32-A00B-C85F-A691-20CCC6ED5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45" y="977264"/>
            <a:ext cx="6586855" cy="5589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295BA6-3FE6-4FA9-300C-E584D7466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" y="291291"/>
            <a:ext cx="7886700" cy="721994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Confusion Matrix for </a:t>
            </a:r>
            <a:r>
              <a:rPr lang="en-US" altLang="zh-CN" sz="3200" b="1" dirty="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Binary Data</a:t>
            </a:r>
            <a:endParaRPr lang="zh-CN" altLang="en-US" sz="3200" dirty="0">
              <a:solidFill>
                <a:srgbClr val="0000FF"/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9B9F4-702D-3DBF-4E08-DBEB13A7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89079"/>
            <a:ext cx="3689350" cy="176752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0000FF"/>
                </a:solidFill>
              </a:rPr>
              <a:t>True positive (TP)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0000FF"/>
                </a:solidFill>
              </a:rPr>
              <a:t>False positive (FP)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0000FF"/>
                </a:solidFill>
              </a:rPr>
              <a:t>True negative (TN)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0000FF"/>
                </a:solidFill>
              </a:rPr>
              <a:t>False negative (FN)</a:t>
            </a:r>
            <a:endParaRPr lang="zh-CN" altLang="en-US" sz="2200" dirty="0">
              <a:solidFill>
                <a:srgbClr val="0000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84228-B6D6-4F95-5B17-62E35A1DE89E}"/>
              </a:ext>
            </a:extLst>
          </p:cNvPr>
          <p:cNvSpPr txBox="1"/>
          <p:nvPr/>
        </p:nvSpPr>
        <p:spPr>
          <a:xfrm>
            <a:off x="2844800" y="6332395"/>
            <a:ext cx="206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Omission error</a:t>
            </a:r>
            <a:endParaRPr lang="zh-CN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FF870-F10F-44BC-8981-82980FADD25B}"/>
              </a:ext>
            </a:extLst>
          </p:cNvPr>
          <p:cNvSpPr txBox="1"/>
          <p:nvPr/>
        </p:nvSpPr>
        <p:spPr>
          <a:xfrm>
            <a:off x="6842760" y="2814534"/>
            <a:ext cx="206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Commission error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53584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7DE6EA-4AD6-5A81-1DFC-064A662E3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1" y="546154"/>
            <a:ext cx="9074497" cy="548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3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D460E20-F94F-05F6-E66E-F4DA06CA6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53" y="700548"/>
            <a:ext cx="4572000" cy="10569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8FAE31-8E62-1812-037E-E71DFCB5E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30" y="2844147"/>
            <a:ext cx="4572000" cy="1136754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7D2871-6A7A-A927-CFF0-584589EC4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08821"/>
            <a:ext cx="7886700" cy="52133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Sensitivity</a:t>
            </a:r>
            <a:r>
              <a:rPr lang="en-US" altLang="zh-CN" b="1" dirty="0"/>
              <a:t>: true positive rate (TPR):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C4FB17D-B7B6-5BE3-7D96-F056E33DBBCC}"/>
              </a:ext>
            </a:extLst>
          </p:cNvPr>
          <p:cNvSpPr txBox="1">
            <a:spLocks/>
          </p:cNvSpPr>
          <p:nvPr/>
        </p:nvSpPr>
        <p:spPr>
          <a:xfrm>
            <a:off x="0" y="2580640"/>
            <a:ext cx="7886700" cy="52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Specificity</a:t>
            </a:r>
            <a:r>
              <a:rPr lang="en-US" altLang="zh-CN" b="1" dirty="0"/>
              <a:t>: true negative rate (TNR):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DB2C9-79C4-4A07-EE87-C03D3523309F}"/>
              </a:ext>
            </a:extLst>
          </p:cNvPr>
          <p:cNvSpPr txBox="1"/>
          <p:nvPr/>
        </p:nvSpPr>
        <p:spPr>
          <a:xfrm>
            <a:off x="81280" y="4518213"/>
            <a:ext cx="4632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True Skill Statistic (TSS)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3BF89-CD1A-E111-D134-2EC287700DF9}"/>
              </a:ext>
            </a:extLst>
          </p:cNvPr>
          <p:cNvSpPr txBox="1"/>
          <p:nvPr/>
        </p:nvSpPr>
        <p:spPr>
          <a:xfrm>
            <a:off x="826952" y="5041433"/>
            <a:ext cx="4632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1" dirty="0"/>
              <a:t>Sensitivity</a:t>
            </a:r>
            <a:r>
              <a:rPr lang="en-US" altLang="zh-CN" sz="2800" dirty="0"/>
              <a:t> + </a:t>
            </a:r>
            <a:r>
              <a:rPr lang="en-US" altLang="zh-CN" sz="2800" i="1" dirty="0"/>
              <a:t>Specificity</a:t>
            </a:r>
            <a:r>
              <a:rPr lang="en-US" altLang="zh-CN" sz="2800" dirty="0"/>
              <a:t> – 1</a:t>
            </a:r>
          </a:p>
          <a:p>
            <a:r>
              <a:rPr lang="en-US" altLang="zh-CN" sz="2800" dirty="0"/>
              <a:t>ranges: −1 to 1</a:t>
            </a:r>
          </a:p>
        </p:txBody>
      </p:sp>
      <p:pic>
        <p:nvPicPr>
          <p:cNvPr id="27" name="Picture 26" descr="Table&#10;&#10;Description automatically generated">
            <a:extLst>
              <a:ext uri="{FF2B5EF4-FFF2-40B4-BE49-F238E27FC236}">
                <a16:creationId xmlns:a16="http://schemas.microsoft.com/office/drawing/2014/main" id="{186EDCCB-DDDE-87FC-CF5E-FB93BE82C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930" y="1891526"/>
            <a:ext cx="3743069" cy="268733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4B79179-D631-A945-1A4D-1B69D40F58A2}"/>
              </a:ext>
            </a:extLst>
          </p:cNvPr>
          <p:cNvSpPr/>
          <p:nvPr/>
        </p:nvSpPr>
        <p:spPr>
          <a:xfrm>
            <a:off x="6685495" y="930156"/>
            <a:ext cx="1201205" cy="4634496"/>
          </a:xfrm>
          <a:prstGeom prst="rect">
            <a:avLst/>
          </a:prstGeom>
          <a:noFill/>
          <a:ln w="635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320F82-7BE0-DC7A-F961-3ADAB298EE74}"/>
              </a:ext>
            </a:extLst>
          </p:cNvPr>
          <p:cNvSpPr/>
          <p:nvPr/>
        </p:nvSpPr>
        <p:spPr>
          <a:xfrm>
            <a:off x="7902122" y="930156"/>
            <a:ext cx="1201205" cy="4634495"/>
          </a:xfrm>
          <a:prstGeom prst="rect">
            <a:avLst/>
          </a:prstGeom>
          <a:noFill/>
          <a:ln w="635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5DA074-87A7-C2B6-AEBD-D40612662095}"/>
              </a:ext>
            </a:extLst>
          </p:cNvPr>
          <p:cNvSpPr txBox="1"/>
          <p:nvPr/>
        </p:nvSpPr>
        <p:spPr>
          <a:xfrm>
            <a:off x="475153" y="6217920"/>
            <a:ext cx="8475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Widely used in medical diagnostic tests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61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304B-6842-A6E1-DAC3-3DD080D88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90" y="385447"/>
            <a:ext cx="7886700" cy="661034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Kappa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8CF3B-D00A-73B0-CEAD-D94DB16E5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690" y="1164591"/>
            <a:ext cx="8718550" cy="1344929"/>
          </a:xfrm>
        </p:spPr>
        <p:txBody>
          <a:bodyPr/>
          <a:lstStyle/>
          <a:p>
            <a:r>
              <a:rPr lang="en-US" altLang="zh-CN" dirty="0"/>
              <a:t>measure corrects the overall accuracy of model predictions by the accuracy expected to occur by chance, ranging from –1 to +1.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A77D6-392C-E6E4-5BA7-DF5B9AA55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4" y="2994120"/>
            <a:ext cx="9119176" cy="347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3662-D705-4546-75EB-80F8B49B9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5"/>
            <a:ext cx="7886700" cy="1325563"/>
          </a:xfrm>
        </p:spPr>
        <p:txBody>
          <a:bodyPr/>
          <a:lstStyle/>
          <a:p>
            <a:r>
              <a:rPr lang="en-US" altLang="zh-CN" b="1" dirty="0"/>
              <a:t>Threshold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7CCF0-B218-4EA5-766A-17087DF68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2985"/>
            <a:ext cx="7886700" cy="1537335"/>
          </a:xfrm>
        </p:spPr>
        <p:txBody>
          <a:bodyPr>
            <a:normAutofit/>
          </a:bodyPr>
          <a:lstStyle/>
          <a:p>
            <a:r>
              <a:rPr lang="en-US" altLang="zh-CN" dirty="0"/>
              <a:t>value to use as the “cut-off”</a:t>
            </a:r>
          </a:p>
          <a:p>
            <a:r>
              <a:rPr lang="en-US" altLang="zh-CN" dirty="0"/>
              <a:t>apply a given cut-off value to model and output a raster with binary values for presence and absence.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8DBE3-1665-A73C-5DF2-885F9567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8548"/>
            <a:ext cx="9144000" cy="231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9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EC4321-7FC6-8966-9624-6E0503C8A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2" y="1054442"/>
            <a:ext cx="6637624" cy="41889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1FA69C-277B-2589-E5B6-C1811237535A}"/>
              </a:ext>
            </a:extLst>
          </p:cNvPr>
          <p:cNvSpPr/>
          <p:nvPr/>
        </p:nvSpPr>
        <p:spPr>
          <a:xfrm>
            <a:off x="32952" y="1524000"/>
            <a:ext cx="6573795" cy="1219200"/>
          </a:xfrm>
          <a:prstGeom prst="rect">
            <a:avLst/>
          </a:prstGeom>
          <a:noFill/>
          <a:ln w="635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953BFE-7741-3A27-76EA-67012D94A8A2}"/>
              </a:ext>
            </a:extLst>
          </p:cNvPr>
          <p:cNvSpPr/>
          <p:nvPr/>
        </p:nvSpPr>
        <p:spPr>
          <a:xfrm>
            <a:off x="32951" y="2714368"/>
            <a:ext cx="6573795" cy="827902"/>
          </a:xfrm>
          <a:prstGeom prst="rect">
            <a:avLst/>
          </a:prstGeom>
          <a:noFill/>
          <a:ln w="635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C412DD-3A01-FDBA-0952-79CA189C7E5D}"/>
              </a:ext>
            </a:extLst>
          </p:cNvPr>
          <p:cNvSpPr/>
          <p:nvPr/>
        </p:nvSpPr>
        <p:spPr>
          <a:xfrm>
            <a:off x="47353" y="3542270"/>
            <a:ext cx="6573795" cy="1701114"/>
          </a:xfrm>
          <a:prstGeom prst="rect">
            <a:avLst/>
          </a:prstGeom>
          <a:noFill/>
          <a:ln w="635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E2E8D-FC53-D198-3714-76E14B07A3ED}"/>
              </a:ext>
            </a:extLst>
          </p:cNvPr>
          <p:cNvSpPr txBox="1"/>
          <p:nvPr/>
        </p:nvSpPr>
        <p:spPr>
          <a:xfrm>
            <a:off x="284206" y="5341893"/>
            <a:ext cx="8563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Times" panose="02020603050405020304" pitchFamily="18" charset="0"/>
              </a:rPr>
              <a:t>The “Balance” threshold minimizes|</a:t>
            </a:r>
            <a:r>
              <a:rPr lang="en-US" altLang="zh-CN" dirty="0">
                <a:solidFill>
                  <a:srgbClr val="000000"/>
                </a:solidFill>
                <a:latin typeface="Times" panose="02020603050405020304" pitchFamily="18" charset="0"/>
              </a:rPr>
              <a:t>:</a:t>
            </a: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Times" panose="02020603050405020304" pitchFamily="18" charset="0"/>
              </a:rPr>
              <a:t>6 * training omission rate + .04 * cumulative threshold + 1.6 *fractional predicted area.</a:t>
            </a:r>
            <a:endParaRPr lang="zh-CN" alt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E83469-4EB1-1DC2-320C-7901A64EE718}"/>
              </a:ext>
            </a:extLst>
          </p:cNvPr>
          <p:cNvSpPr txBox="1">
            <a:spLocks/>
          </p:cNvSpPr>
          <p:nvPr/>
        </p:nvSpPr>
        <p:spPr>
          <a:xfrm>
            <a:off x="-47883" y="255371"/>
            <a:ext cx="8112725" cy="6463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Threshold---testing records</a:t>
            </a:r>
            <a:endParaRPr lang="zh-CN" altLang="en-US" b="1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91BCA9-9A82-1DDF-4980-14323C5835EC}"/>
              </a:ext>
            </a:extLst>
          </p:cNvPr>
          <p:cNvSpPr txBox="1">
            <a:spLocks/>
          </p:cNvSpPr>
          <p:nvPr/>
        </p:nvSpPr>
        <p:spPr>
          <a:xfrm>
            <a:off x="6670577" y="1058559"/>
            <a:ext cx="2440471" cy="4283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5400" b="1" dirty="0"/>
          </a:p>
          <a:p>
            <a:endParaRPr lang="en-US" altLang="zh-CN" sz="800" b="1" dirty="0"/>
          </a:p>
          <a:p>
            <a:r>
              <a:rPr lang="en-US" altLang="zh-CN" sz="2800" b="1" dirty="0">
                <a:solidFill>
                  <a:srgbClr val="0000FF"/>
                </a:solidFill>
              </a:rPr>
              <a:t>Fixed value</a:t>
            </a:r>
          </a:p>
          <a:p>
            <a:endParaRPr lang="en-US" altLang="zh-CN" sz="2800" b="1" dirty="0"/>
          </a:p>
          <a:p>
            <a:endParaRPr lang="en-US" altLang="zh-CN" sz="800" b="1" dirty="0"/>
          </a:p>
          <a:p>
            <a:r>
              <a:rPr lang="en-US" altLang="zh-CN" sz="2800" b="1" dirty="0">
                <a:solidFill>
                  <a:srgbClr val="C00000"/>
                </a:solidFill>
              </a:rPr>
              <a:t>Present-only</a:t>
            </a:r>
          </a:p>
          <a:p>
            <a:endParaRPr lang="en-US" altLang="zh-CN" sz="2800" b="1" dirty="0"/>
          </a:p>
          <a:p>
            <a:endParaRPr lang="en-US" altLang="zh-CN" sz="800" b="1" dirty="0"/>
          </a:p>
          <a:p>
            <a:r>
              <a:rPr lang="en-US" altLang="zh-CN" sz="2800" b="1" dirty="0">
                <a:solidFill>
                  <a:srgbClr val="00B050"/>
                </a:solidFill>
              </a:rPr>
              <a:t>Present-background</a:t>
            </a:r>
          </a:p>
          <a:p>
            <a:r>
              <a:rPr lang="en-US" altLang="zh-CN" sz="2800" b="1" dirty="0">
                <a:solidFill>
                  <a:srgbClr val="00B050"/>
                </a:solidFill>
              </a:rPr>
              <a:t>/pseudo-absent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79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AD80BD-FE03-DCF9-FDB6-F7BA93450CB9}"/>
              </a:ext>
            </a:extLst>
          </p:cNvPr>
          <p:cNvSpPr txBox="1"/>
          <p:nvPr/>
        </p:nvSpPr>
        <p:spPr>
          <a:xfrm>
            <a:off x="0" y="255666"/>
            <a:ext cx="784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Threshold-provided by </a:t>
            </a:r>
            <a:r>
              <a:rPr lang="en-US" altLang="zh-CN" sz="2800" b="1" dirty="0" err="1">
                <a:solidFill>
                  <a:srgbClr val="0000FF"/>
                </a:solidFill>
              </a:rPr>
              <a:t>PresenceAbsence</a:t>
            </a:r>
            <a:r>
              <a:rPr lang="en-US" altLang="zh-CN" sz="2800" b="1" dirty="0"/>
              <a:t> package </a:t>
            </a:r>
            <a:endParaRPr lang="zh-CN" alt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CC8C1-AE10-378D-0801-EFC8DFB54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159" y="778886"/>
            <a:ext cx="6055361" cy="576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6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1AF62-56A4-A9E3-2540-877ECB30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masis MT Pro Medium" panose="020B0604020202020204" pitchFamily="18" charset="0"/>
              </a:rPr>
              <a:t>Minimum training presence (MTP)</a:t>
            </a:r>
            <a:endParaRPr lang="zh-CN" altLang="en-US" sz="3200" dirty="0">
              <a:solidFill>
                <a:srgbClr val="0000FF"/>
              </a:solidFill>
              <a:latin typeface="Amasis MT Pro Medium" panose="020B0604020202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D1F0C-7041-A393-E1EC-3116C4C0D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9705"/>
            <a:ext cx="7886700" cy="4351338"/>
          </a:xfrm>
        </p:spPr>
        <p:txBody>
          <a:bodyPr/>
          <a:lstStyle/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sz="2600" dirty="0"/>
              <a:t>This threshold finds the lowest predicted suitability value for an occurrence point. 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sz="2600" dirty="0"/>
              <a:t>it assumes that the least suitable habitat at which the species is known to occur is the minimum suitability value for the species. 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sz="2600" dirty="0"/>
              <a:t>all testing points would fall within the area of the binary prediction.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sz="2600" dirty="0"/>
              <a:t>Suitable for rare and endemic species that have limited occurrence records.</a:t>
            </a:r>
            <a:endParaRPr lang="zh-CN" altLang="en-US" sz="26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211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7A91-81C0-6896-B3A2-D9A2E53B3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1" y="365126"/>
            <a:ext cx="8158549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0000FF"/>
                </a:solidFill>
                <a:latin typeface="Amasis MT Pro Medium" panose="020B0604020202020204" pitchFamily="18" charset="0"/>
              </a:rPr>
              <a:t>10th percentile training presence</a:t>
            </a:r>
            <a:endParaRPr lang="zh-CN" altLang="en-US" sz="3600" b="1" dirty="0">
              <a:solidFill>
                <a:srgbClr val="0000FF"/>
              </a:solidFill>
              <a:latin typeface="Amasis MT Pro Medium" panose="020B0604020202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4BBF-B41D-2080-0C30-82103E72D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801" y="1471946"/>
            <a:ext cx="8158549" cy="5233653"/>
          </a:xfrm>
        </p:spPr>
        <p:txBody>
          <a:bodyPr>
            <a:normAutofit fontScale="92500" lnSpcReduction="20000"/>
          </a:bodyPr>
          <a:lstStyle/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dirty="0"/>
              <a:t>The P10, on the other hand, is a threshold which omits all regions with habitat suitability lower than the suitability values for the lowest 10% of occurrence records. 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dirty="0"/>
              <a:t>It assumes that the 10% of occurrence records in the least suitable habitat aren’t occurring in regions that are representative of the species overall habitat, and thus should be omitted. 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dirty="0"/>
              <a:t>This threshold omits a greater region, and is more conservative than the MTP.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3000" b="1" dirty="0">
                <a:solidFill>
                  <a:srgbClr val="0000FF"/>
                </a:solidFill>
              </a:rPr>
              <a:t>What is the advantage of MTP and 10</a:t>
            </a:r>
            <a:r>
              <a:rPr lang="en-US" altLang="zh-CN" sz="3000" b="1" baseline="30000" dirty="0">
                <a:solidFill>
                  <a:srgbClr val="0000FF"/>
                </a:solidFill>
              </a:rPr>
              <a:t>th</a:t>
            </a:r>
            <a:r>
              <a:rPr lang="en-US" altLang="zh-CN" sz="3000" b="1" dirty="0">
                <a:solidFill>
                  <a:srgbClr val="0000FF"/>
                </a:solidFill>
              </a:rPr>
              <a:t> training thresholds?</a:t>
            </a:r>
          </a:p>
          <a:p>
            <a:pPr marL="0" indent="0">
              <a:buNone/>
            </a:pPr>
            <a:r>
              <a:rPr lang="en-US" altLang="zh-CN" sz="3000" b="1" dirty="0">
                <a:solidFill>
                  <a:srgbClr val="0000FF"/>
                </a:solidFill>
              </a:rPr>
              <a:t>-&gt; they have no requirement of absence testing data</a:t>
            </a:r>
          </a:p>
          <a:p>
            <a:pPr marL="0" indent="0">
              <a:buNone/>
            </a:pPr>
            <a:r>
              <a:rPr lang="en-US" altLang="zh-CN" sz="3000" b="1" dirty="0">
                <a:solidFill>
                  <a:srgbClr val="0000FF"/>
                </a:solidFill>
              </a:rPr>
              <a:t> </a:t>
            </a:r>
            <a:endParaRPr lang="zh-CN" altLang="en-US" sz="3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88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8966A7-5E25-51FD-1AF5-763895C80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46" y="679086"/>
            <a:ext cx="5125165" cy="4391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235375-BF54-A02C-4B42-7BB25965D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46" y="5412419"/>
            <a:ext cx="5106113" cy="13622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568E87-0BD6-C39F-8134-B5FF63AAD57D}"/>
              </a:ext>
            </a:extLst>
          </p:cNvPr>
          <p:cNvSpPr txBox="1"/>
          <p:nvPr/>
        </p:nvSpPr>
        <p:spPr>
          <a:xfrm>
            <a:off x="-19052" y="65901"/>
            <a:ext cx="696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How to calculate MTP, 5</a:t>
            </a:r>
            <a:r>
              <a:rPr lang="en-US" altLang="zh-CN" sz="2000" b="1" baseline="30000" dirty="0">
                <a:solidFill>
                  <a:srgbClr val="0000FF"/>
                </a:solidFill>
              </a:rPr>
              <a:t>th</a:t>
            </a:r>
            <a:r>
              <a:rPr lang="en-US" altLang="zh-CN" sz="2000" b="1" dirty="0">
                <a:solidFill>
                  <a:srgbClr val="0000FF"/>
                </a:solidFill>
              </a:rPr>
              <a:t>, and 10</a:t>
            </a:r>
            <a:r>
              <a:rPr lang="en-US" altLang="zh-CN" sz="2000" b="1" baseline="30000" dirty="0">
                <a:solidFill>
                  <a:srgbClr val="0000FF"/>
                </a:solidFill>
              </a:rPr>
              <a:t>th</a:t>
            </a:r>
            <a:r>
              <a:rPr lang="en-US" altLang="zh-CN" sz="2000" b="1" dirty="0">
                <a:solidFill>
                  <a:srgbClr val="0000FF"/>
                </a:solidFill>
              </a:rPr>
              <a:t> training threshold?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A18B22-BDB7-BA58-DFF7-C6052596D00C}"/>
              </a:ext>
            </a:extLst>
          </p:cNvPr>
          <p:cNvSpPr txBox="1"/>
          <p:nvPr/>
        </p:nvSpPr>
        <p:spPr>
          <a:xfrm>
            <a:off x="-19052" y="1951143"/>
            <a:ext cx="2012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example, we have 100 testing points:</a:t>
            </a:r>
            <a:endParaRPr lang="zh-CN" alt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2526F1-E867-2ABA-DFD2-7A99268E71A8}"/>
              </a:ext>
            </a:extLst>
          </p:cNvPr>
          <p:cNvSpPr/>
          <p:nvPr/>
        </p:nvSpPr>
        <p:spPr>
          <a:xfrm>
            <a:off x="1844047" y="679086"/>
            <a:ext cx="5042786" cy="6063584"/>
          </a:xfrm>
          <a:prstGeom prst="rect">
            <a:avLst/>
          </a:prstGeom>
          <a:noFill/>
          <a:ln w="349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DBAD0E-9C8B-C50E-0C90-F54A95BF6F66}"/>
              </a:ext>
            </a:extLst>
          </p:cNvPr>
          <p:cNvSpPr txBox="1"/>
          <p:nvPr/>
        </p:nvSpPr>
        <p:spPr>
          <a:xfrm>
            <a:off x="2042983" y="4770542"/>
            <a:ext cx="2883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……………</a:t>
            </a:r>
            <a:endParaRPr lang="zh-CN" altLang="en-US" sz="3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BB60F1-5954-6228-D105-782F53515A16}"/>
              </a:ext>
            </a:extLst>
          </p:cNvPr>
          <p:cNvSpPr txBox="1"/>
          <p:nvPr/>
        </p:nvSpPr>
        <p:spPr>
          <a:xfrm>
            <a:off x="5817142" y="364402"/>
            <a:ext cx="12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Increasing</a:t>
            </a:r>
            <a:endParaRPr lang="zh-CN" altLang="en-US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97AF07E-FAEB-BFCF-B288-D27A9B32281D}"/>
              </a:ext>
            </a:extLst>
          </p:cNvPr>
          <p:cNvSpPr/>
          <p:nvPr/>
        </p:nvSpPr>
        <p:spPr>
          <a:xfrm rot="5400000">
            <a:off x="7155177" y="806080"/>
            <a:ext cx="174223" cy="428367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D4D8A0A4-63FB-9D7B-4A48-EEBF4A3F1071}"/>
              </a:ext>
            </a:extLst>
          </p:cNvPr>
          <p:cNvSpPr/>
          <p:nvPr/>
        </p:nvSpPr>
        <p:spPr>
          <a:xfrm rot="5400000">
            <a:off x="7155176" y="1493940"/>
            <a:ext cx="174223" cy="428367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C9BCCCFF-59F3-196E-D879-C0D6C29B2E52}"/>
              </a:ext>
            </a:extLst>
          </p:cNvPr>
          <p:cNvSpPr/>
          <p:nvPr/>
        </p:nvSpPr>
        <p:spPr>
          <a:xfrm rot="5400000">
            <a:off x="7155176" y="2573178"/>
            <a:ext cx="174223" cy="428367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B1149D-0712-F7C9-D3FD-DFA3606F0C79}"/>
              </a:ext>
            </a:extLst>
          </p:cNvPr>
          <p:cNvSpPr txBox="1"/>
          <p:nvPr/>
        </p:nvSpPr>
        <p:spPr>
          <a:xfrm>
            <a:off x="7515364" y="861900"/>
            <a:ext cx="140867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MTP</a:t>
            </a:r>
          </a:p>
          <a:p>
            <a:endParaRPr lang="en-US" altLang="zh-CN" sz="900" b="1" dirty="0"/>
          </a:p>
          <a:p>
            <a:endParaRPr lang="en-US" altLang="zh-CN" b="1" dirty="0"/>
          </a:p>
          <a:p>
            <a:r>
              <a:rPr lang="en-US" altLang="zh-CN" b="1" dirty="0"/>
              <a:t>5</a:t>
            </a:r>
            <a:r>
              <a:rPr lang="en-US" altLang="zh-CN" b="1" baseline="30000" dirty="0"/>
              <a:t>th </a:t>
            </a:r>
            <a:r>
              <a:rPr lang="en-US" altLang="zh-CN" b="1" dirty="0"/>
              <a:t>training</a:t>
            </a:r>
            <a:endParaRPr lang="en-US" altLang="zh-CN" b="1" baseline="30000" dirty="0"/>
          </a:p>
          <a:p>
            <a:endParaRPr lang="en-US" altLang="zh-CN" b="1" dirty="0"/>
          </a:p>
          <a:p>
            <a:endParaRPr lang="en-US" altLang="zh-CN" sz="1400" b="1" dirty="0"/>
          </a:p>
          <a:p>
            <a:endParaRPr lang="en-US" altLang="zh-CN" b="1" dirty="0"/>
          </a:p>
          <a:p>
            <a:r>
              <a:rPr lang="en-US" altLang="zh-CN" b="1" dirty="0"/>
              <a:t>10</a:t>
            </a:r>
            <a:r>
              <a:rPr lang="en-US" altLang="zh-CN" b="1" baseline="30000" dirty="0"/>
              <a:t>th</a:t>
            </a:r>
            <a:r>
              <a:rPr lang="en-US" altLang="zh-CN" b="1" dirty="0"/>
              <a:t> training </a:t>
            </a:r>
            <a:endParaRPr lang="zh-CN" altLang="en-US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008913-0363-0093-6124-4EB769C96C35}"/>
              </a:ext>
            </a:extLst>
          </p:cNvPr>
          <p:cNvCxnSpPr>
            <a:cxnSpLocks/>
          </p:cNvCxnSpPr>
          <p:nvPr/>
        </p:nvCxnSpPr>
        <p:spPr>
          <a:xfrm>
            <a:off x="5511115" y="4885038"/>
            <a:ext cx="0" cy="67164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3D0AC04-7DDA-227D-2FC7-83BEB6596E48}"/>
              </a:ext>
            </a:extLst>
          </p:cNvPr>
          <p:cNvSpPr/>
          <p:nvPr/>
        </p:nvSpPr>
        <p:spPr>
          <a:xfrm>
            <a:off x="1844046" y="933152"/>
            <a:ext cx="5042786" cy="174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12434E-0261-E109-38BB-6C947DC4FBD0}"/>
              </a:ext>
            </a:extLst>
          </p:cNvPr>
          <p:cNvSpPr/>
          <p:nvPr/>
        </p:nvSpPr>
        <p:spPr>
          <a:xfrm>
            <a:off x="1844046" y="1596050"/>
            <a:ext cx="5042786" cy="174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A490C0-3CE1-272F-D4A4-19A4AF3FC865}"/>
              </a:ext>
            </a:extLst>
          </p:cNvPr>
          <p:cNvSpPr/>
          <p:nvPr/>
        </p:nvSpPr>
        <p:spPr>
          <a:xfrm>
            <a:off x="1848162" y="2691931"/>
            <a:ext cx="5042786" cy="174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85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6" grpId="0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CE085B05-3A90-504E-7173-AB7EE92CD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120" y="383920"/>
            <a:ext cx="6410232" cy="64740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2CCFF-7B65-0702-2075-584766CC7D65}"/>
              </a:ext>
            </a:extLst>
          </p:cNvPr>
          <p:cNvSpPr txBox="1"/>
          <p:nvPr/>
        </p:nvSpPr>
        <p:spPr>
          <a:xfrm>
            <a:off x="2454878" y="3436293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0.5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A226E-D627-0416-787E-A84BF47C4C02}"/>
              </a:ext>
            </a:extLst>
          </p:cNvPr>
          <p:cNvSpPr txBox="1"/>
          <p:nvPr/>
        </p:nvSpPr>
        <p:spPr>
          <a:xfrm>
            <a:off x="5674409" y="199254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0.2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07711-5835-3254-C59A-577D2F98FF75}"/>
              </a:ext>
            </a:extLst>
          </p:cNvPr>
          <p:cNvSpPr txBox="1"/>
          <p:nvPr/>
        </p:nvSpPr>
        <p:spPr>
          <a:xfrm>
            <a:off x="2458993" y="199254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0.1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AD390-597E-C0C5-0D78-B4EB642E588B}"/>
              </a:ext>
            </a:extLst>
          </p:cNvPr>
          <p:cNvSpPr txBox="1"/>
          <p:nvPr/>
        </p:nvSpPr>
        <p:spPr>
          <a:xfrm>
            <a:off x="5675872" y="3492842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0.7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1AEDB8-3716-33C5-3D32-B74D85F7BCB7}"/>
              </a:ext>
            </a:extLst>
          </p:cNvPr>
          <p:cNvSpPr txBox="1"/>
          <p:nvPr/>
        </p:nvSpPr>
        <p:spPr>
          <a:xfrm>
            <a:off x="2" y="3123510"/>
            <a:ext cx="1964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Binary predictions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5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CE085B05-3A90-504E-7173-AB7EE92CD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120" y="383920"/>
            <a:ext cx="6410232" cy="64740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2CCFF-7B65-0702-2075-584766CC7D65}"/>
              </a:ext>
            </a:extLst>
          </p:cNvPr>
          <p:cNvSpPr txBox="1"/>
          <p:nvPr/>
        </p:nvSpPr>
        <p:spPr>
          <a:xfrm>
            <a:off x="2454878" y="3436293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0.5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A226E-D627-0416-787E-A84BF47C4C02}"/>
              </a:ext>
            </a:extLst>
          </p:cNvPr>
          <p:cNvSpPr txBox="1"/>
          <p:nvPr/>
        </p:nvSpPr>
        <p:spPr>
          <a:xfrm>
            <a:off x="5674409" y="199254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0.2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07711-5835-3254-C59A-577D2F98FF75}"/>
              </a:ext>
            </a:extLst>
          </p:cNvPr>
          <p:cNvSpPr txBox="1"/>
          <p:nvPr/>
        </p:nvSpPr>
        <p:spPr>
          <a:xfrm>
            <a:off x="2458993" y="199254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0.1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AD390-597E-C0C5-0D78-B4EB642E588B}"/>
              </a:ext>
            </a:extLst>
          </p:cNvPr>
          <p:cNvSpPr txBox="1"/>
          <p:nvPr/>
        </p:nvSpPr>
        <p:spPr>
          <a:xfrm>
            <a:off x="5675872" y="3492842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0.7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1AEDB8-3716-33C5-3D32-B74D85F7BCB7}"/>
              </a:ext>
            </a:extLst>
          </p:cNvPr>
          <p:cNvSpPr txBox="1"/>
          <p:nvPr/>
        </p:nvSpPr>
        <p:spPr>
          <a:xfrm>
            <a:off x="2" y="3123510"/>
            <a:ext cx="1964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Binary predictions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7B4C43-4C38-6427-770A-4CA36326A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878" y="1244846"/>
            <a:ext cx="2570206" cy="9903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A1947B-B5F0-318D-53AE-1D49D8D44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613" y="1216055"/>
            <a:ext cx="2554002" cy="10191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4BC1A4-1AE2-D5BF-800B-1B5B7A593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5037" y="4528790"/>
            <a:ext cx="2618273" cy="11608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69050E-A7E7-CF54-A31D-E97BCBD7E0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8565" y="4528789"/>
            <a:ext cx="2516050" cy="116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2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CE085B05-3A90-504E-7173-AB7EE92CD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120" y="383920"/>
            <a:ext cx="6410232" cy="64740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2CCFF-7B65-0702-2075-584766CC7D65}"/>
              </a:ext>
            </a:extLst>
          </p:cNvPr>
          <p:cNvSpPr txBox="1"/>
          <p:nvPr/>
        </p:nvSpPr>
        <p:spPr>
          <a:xfrm>
            <a:off x="2454878" y="3436293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0.5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A226E-D627-0416-787E-A84BF47C4C02}"/>
              </a:ext>
            </a:extLst>
          </p:cNvPr>
          <p:cNvSpPr txBox="1"/>
          <p:nvPr/>
        </p:nvSpPr>
        <p:spPr>
          <a:xfrm>
            <a:off x="5674409" y="199254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0.2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07711-5835-3254-C59A-577D2F98FF75}"/>
              </a:ext>
            </a:extLst>
          </p:cNvPr>
          <p:cNvSpPr txBox="1"/>
          <p:nvPr/>
        </p:nvSpPr>
        <p:spPr>
          <a:xfrm>
            <a:off x="2458993" y="199254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0.1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AD390-597E-C0C5-0D78-B4EB642E588B}"/>
              </a:ext>
            </a:extLst>
          </p:cNvPr>
          <p:cNvSpPr txBox="1"/>
          <p:nvPr/>
        </p:nvSpPr>
        <p:spPr>
          <a:xfrm>
            <a:off x="5675872" y="3492842"/>
            <a:ext cx="25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Threshold = 0.7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1AEDB8-3716-33C5-3D32-B74D85F7BCB7}"/>
              </a:ext>
            </a:extLst>
          </p:cNvPr>
          <p:cNvSpPr txBox="1"/>
          <p:nvPr/>
        </p:nvSpPr>
        <p:spPr>
          <a:xfrm>
            <a:off x="2" y="3123510"/>
            <a:ext cx="1964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Binary predictions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34979F-1642-961D-0958-DD52230CD2C2}"/>
              </a:ext>
            </a:extLst>
          </p:cNvPr>
          <p:cNvSpPr txBox="1"/>
          <p:nvPr/>
        </p:nvSpPr>
        <p:spPr>
          <a:xfrm>
            <a:off x="2454878" y="1430645"/>
            <a:ext cx="2570206" cy="1015663"/>
          </a:xfrm>
          <a:prstGeom prst="rect">
            <a:avLst/>
          </a:prstGeom>
          <a:noFill/>
          <a:ln w="50800"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dirty="0"/>
              <a:t>Sensitivity = 0.97 </a:t>
            </a:r>
          </a:p>
          <a:p>
            <a:pPr algn="just"/>
            <a:r>
              <a:rPr lang="en-US" altLang="zh-CN" sz="2000" dirty="0"/>
              <a:t>Specificity</a:t>
            </a:r>
            <a:r>
              <a:rPr lang="zh-CN" altLang="en-US" sz="2000" dirty="0"/>
              <a:t> </a:t>
            </a:r>
            <a:r>
              <a:rPr lang="en-US" altLang="zh-CN" sz="2000" dirty="0"/>
              <a:t>= 0.53</a:t>
            </a:r>
          </a:p>
          <a:p>
            <a:pPr algn="just"/>
            <a:r>
              <a:rPr lang="en-US" altLang="zh-CN" sz="2000" dirty="0"/>
              <a:t>TSS = 0.50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5BB3F-D7AC-E73B-AE20-85FE095FB66E}"/>
              </a:ext>
            </a:extLst>
          </p:cNvPr>
          <p:cNvSpPr txBox="1"/>
          <p:nvPr/>
        </p:nvSpPr>
        <p:spPr>
          <a:xfrm>
            <a:off x="5674409" y="1430550"/>
            <a:ext cx="2570206" cy="1015663"/>
          </a:xfrm>
          <a:prstGeom prst="rect">
            <a:avLst/>
          </a:prstGeom>
          <a:noFill/>
          <a:ln w="50800"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dirty="0"/>
              <a:t>Sensitivity = 0.96 </a:t>
            </a:r>
          </a:p>
          <a:p>
            <a:pPr algn="just"/>
            <a:r>
              <a:rPr lang="en-US" altLang="zh-CN" sz="2000" dirty="0"/>
              <a:t>Specificity</a:t>
            </a:r>
            <a:r>
              <a:rPr lang="zh-CN" altLang="en-US" sz="2000" dirty="0"/>
              <a:t> </a:t>
            </a:r>
            <a:r>
              <a:rPr lang="en-US" altLang="zh-CN" sz="2000" dirty="0"/>
              <a:t>= 0.63</a:t>
            </a:r>
          </a:p>
          <a:p>
            <a:pPr algn="just"/>
            <a:r>
              <a:rPr lang="en-US" altLang="zh-CN" sz="2000" dirty="0"/>
              <a:t>TSS = 0.59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E1A7F7-48AD-A8DF-F4A6-97B2546C9FFC}"/>
              </a:ext>
            </a:extLst>
          </p:cNvPr>
          <p:cNvSpPr txBox="1"/>
          <p:nvPr/>
        </p:nvSpPr>
        <p:spPr>
          <a:xfrm>
            <a:off x="2454878" y="4702060"/>
            <a:ext cx="2570206" cy="1015663"/>
          </a:xfrm>
          <a:prstGeom prst="rect">
            <a:avLst/>
          </a:prstGeom>
          <a:noFill/>
          <a:ln w="50800"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dirty="0"/>
              <a:t>Sensitivity = 0.74 </a:t>
            </a:r>
          </a:p>
          <a:p>
            <a:pPr algn="just"/>
            <a:r>
              <a:rPr lang="en-US" altLang="zh-CN" sz="2000" dirty="0"/>
              <a:t>Specificity</a:t>
            </a:r>
            <a:r>
              <a:rPr lang="zh-CN" altLang="en-US" sz="2000" dirty="0"/>
              <a:t> </a:t>
            </a:r>
            <a:r>
              <a:rPr lang="en-US" altLang="zh-CN" sz="2000" dirty="0"/>
              <a:t>= 0.83</a:t>
            </a:r>
          </a:p>
          <a:p>
            <a:pPr algn="just"/>
            <a:r>
              <a:rPr lang="en-US" altLang="zh-CN" sz="2000" dirty="0"/>
              <a:t>TSS = 0.51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E2510F-3DA8-8475-E2FC-390C33BB892A}"/>
              </a:ext>
            </a:extLst>
          </p:cNvPr>
          <p:cNvSpPr txBox="1"/>
          <p:nvPr/>
        </p:nvSpPr>
        <p:spPr>
          <a:xfrm>
            <a:off x="5674409" y="4707995"/>
            <a:ext cx="2570206" cy="1015663"/>
          </a:xfrm>
          <a:prstGeom prst="rect">
            <a:avLst/>
          </a:prstGeom>
          <a:noFill/>
          <a:ln w="50800"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dirty="0"/>
              <a:t>Sensitivity = 0.56 </a:t>
            </a:r>
          </a:p>
          <a:p>
            <a:pPr algn="just"/>
            <a:r>
              <a:rPr lang="en-US" altLang="zh-CN" sz="2000" dirty="0"/>
              <a:t>Specificity</a:t>
            </a:r>
            <a:r>
              <a:rPr lang="zh-CN" altLang="en-US" sz="2000" dirty="0"/>
              <a:t> </a:t>
            </a:r>
            <a:r>
              <a:rPr lang="en-US" altLang="zh-CN" sz="2000" dirty="0"/>
              <a:t>= 0.93</a:t>
            </a:r>
          </a:p>
          <a:p>
            <a:pPr algn="just"/>
            <a:r>
              <a:rPr lang="en-US" altLang="zh-CN" sz="2000" dirty="0"/>
              <a:t>TSS = 0.49</a:t>
            </a:r>
          </a:p>
        </p:txBody>
      </p:sp>
    </p:spTree>
    <p:extLst>
      <p:ext uri="{BB962C8B-B14F-4D97-AF65-F5344CB8AC3E}">
        <p14:creationId xmlns:p14="http://schemas.microsoft.com/office/powerpoint/2010/main" val="231623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>
            <a:extLst>
              <a:ext uri="{FF2B5EF4-FFF2-40B4-BE49-F238E27FC236}">
                <a16:creationId xmlns:a16="http://schemas.microsoft.com/office/drawing/2014/main" id="{105B6977-488D-BDD6-8EF1-7E7914B5DD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B36BAE-E141-5623-A4EA-07EA7DB2B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248" y="0"/>
            <a:ext cx="6445504" cy="6822679"/>
          </a:xfrm>
          <a:prstGeom prst="rect">
            <a:avLst/>
          </a:prstGeom>
        </p:spPr>
      </p:pic>
      <p:sp>
        <p:nvSpPr>
          <p:cNvPr id="2" name="Arrow: Curved Right 1">
            <a:extLst>
              <a:ext uri="{FF2B5EF4-FFF2-40B4-BE49-F238E27FC236}">
                <a16:creationId xmlns:a16="http://schemas.microsoft.com/office/drawing/2014/main" id="{B5F5E44F-77BE-DAF7-E904-E35EA546E23E}"/>
              </a:ext>
            </a:extLst>
          </p:cNvPr>
          <p:cNvSpPr/>
          <p:nvPr/>
        </p:nvSpPr>
        <p:spPr>
          <a:xfrm rot="2675169">
            <a:off x="3791245" y="1221129"/>
            <a:ext cx="503270" cy="219464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2B7C3-93F8-7645-B8CE-3EF8BFE84186}"/>
              </a:ext>
            </a:extLst>
          </p:cNvPr>
          <p:cNvSpPr txBox="1"/>
          <p:nvPr/>
        </p:nvSpPr>
        <p:spPr>
          <a:xfrm rot="18963450">
            <a:off x="3124728" y="2429915"/>
            <a:ext cx="2711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/>
              <a:t>High&lt;-Threshold -</a:t>
            </a:r>
            <a:r>
              <a:rPr lang="en-US" altLang="zh-CN" sz="2000" b="1" dirty="0">
                <a:sym typeface="Wingdings" panose="05000000000000000000" pitchFamily="2" charset="2"/>
              </a:rPr>
              <a:t>&gt;</a:t>
            </a:r>
            <a:r>
              <a:rPr lang="en-US" altLang="zh-CN" sz="2000" b="1" dirty="0"/>
              <a:t> low 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1479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9F1615B8-8C0A-D4A0-4437-09A8E103E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9" y="1418798"/>
            <a:ext cx="9063302" cy="49015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B292A0-8CB3-DCBE-C82C-48A8E109CAD2}"/>
              </a:ext>
            </a:extLst>
          </p:cNvPr>
          <p:cNvSpPr txBox="1"/>
          <p:nvPr/>
        </p:nvSpPr>
        <p:spPr>
          <a:xfrm>
            <a:off x="160637" y="364694"/>
            <a:ext cx="81842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Sensitivity, specificity, and TSS plotted against threshold values.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6263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739D83-5399-8807-F36D-B5C0EE880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45" y="0"/>
            <a:ext cx="74691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8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3D702-63BC-A8C9-C54E-492119498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192"/>
            <a:ext cx="9144000" cy="50240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554A59-54C8-8BB2-6C81-7E6BECD80ED3}"/>
              </a:ext>
            </a:extLst>
          </p:cNvPr>
          <p:cNvSpPr txBox="1"/>
          <p:nvPr/>
        </p:nvSpPr>
        <p:spPr>
          <a:xfrm>
            <a:off x="101600" y="274320"/>
            <a:ext cx="882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Kappa was questioned and TSS was proposed, mainly because of below paper: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69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24313F-C667-09EF-1A8E-814870BA1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670"/>
            <a:ext cx="9144000" cy="63837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FC7594-E5FE-8780-FF2E-D630B130235F}"/>
              </a:ext>
            </a:extLst>
          </p:cNvPr>
          <p:cNvSpPr txBox="1"/>
          <p:nvPr/>
        </p:nvSpPr>
        <p:spPr>
          <a:xfrm>
            <a:off x="3373120" y="205837"/>
            <a:ext cx="543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BUT TSS was also questioned recently: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8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FCE9-33C0-F71F-7DE2-6508EB7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330960"/>
            <a:ext cx="8432800" cy="2442529"/>
          </a:xfrm>
        </p:spPr>
        <p:txBody>
          <a:bodyPr/>
          <a:lstStyle/>
          <a:p>
            <a:pPr algn="ctr"/>
            <a:r>
              <a:rPr lang="en-US" altLang="zh-CN" b="1" dirty="0"/>
              <a:t>Discussion</a:t>
            </a:r>
            <a:br>
              <a:rPr lang="en-US" altLang="zh-CN" b="1" dirty="0"/>
            </a:br>
            <a:br>
              <a:rPr lang="en-US" altLang="zh-CN" b="1" dirty="0"/>
            </a:br>
            <a:r>
              <a:rPr lang="en-US" altLang="zh-CN" b="1" dirty="0">
                <a:solidFill>
                  <a:srgbClr val="0000FF"/>
                </a:solidFill>
              </a:rPr>
              <a:t>Are there problems with AUC ?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97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B6E097E0-8DD6-B155-9D6D-149A3A399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52" y="-1"/>
            <a:ext cx="6283571" cy="6126481"/>
          </a:xfrm>
          <a:prstGeom prst="rect">
            <a:avLst/>
          </a:prstGeom>
        </p:spPr>
      </p:pic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DB58B9D9-1BB2-479D-5235-03134BAEE134}"/>
              </a:ext>
            </a:extLst>
          </p:cNvPr>
          <p:cNvSpPr/>
          <p:nvPr/>
        </p:nvSpPr>
        <p:spPr>
          <a:xfrm rot="2675169">
            <a:off x="5534263" y="2331678"/>
            <a:ext cx="503270" cy="219464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596E7-2E04-2B79-193D-11A0FAE554BE}"/>
              </a:ext>
            </a:extLst>
          </p:cNvPr>
          <p:cNvSpPr txBox="1"/>
          <p:nvPr/>
        </p:nvSpPr>
        <p:spPr>
          <a:xfrm rot="18963450">
            <a:off x="4867746" y="3540464"/>
            <a:ext cx="2711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/>
              <a:t>High&lt;-Threshold -</a:t>
            </a:r>
            <a:r>
              <a:rPr lang="en-US" altLang="zh-CN" sz="2000" b="1" dirty="0">
                <a:sym typeface="Wingdings" panose="05000000000000000000" pitchFamily="2" charset="2"/>
              </a:rPr>
              <a:t>&gt;</a:t>
            </a:r>
            <a:r>
              <a:rPr lang="en-US" altLang="zh-CN" sz="2000" b="1" dirty="0"/>
              <a:t> low </a:t>
            </a:r>
            <a:endParaRPr lang="zh-CN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06DC5-A29B-71E1-0F97-AA8A08C9A99D}"/>
              </a:ext>
            </a:extLst>
          </p:cNvPr>
          <p:cNvSpPr txBox="1"/>
          <p:nvPr/>
        </p:nvSpPr>
        <p:spPr>
          <a:xfrm>
            <a:off x="111760" y="6085840"/>
            <a:ext cx="9032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Both “blue” model and “red” mode have AUC of 0.72, but are they the same?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467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B6E097E0-8DD6-B155-9D6D-149A3A399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76" y="-1"/>
            <a:ext cx="7033848" cy="6858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B0C106-6626-8BA5-A10E-3F91DCDD3D89}"/>
              </a:ext>
            </a:extLst>
          </p:cNvPr>
          <p:cNvSpPr txBox="1"/>
          <p:nvPr/>
        </p:nvSpPr>
        <p:spPr>
          <a:xfrm>
            <a:off x="6939280" y="1361440"/>
            <a:ext cx="1737360" cy="400110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FF"/>
                </a:solidFill>
              </a:rPr>
              <a:t>Low threshold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45F23-A511-810A-1926-2D6C074F21E4}"/>
              </a:ext>
            </a:extLst>
          </p:cNvPr>
          <p:cNvSpPr txBox="1"/>
          <p:nvPr/>
        </p:nvSpPr>
        <p:spPr>
          <a:xfrm>
            <a:off x="3230880" y="4897120"/>
            <a:ext cx="1737360" cy="400110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FF"/>
                </a:solidFill>
              </a:rPr>
              <a:t>High threshold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E1A91B-6CBB-6311-6762-30F849F4756B}"/>
              </a:ext>
            </a:extLst>
          </p:cNvPr>
          <p:cNvCxnSpPr>
            <a:cxnSpLocks/>
          </p:cNvCxnSpPr>
          <p:nvPr/>
        </p:nvCxnSpPr>
        <p:spPr>
          <a:xfrm flipV="1">
            <a:off x="5781040" y="1459895"/>
            <a:ext cx="0" cy="1008985"/>
          </a:xfrm>
          <a:prstGeom prst="straightConnector1">
            <a:avLst/>
          </a:prstGeom>
          <a:ln w="85725">
            <a:solidFill>
              <a:srgbClr val="CC0099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9E877C-7A36-DC2F-5E28-34B66D9A7C5D}"/>
              </a:ext>
            </a:extLst>
          </p:cNvPr>
          <p:cNvCxnSpPr>
            <a:cxnSpLocks/>
          </p:cNvCxnSpPr>
          <p:nvPr/>
        </p:nvCxnSpPr>
        <p:spPr>
          <a:xfrm flipV="1">
            <a:off x="3921760" y="3046426"/>
            <a:ext cx="0" cy="1078534"/>
          </a:xfrm>
          <a:prstGeom prst="straightConnector1">
            <a:avLst/>
          </a:prstGeom>
          <a:ln w="85725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89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2B17-11DC-7272-187F-0C3C8D14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365127"/>
            <a:ext cx="8068310" cy="772794"/>
          </a:xfrm>
        </p:spPr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</a:rPr>
              <a:t>Partial ROC/AUC ratio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7920B-F797-5E8E-877E-144F8A2C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152363"/>
            <a:ext cx="8849360" cy="5340510"/>
          </a:xfrm>
        </p:spPr>
        <p:txBody>
          <a:bodyPr>
            <a:normAutofit/>
          </a:bodyPr>
          <a:lstStyle/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dirty="0"/>
              <a:t>ROC has the advantage of being threshold-independent, and as such does not require decisions regarding thresholds;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dirty="0"/>
              <a:t>Two errors (omission and commission errors) in AUC should not be weighted equally, as present data are more reliable than absence data;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b="1" dirty="0"/>
              <a:t>Partial ROC is a modification of ROC, it use AUC ratio to evaluate model performance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b="1" dirty="0"/>
              <a:t>AUC ratio range 0 to 2, &gt; 1 indicate good model</a:t>
            </a:r>
            <a:endParaRPr lang="en-US" altLang="zh-CN" dirty="0"/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dirty="0"/>
              <a:t>Partial ROC accounts for occurrence data quality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b="1" dirty="0"/>
              <a:t>R package</a:t>
            </a:r>
            <a:r>
              <a:rPr lang="en-US" altLang="zh-CN" dirty="0"/>
              <a:t>: ntbox,</a:t>
            </a:r>
            <a:r>
              <a:rPr lang="zh-CN" altLang="en-US" dirty="0"/>
              <a:t> </a:t>
            </a:r>
            <a:r>
              <a:rPr lang="en-US" altLang="zh-CN" dirty="0" err="1"/>
              <a:t>kuenm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815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, engineering drawing&#10;&#10;Description automatically generated">
            <a:extLst>
              <a:ext uri="{FF2B5EF4-FFF2-40B4-BE49-F238E27FC236}">
                <a16:creationId xmlns:a16="http://schemas.microsoft.com/office/drawing/2014/main" id="{B1477F2A-6551-5B04-2EBB-AE2E7AD1D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83411"/>
            <a:ext cx="6482080" cy="669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9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5B7435A-E675-2442-28DB-6D0C71034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39" y="0"/>
            <a:ext cx="824592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23273B-8293-C875-D6E7-929AD48DFBE8}"/>
              </a:ext>
            </a:extLst>
          </p:cNvPr>
          <p:cNvSpPr txBox="1"/>
          <p:nvPr/>
        </p:nvSpPr>
        <p:spPr>
          <a:xfrm>
            <a:off x="4728239" y="4391451"/>
            <a:ext cx="3707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0000FF"/>
                </a:solidFill>
              </a:rPr>
              <a:t>Partial ROC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72266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40C8-1585-7F1B-4E3D-8C454093A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5034"/>
          </a:xfrm>
        </p:spPr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</a:rPr>
              <a:t>Boyce index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0BFEC-2ECC-922E-1AE4-B7D6CE5CA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40" y="1188720"/>
            <a:ext cx="8341360" cy="4693603"/>
          </a:xfrm>
        </p:spPr>
        <p:txBody>
          <a:bodyPr/>
          <a:lstStyle/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b="1" dirty="0"/>
              <a:t>presence-only metric</a:t>
            </a:r>
            <a:r>
              <a:rPr lang="en-US" altLang="zh-CN" dirty="0"/>
              <a:t> for evaluating the predictions of species distribution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dirty="0"/>
              <a:t>It measures the predicted-to-expected ratio of presences in each class of predicted values, 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dirty="0"/>
              <a:t>i.e., whether classes / regions with higher predicted values have indeed higher proportions of presences than expected by chance;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b="1" dirty="0"/>
              <a:t>Boyce index ranges: -1 to 1</a:t>
            </a:r>
          </a:p>
          <a:p>
            <a:pPr>
              <a:buSzPct val="80000"/>
              <a:buFont typeface="Wingdings" panose="05000000000000000000" pitchFamily="2" charset="2"/>
              <a:buChar char="u"/>
            </a:pPr>
            <a:r>
              <a:rPr lang="en-US" altLang="zh-CN" b="1" dirty="0"/>
              <a:t>Package: </a:t>
            </a:r>
            <a:r>
              <a:rPr lang="en-US" altLang="zh-CN" b="1" dirty="0" err="1"/>
              <a:t>ecospat</a:t>
            </a:r>
            <a:r>
              <a:rPr lang="en-US" altLang="zh-CN" b="1" dirty="0"/>
              <a:t>, </a:t>
            </a:r>
            <a:r>
              <a:rPr lang="en-US" altLang="zh-CN" b="1" dirty="0" err="1"/>
              <a:t>modEvA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526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3C92DA-8EDD-D6B4-02FA-C06E8157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202" y="-1"/>
            <a:ext cx="6629278" cy="689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1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C5591-5BED-C7C7-3D7A-8F01BD521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811464"/>
            <a:ext cx="7886700" cy="150018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729160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D93-AC8E-5424-A32B-0847329E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365127"/>
            <a:ext cx="8788400" cy="930274"/>
          </a:xfrm>
        </p:spPr>
        <p:txBody>
          <a:bodyPr>
            <a:normAutofit/>
          </a:bodyPr>
          <a:lstStyle/>
          <a:p>
            <a:r>
              <a:rPr lang="en-US" sz="2400" i="1" dirty="0" err="1"/>
              <a:t>kuenm</a:t>
            </a:r>
            <a:r>
              <a:rPr lang="en-US" sz="2400" dirty="0"/>
              <a:t> package to calculate Partial ROC-AUC ratio</a:t>
            </a:r>
            <a:br>
              <a:rPr lang="en-US" sz="2400" dirty="0"/>
            </a:br>
            <a:r>
              <a:rPr lang="en-US" sz="2400" dirty="0">
                <a:hlinkClick r:id="rId2"/>
              </a:rPr>
              <a:t>https://rdrr.io/github/manubio13/ku.enm/man/kuenm_proc.html</a:t>
            </a:r>
            <a:r>
              <a:rPr lang="en-US" sz="24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AEE3D-79AC-CD2B-B1C6-0A4612886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81667"/>
            <a:ext cx="8286750" cy="5105400"/>
          </a:xfrm>
        </p:spPr>
        <p:txBody>
          <a:bodyPr>
            <a:normAutofit/>
          </a:bodyPr>
          <a:lstStyle/>
          <a:p>
            <a:r>
              <a:rPr lang="en-US" sz="2400" dirty="0"/>
              <a:t>library(</a:t>
            </a:r>
            <a:r>
              <a:rPr lang="en-US" sz="2400" dirty="0" err="1"/>
              <a:t>kuenm</a:t>
            </a:r>
            <a:r>
              <a:rPr lang="en-US" sz="2400" dirty="0"/>
              <a:t>)</a:t>
            </a:r>
          </a:p>
          <a:p>
            <a:r>
              <a:rPr lang="en-US" sz="2400" dirty="0"/>
              <a:t>data("</a:t>
            </a:r>
            <a:r>
              <a:rPr lang="en-US" sz="2400" dirty="0" err="1"/>
              <a:t>sp_test</a:t>
            </a:r>
            <a:r>
              <a:rPr lang="en-US" sz="2400" dirty="0"/>
              <a:t>", package = "</a:t>
            </a:r>
            <a:r>
              <a:rPr lang="en-US" sz="2400" dirty="0" err="1"/>
              <a:t>kuenm</a:t>
            </a:r>
            <a:r>
              <a:rPr lang="en-US" sz="2400" dirty="0"/>
              <a:t>")</a:t>
            </a:r>
          </a:p>
          <a:p>
            <a:r>
              <a:rPr lang="en-US" sz="2400" dirty="0"/>
              <a:t>model &lt;- raster::raster(</a:t>
            </a:r>
            <a:r>
              <a:rPr lang="en-US" sz="2400" dirty="0" err="1"/>
              <a:t>system.file</a:t>
            </a:r>
            <a:r>
              <a:rPr lang="en-US" sz="2400" dirty="0"/>
              <a:t>("</a:t>
            </a:r>
            <a:r>
              <a:rPr lang="en-US" sz="2400" dirty="0" err="1"/>
              <a:t>extdata</a:t>
            </a:r>
            <a:r>
              <a:rPr lang="en-US" sz="2400" dirty="0"/>
              <a:t>/</a:t>
            </a:r>
            <a:r>
              <a:rPr lang="en-US" sz="2400" dirty="0" err="1"/>
              <a:t>sp_model.tif</a:t>
            </a:r>
            <a:r>
              <a:rPr lang="en-US" sz="2400" dirty="0"/>
              <a:t>",</a:t>
            </a:r>
          </a:p>
          <a:p>
            <a:r>
              <a:rPr lang="en-US" sz="2400" dirty="0"/>
              <a:t>                                       package = "</a:t>
            </a:r>
            <a:r>
              <a:rPr lang="en-US" sz="2400" dirty="0" err="1"/>
              <a:t>kuenm</a:t>
            </a:r>
            <a:r>
              <a:rPr lang="en-US" sz="2400" dirty="0"/>
              <a:t>"))</a:t>
            </a:r>
          </a:p>
          <a:p>
            <a:r>
              <a:rPr lang="en-US" sz="2400" dirty="0" err="1"/>
              <a:t>thres</a:t>
            </a:r>
            <a:r>
              <a:rPr lang="en-US" sz="2400" dirty="0"/>
              <a:t> &lt;- 5</a:t>
            </a:r>
          </a:p>
          <a:p>
            <a:r>
              <a:rPr lang="en-US" sz="2400" dirty="0" err="1"/>
              <a:t>rand_perc</a:t>
            </a:r>
            <a:r>
              <a:rPr lang="en-US" sz="2400" dirty="0"/>
              <a:t> &lt;- 50</a:t>
            </a:r>
          </a:p>
          <a:p>
            <a:r>
              <a:rPr lang="en-US" sz="2400" dirty="0" err="1"/>
              <a:t>iterac</a:t>
            </a:r>
            <a:r>
              <a:rPr lang="en-US" sz="2400" dirty="0"/>
              <a:t> &lt;- 500</a:t>
            </a:r>
          </a:p>
          <a:p>
            <a:endParaRPr lang="en-US" sz="2400" dirty="0"/>
          </a:p>
          <a:p>
            <a:r>
              <a:rPr lang="en-US" sz="2400" dirty="0" err="1"/>
              <a:t>p_roc</a:t>
            </a:r>
            <a:r>
              <a:rPr lang="en-US" sz="2400" dirty="0"/>
              <a:t> &lt;- </a:t>
            </a:r>
            <a:r>
              <a:rPr lang="en-US" sz="2400" dirty="0" err="1"/>
              <a:t>kuenm_proc</a:t>
            </a:r>
            <a:r>
              <a:rPr lang="en-US" sz="2400" dirty="0"/>
              <a:t>(</a:t>
            </a:r>
            <a:r>
              <a:rPr lang="en-US" sz="2400" dirty="0" err="1"/>
              <a:t>occ.test</a:t>
            </a:r>
            <a:r>
              <a:rPr lang="en-US" sz="2400" dirty="0"/>
              <a:t> = </a:t>
            </a:r>
            <a:r>
              <a:rPr lang="en-US" sz="2400" dirty="0" err="1"/>
              <a:t>sp_test</a:t>
            </a:r>
            <a:r>
              <a:rPr lang="en-US" sz="2400" dirty="0"/>
              <a:t>, model = model, threshold = </a:t>
            </a:r>
            <a:r>
              <a:rPr lang="en-US" sz="2400" dirty="0" err="1"/>
              <a:t>thres</a:t>
            </a:r>
            <a:r>
              <a:rPr lang="en-US" sz="2400" dirty="0"/>
              <a:t>, </a:t>
            </a:r>
            <a:r>
              <a:rPr lang="en-US" sz="2400" dirty="0" err="1"/>
              <a:t>rand.percent</a:t>
            </a:r>
            <a:r>
              <a:rPr lang="en-US" sz="2400" dirty="0"/>
              <a:t> = </a:t>
            </a:r>
            <a:r>
              <a:rPr lang="en-US" sz="2400" dirty="0" err="1"/>
              <a:t>rand_perc</a:t>
            </a:r>
            <a:r>
              <a:rPr lang="en-US" sz="2400" dirty="0"/>
              <a:t>, iterations = </a:t>
            </a:r>
            <a:r>
              <a:rPr lang="en-US" sz="2400" dirty="0" err="1"/>
              <a:t>iterac</a:t>
            </a:r>
            <a:r>
              <a:rPr lang="en-US" sz="24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3085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3B3D-71A5-1973-6E3B-E14F7814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7" y="169334"/>
            <a:ext cx="8610600" cy="1032934"/>
          </a:xfrm>
        </p:spPr>
        <p:txBody>
          <a:bodyPr>
            <a:noAutofit/>
          </a:bodyPr>
          <a:lstStyle/>
          <a:p>
            <a:r>
              <a:rPr lang="en-US" sz="1800" i="1" dirty="0" err="1"/>
              <a:t>ntbox</a:t>
            </a:r>
            <a:r>
              <a:rPr lang="en-US" sz="1800" dirty="0"/>
              <a:t> package to calculate Partial ROC-AUC ratio</a:t>
            </a:r>
            <a:br>
              <a:rPr lang="en-US" sz="1800" dirty="0"/>
            </a:br>
            <a:r>
              <a:rPr lang="en-US" sz="1800" dirty="0">
                <a:hlinkClick r:id="rId2"/>
              </a:rPr>
              <a:t>https://github.com/luismurao/ntbox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>
                <a:hlinkClick r:id="rId3"/>
              </a:rPr>
              <a:t>https://luismurao.github.io/ntbox/reference/pROC.html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>
                <a:hlinkClick r:id="rId4"/>
              </a:rPr>
              <a:t>https://github.com/luismurao/ntbox/blob/master/R/pROC.R</a:t>
            </a:r>
            <a:r>
              <a:rPr lang="en-US" sz="18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324A0-EA2E-121B-27C0-F6A25EDB9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286933"/>
            <a:ext cx="8439150" cy="5401734"/>
          </a:xfrm>
        </p:spPr>
        <p:txBody>
          <a:bodyPr>
            <a:noAutofit/>
          </a:bodyPr>
          <a:lstStyle/>
          <a:p>
            <a:r>
              <a:rPr lang="en-US" sz="1200" dirty="0"/>
              <a:t># Load a continuous model</a:t>
            </a:r>
          </a:p>
          <a:p>
            <a:r>
              <a:rPr lang="en-US" sz="1200" dirty="0"/>
              <a:t>library(</a:t>
            </a:r>
            <a:r>
              <a:rPr lang="en-US" sz="1200" dirty="0" err="1"/>
              <a:t>ntbox</a:t>
            </a:r>
            <a:r>
              <a:rPr lang="en-US" sz="1200" dirty="0"/>
              <a:t>)</a:t>
            </a:r>
          </a:p>
          <a:p>
            <a:r>
              <a:rPr lang="en-US" sz="1200" dirty="0"/>
              <a:t>Here I use the same dataset as former </a:t>
            </a:r>
            <a:r>
              <a:rPr lang="en-US" sz="1200" dirty="0" err="1"/>
              <a:t>kuenm</a:t>
            </a:r>
            <a:r>
              <a:rPr lang="en-US" sz="1200" dirty="0"/>
              <a:t>, since I can not install this package</a:t>
            </a:r>
          </a:p>
          <a:p>
            <a:pPr marL="0" indent="0">
              <a:buNone/>
            </a:pPr>
            <a:r>
              <a:rPr lang="en-US" sz="1200" dirty="0"/>
              <a:t>##Original</a:t>
            </a:r>
          </a:p>
          <a:p>
            <a:r>
              <a:rPr lang="en-US" sz="1200" dirty="0" err="1"/>
              <a:t>partial_roc</a:t>
            </a:r>
            <a:r>
              <a:rPr lang="en-US" sz="1200" dirty="0"/>
              <a:t> &lt;- </a:t>
            </a:r>
            <a:r>
              <a:rPr lang="en-US" sz="1200" dirty="0" err="1"/>
              <a:t>pROC</a:t>
            </a:r>
            <a:r>
              <a:rPr lang="en-US" sz="1200" dirty="0"/>
              <a:t>(</a:t>
            </a:r>
            <a:r>
              <a:rPr lang="en-US" sz="1200" dirty="0" err="1"/>
              <a:t>continuous_mod</a:t>
            </a:r>
            <a:r>
              <a:rPr lang="en-US" sz="1200" dirty="0"/>
              <a:t>=</a:t>
            </a:r>
            <a:r>
              <a:rPr lang="en-US" sz="1200" dirty="0" err="1"/>
              <a:t>conti_model</a:t>
            </a:r>
            <a:r>
              <a:rPr lang="en-US" sz="1200" dirty="0"/>
              <a:t>,</a:t>
            </a:r>
          </a:p>
          <a:p>
            <a:r>
              <a:rPr lang="en-US" sz="1200" dirty="0"/>
              <a:t>                    </a:t>
            </a:r>
            <a:r>
              <a:rPr lang="en-US" sz="1200" dirty="0" err="1"/>
              <a:t>test_data</a:t>
            </a:r>
            <a:r>
              <a:rPr lang="en-US" sz="1200" dirty="0"/>
              <a:t> = </a:t>
            </a:r>
            <a:r>
              <a:rPr lang="en-US" sz="1200" dirty="0" err="1"/>
              <a:t>test_data</a:t>
            </a:r>
            <a:r>
              <a:rPr lang="en-US" sz="1200" dirty="0"/>
              <a:t>,</a:t>
            </a:r>
          </a:p>
          <a:p>
            <a:r>
              <a:rPr lang="en-US" sz="1200" dirty="0"/>
              <a:t>                    </a:t>
            </a:r>
            <a:r>
              <a:rPr lang="en-US" sz="1200" dirty="0" err="1"/>
              <a:t>n_iter</a:t>
            </a:r>
            <a:r>
              <a:rPr lang="en-US" sz="1200" dirty="0"/>
              <a:t>=1000,E_percent=5,</a:t>
            </a:r>
          </a:p>
          <a:p>
            <a:r>
              <a:rPr lang="en-US" sz="1200" dirty="0"/>
              <a:t>                    </a:t>
            </a:r>
            <a:r>
              <a:rPr lang="en-US" sz="1200" dirty="0" err="1"/>
              <a:t>boost_percent</a:t>
            </a:r>
            <a:r>
              <a:rPr lang="en-US" sz="1200" dirty="0"/>
              <a:t>=50,</a:t>
            </a:r>
          </a:p>
          <a:p>
            <a:r>
              <a:rPr lang="en-US" sz="1200" dirty="0"/>
              <a:t>                    parallel=FALSE)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###</a:t>
            </a:r>
          </a:p>
          <a:p>
            <a:r>
              <a:rPr lang="en-US" sz="1200" dirty="0" err="1"/>
              <a:t>partial_roc</a:t>
            </a:r>
            <a:r>
              <a:rPr lang="en-US" sz="1200" dirty="0"/>
              <a:t> &lt;- </a:t>
            </a:r>
            <a:r>
              <a:rPr lang="en-US" sz="1200" dirty="0" err="1"/>
              <a:t>pROC</a:t>
            </a:r>
            <a:r>
              <a:rPr lang="en-US" sz="1200" dirty="0"/>
              <a:t>(</a:t>
            </a:r>
            <a:r>
              <a:rPr lang="en-US" sz="1200" dirty="0" err="1"/>
              <a:t>continuous_mod</a:t>
            </a:r>
            <a:r>
              <a:rPr lang="en-US" sz="1200" dirty="0"/>
              <a:t>=model, ##from </a:t>
            </a:r>
            <a:r>
              <a:rPr lang="en-US" sz="1200" dirty="0" err="1"/>
              <a:t>kuenm</a:t>
            </a:r>
            <a:endParaRPr lang="en-US" sz="1200" dirty="0"/>
          </a:p>
          <a:p>
            <a:r>
              <a:rPr lang="en-US" sz="1200" dirty="0"/>
              <a:t>                    </a:t>
            </a:r>
            <a:r>
              <a:rPr lang="en-US" sz="1200" dirty="0" err="1"/>
              <a:t>test_data</a:t>
            </a:r>
            <a:r>
              <a:rPr lang="en-US" sz="1200" dirty="0"/>
              <a:t> = </a:t>
            </a:r>
            <a:r>
              <a:rPr lang="en-US" sz="1200" dirty="0" err="1"/>
              <a:t>sp_data</a:t>
            </a:r>
            <a:r>
              <a:rPr lang="en-US" sz="1200" dirty="0"/>
              <a:t>, ##from </a:t>
            </a:r>
            <a:r>
              <a:rPr lang="en-US" sz="1200" dirty="0" err="1"/>
              <a:t>kuenm</a:t>
            </a:r>
            <a:endParaRPr lang="en-US" sz="1200" dirty="0"/>
          </a:p>
          <a:p>
            <a:r>
              <a:rPr lang="en-US" sz="1200" dirty="0"/>
              <a:t>                    </a:t>
            </a:r>
            <a:r>
              <a:rPr lang="en-US" sz="1200" dirty="0" err="1"/>
              <a:t>n_iter</a:t>
            </a:r>
            <a:r>
              <a:rPr lang="en-US" sz="1200" dirty="0"/>
              <a:t>=1000,E_percent=5,</a:t>
            </a:r>
          </a:p>
          <a:p>
            <a:r>
              <a:rPr lang="en-US" sz="1200" dirty="0"/>
              <a:t>                    </a:t>
            </a:r>
            <a:r>
              <a:rPr lang="en-US" sz="1200" dirty="0" err="1"/>
              <a:t>boost_percent</a:t>
            </a:r>
            <a:r>
              <a:rPr lang="en-US" sz="1200" dirty="0"/>
              <a:t>=50,</a:t>
            </a:r>
          </a:p>
          <a:p>
            <a:r>
              <a:rPr lang="en-US" sz="1200" dirty="0"/>
              <a:t>                    parallel=FALSE)</a:t>
            </a: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744790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A7A4-B5B3-2B76-49D3-80D099F7A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>
            <a:normAutofit/>
          </a:bodyPr>
          <a:lstStyle/>
          <a:p>
            <a:r>
              <a:rPr lang="en-US" altLang="zh-CN" sz="2400" b="1" i="1" dirty="0" err="1"/>
              <a:t>ecospat</a:t>
            </a:r>
            <a:r>
              <a:rPr lang="en-US" altLang="zh-CN" sz="2400" b="1" dirty="0"/>
              <a:t> package to calculate Boyce index</a:t>
            </a:r>
            <a:br>
              <a:rPr lang="en-US" altLang="zh-CN" sz="2400" b="1" dirty="0"/>
            </a:br>
            <a:r>
              <a:rPr lang="en-US" altLang="zh-CN" sz="1800" b="1" dirty="0">
                <a:hlinkClick r:id="rId2"/>
              </a:rPr>
              <a:t>https://search.r-project.org/CRAN/refmans/ecospat/html/ecospat.boyce.html</a:t>
            </a:r>
            <a:r>
              <a:rPr lang="en-US" altLang="zh-CN" sz="1800" b="1" dirty="0"/>
              <a:t> 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AD790-9B33-3BFF-8DD0-97C11342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1825625"/>
            <a:ext cx="835448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library(</a:t>
            </a:r>
            <a:r>
              <a:rPr lang="en-US" dirty="0" err="1"/>
              <a:t>ecospat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obs</a:t>
            </a:r>
            <a:r>
              <a:rPr lang="en-US" dirty="0"/>
              <a:t> &lt;- (</a:t>
            </a:r>
            <a:r>
              <a:rPr lang="en-US" dirty="0" err="1"/>
              <a:t>ecospat.testData$glm_Saxifraga_oppositifolia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[which(</a:t>
            </a:r>
            <a:r>
              <a:rPr lang="en-US" dirty="0" err="1"/>
              <a:t>ecospat.testData$Saxifraga_oppositifolia</a:t>
            </a:r>
            <a:r>
              <a:rPr lang="en-US" dirty="0"/>
              <a:t>==1)])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qq</a:t>
            </a:r>
            <a:r>
              <a:rPr lang="en-US" dirty="0"/>
              <a:t>&lt;-</a:t>
            </a:r>
            <a:r>
              <a:rPr lang="en-US" dirty="0" err="1"/>
              <a:t>ecospat.boyce</a:t>
            </a:r>
            <a:r>
              <a:rPr lang="en-US" dirty="0"/>
              <a:t> (fit = </a:t>
            </a:r>
            <a:r>
              <a:rPr lang="en-US" dirty="0" err="1"/>
              <a:t>ecospat.testData$glm_Saxifraga_oppositifolia</a:t>
            </a:r>
            <a:r>
              <a:rPr lang="en-US" dirty="0"/>
              <a:t> , </a:t>
            </a:r>
            <a:r>
              <a:rPr lang="en-US" dirty="0" err="1"/>
              <a:t>obs</a:t>
            </a:r>
            <a:r>
              <a:rPr lang="en-US" dirty="0"/>
              <a:t>, </a:t>
            </a:r>
            <a:r>
              <a:rPr lang="en-US" dirty="0" err="1"/>
              <a:t>nclass</a:t>
            </a:r>
            <a:r>
              <a:rPr lang="en-US" dirty="0"/>
              <a:t>=0, </a:t>
            </a:r>
            <a:r>
              <a:rPr lang="en-US" dirty="0" err="1"/>
              <a:t>window.w</a:t>
            </a:r>
            <a:r>
              <a:rPr lang="en-US" dirty="0"/>
              <a:t>="default", res=100, </a:t>
            </a:r>
            <a:r>
              <a:rPr lang="en-US" dirty="0" err="1"/>
              <a:t>PEplot</a:t>
            </a:r>
            <a:r>
              <a:rPr lang="en-US" dirty="0"/>
              <a:t> = TRUE)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qq$cor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4190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359A3-E294-7A61-5CBC-2BA56FCF1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" y="365127"/>
            <a:ext cx="8974667" cy="854074"/>
          </a:xfrm>
        </p:spPr>
        <p:txBody>
          <a:bodyPr>
            <a:normAutofit fontScale="90000"/>
          </a:bodyPr>
          <a:lstStyle/>
          <a:p>
            <a:r>
              <a:rPr lang="en-US" sz="2400" dirty="0" err="1"/>
              <a:t>modEvA</a:t>
            </a:r>
            <a:r>
              <a:rPr lang="en-US" sz="2400" dirty="0"/>
              <a:t> to calculate Boyce index</a:t>
            </a:r>
            <a:br>
              <a:rPr lang="en-US" sz="2400" dirty="0"/>
            </a:br>
            <a:r>
              <a:rPr lang="en-US" sz="2400" dirty="0">
                <a:hlinkClick r:id="rId2"/>
              </a:rPr>
              <a:t>https://search.r-project.org/CRAN/refmans/modEvA/html/Boyce.html</a:t>
            </a:r>
            <a:br>
              <a:rPr lang="en-US" sz="2400" dirty="0"/>
            </a:br>
            <a:r>
              <a:rPr lang="en-US" sz="2400" dirty="0">
                <a:hlinkClick r:id="rId3"/>
              </a:rPr>
              <a:t>https://www.r-bloggers.com/2022/05/model-evaluation-with-presence-points-and-raster-predictions/</a:t>
            </a:r>
            <a:r>
              <a:rPr lang="en-US" sz="2400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99FD8-C76A-3752-ED66-45E32D514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557867"/>
            <a:ext cx="8142817" cy="461909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# load sample models:</a:t>
            </a:r>
          </a:p>
          <a:p>
            <a:pPr marL="0" indent="0">
              <a:buNone/>
            </a:pPr>
            <a:r>
              <a:rPr lang="en-US" dirty="0"/>
              <a:t>library(</a:t>
            </a:r>
            <a:r>
              <a:rPr lang="en-US" dirty="0" err="1"/>
              <a:t>modEvA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data(</a:t>
            </a:r>
            <a:r>
              <a:rPr lang="en-US" dirty="0" err="1"/>
              <a:t>rotif.mods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choose a particular model to play with:</a:t>
            </a:r>
          </a:p>
          <a:p>
            <a:pPr marL="0" indent="0">
              <a:buNone/>
            </a:pPr>
            <a:r>
              <a:rPr lang="en-US" dirty="0"/>
              <a:t>mod &lt;- </a:t>
            </a:r>
            <a:r>
              <a:rPr lang="en-US" dirty="0" err="1"/>
              <a:t>rotif.mods$models</a:t>
            </a:r>
            <a:r>
              <a:rPr lang="en-US" dirty="0"/>
              <a:t>[[1]]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compute the Boyce index:</a:t>
            </a:r>
          </a:p>
          <a:p>
            <a:pPr marL="0" indent="0">
              <a:buNone/>
            </a:pPr>
            <a:r>
              <a:rPr lang="en-US" dirty="0"/>
              <a:t>Boyce(model = mod, main = "My model Boyce plot")</a:t>
            </a:r>
          </a:p>
          <a:p>
            <a:pPr marL="0" indent="0">
              <a:buNone/>
            </a:pPr>
            <a:r>
              <a:rPr lang="en-US" dirty="0"/>
              <a:t>Boyce(model = mod, main = "My model Boyce plot", </a:t>
            </a:r>
            <a:r>
              <a:rPr lang="en-US" dirty="0" err="1"/>
              <a:t>rm.dup.classes</a:t>
            </a:r>
            <a:r>
              <a:rPr lang="en-US" dirty="0"/>
              <a:t> = TRUE)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you can also use vectors of observed and predicted values</a:t>
            </a:r>
          </a:p>
          <a:p>
            <a:pPr marL="0" indent="0">
              <a:buNone/>
            </a:pPr>
            <a:r>
              <a:rPr lang="en-US" dirty="0"/>
              <a:t># instead of a model object: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presabs</a:t>
            </a:r>
            <a:r>
              <a:rPr lang="en-US" dirty="0"/>
              <a:t> &lt;- </a:t>
            </a:r>
            <a:r>
              <a:rPr lang="en-US" dirty="0" err="1"/>
              <a:t>mod$y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prediction &lt;- </a:t>
            </a:r>
            <a:r>
              <a:rPr lang="en-US" dirty="0" err="1"/>
              <a:t>mod$fitted.values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Boyce(</a:t>
            </a:r>
            <a:r>
              <a:rPr lang="en-US" dirty="0" err="1"/>
              <a:t>obs</a:t>
            </a:r>
            <a:r>
              <a:rPr lang="en-US" dirty="0"/>
              <a:t> = </a:t>
            </a:r>
            <a:r>
              <a:rPr lang="en-US" dirty="0" err="1"/>
              <a:t>presabs</a:t>
            </a:r>
            <a:r>
              <a:rPr lang="en-US" dirty="0"/>
              <a:t>, pred = prediction)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'</a:t>
            </a:r>
            <a:r>
              <a:rPr lang="en-US" dirty="0" err="1"/>
              <a:t>obs'</a:t>
            </a:r>
            <a:r>
              <a:rPr lang="en-US" dirty="0"/>
              <a:t> can also be a table of presence point coordinates</a:t>
            </a:r>
          </a:p>
          <a:p>
            <a:pPr marL="0" indent="0">
              <a:buNone/>
            </a:pPr>
            <a:r>
              <a:rPr lang="en-US" dirty="0"/>
              <a:t># and 'pred' a </a:t>
            </a:r>
            <a:r>
              <a:rPr lang="en-US" dirty="0" err="1"/>
              <a:t>SpatRaster</a:t>
            </a:r>
            <a:r>
              <a:rPr lang="en-US" dirty="0"/>
              <a:t> of predicted values</a:t>
            </a:r>
          </a:p>
        </p:txBody>
      </p:sp>
    </p:spTree>
    <p:extLst>
      <p:ext uri="{BB962C8B-B14F-4D97-AF65-F5344CB8AC3E}">
        <p14:creationId xmlns:p14="http://schemas.microsoft.com/office/powerpoint/2010/main" val="3394328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2668</TotalTime>
  <Words>1424</Words>
  <Application>Microsoft Office PowerPoint</Application>
  <PresentationFormat>On-screen Show (4:3)</PresentationFormat>
  <Paragraphs>206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Adobe Gothic Std B</vt:lpstr>
      <vt:lpstr>等线</vt:lpstr>
      <vt:lpstr>Amasis MT Pro Medium</vt:lpstr>
      <vt:lpstr>Arial</vt:lpstr>
      <vt:lpstr>Calibri</vt:lpstr>
      <vt:lpstr>Calibri Light</vt:lpstr>
      <vt:lpstr>Times</vt:lpstr>
      <vt:lpstr>Wingdings</vt:lpstr>
      <vt:lpstr>Office Theme</vt:lpstr>
      <vt:lpstr>PowerPoint Presentation</vt:lpstr>
      <vt:lpstr>PowerPoint Presentation</vt:lpstr>
      <vt:lpstr>Input data for model evaluation</vt:lpstr>
      <vt:lpstr>PowerPoint Presentation</vt:lpstr>
      <vt:lpstr>PowerPoint Presentation</vt:lpstr>
      <vt:lpstr>Rare, endemic species</vt:lpstr>
      <vt:lpstr>Model evaluation overview</vt:lpstr>
      <vt:lpstr>Confusion Matrix for Binary Data</vt:lpstr>
      <vt:lpstr>PowerPoint Presentation</vt:lpstr>
      <vt:lpstr>PowerPoint Presentation</vt:lpstr>
      <vt:lpstr>Kappa</vt:lpstr>
      <vt:lpstr>Threshold</vt:lpstr>
      <vt:lpstr>PowerPoint Presentation</vt:lpstr>
      <vt:lpstr>PowerPoint Presentation</vt:lpstr>
      <vt:lpstr>Minimum training presence (MTP)</vt:lpstr>
      <vt:lpstr>10th percentile training presence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Discussion  Are there problems with AUC ?</vt:lpstr>
      <vt:lpstr>PowerPoint Presentation</vt:lpstr>
      <vt:lpstr>PowerPoint Presentation</vt:lpstr>
      <vt:lpstr>Partial ROC/AUC ratio</vt:lpstr>
      <vt:lpstr>PowerPoint Presentation</vt:lpstr>
      <vt:lpstr>PowerPoint Presentation</vt:lpstr>
      <vt:lpstr>Boyce index</vt:lpstr>
      <vt:lpstr>PowerPoint Presentation</vt:lpstr>
      <vt:lpstr>PowerPoint Presentation</vt:lpstr>
      <vt:lpstr>kuenm package to calculate Partial ROC-AUC ratio https://rdrr.io/github/manubio13/ku.enm/man/kuenm_proc.html </vt:lpstr>
      <vt:lpstr>ntbox package to calculate Partial ROC-AUC ratio https://github.com/luismurao/ntbox  https://luismurao.github.io/ntbox/reference/pROC.html  https://github.com/luismurao/ntbox/blob/master/R/pROC.R </vt:lpstr>
      <vt:lpstr>ecospat package to calculate Boyce index https://search.r-project.org/CRAN/refmans/ecospat/html/ecospat.boyce.html </vt:lpstr>
      <vt:lpstr>modEvA to calculate Boyce index https://search.r-project.org/CRAN/refmans/modEvA/html/Boyce.html https://www.r-bloggers.com/2022/05/model-evaluation-with-presence-points-and-raster-predictions/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ONE</dc:title>
  <dc:creator>ZHU Gengping</dc:creator>
  <cp:lastModifiedBy>Zhu, Gengping</cp:lastModifiedBy>
  <cp:revision>104</cp:revision>
  <dcterms:created xsi:type="dcterms:W3CDTF">2023-01-08T05:02:36Z</dcterms:created>
  <dcterms:modified xsi:type="dcterms:W3CDTF">2026-09-17T22:49:26Z</dcterms:modified>
</cp:coreProperties>
</file>