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423" r:id="rId3"/>
    <p:sldId id="417" r:id="rId4"/>
    <p:sldId id="418" r:id="rId5"/>
    <p:sldId id="421" r:id="rId6"/>
    <p:sldId id="422" r:id="rId7"/>
    <p:sldId id="341" r:id="rId8"/>
    <p:sldId id="342" r:id="rId9"/>
    <p:sldId id="419" r:id="rId10"/>
    <p:sldId id="343" r:id="rId11"/>
    <p:sldId id="344" r:id="rId12"/>
    <p:sldId id="420" r:id="rId13"/>
    <p:sldId id="345" r:id="rId14"/>
    <p:sldId id="346" r:id="rId15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43"/>
    <p:restoredTop sz="94673"/>
  </p:normalViewPr>
  <p:slideViewPr>
    <p:cSldViewPr snapToGrid="0">
      <p:cViewPr varScale="1">
        <p:scale>
          <a:sx n="119" d="100"/>
          <a:sy n="119" d="100"/>
        </p:scale>
        <p:origin x="224" y="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B5D10F-85C9-0142-9E08-F0EF044D2332}" type="datetimeFigureOut">
              <a:rPr lang="en-CN" smtClean="0"/>
              <a:t>2026/9/11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164981-1424-8E41-9F7F-BB27DE096AEA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900983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164981-1424-8E41-9F7F-BB27DE096AEA}" type="slidenum">
              <a:rPr lang="en-CN" smtClean="0"/>
              <a:t>12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0363169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#aeqd_proj2&lt;-"+</a:t>
            </a:r>
            <a:r>
              <a:rPr lang="en-US" dirty="0" err="1"/>
              <a:t>proj</a:t>
            </a:r>
            <a:r>
              <a:rPr lang="en-US" dirty="0"/>
              <a:t>=</a:t>
            </a:r>
            <a:r>
              <a:rPr lang="en-US" dirty="0" err="1"/>
              <a:t>aeqd</a:t>
            </a:r>
            <a:r>
              <a:rPr lang="en-US" dirty="0"/>
              <a:t> +datum=WGS84 +lat_0=90 +</a:t>
            </a:r>
            <a:r>
              <a:rPr lang="en-US" dirty="0" err="1"/>
              <a:t>no_defs</a:t>
            </a:r>
            <a:r>
              <a:rPr lang="en-US" dirty="0"/>
              <a:t>"</a:t>
            </a:r>
          </a:p>
          <a:p>
            <a:r>
              <a:rPr lang="en-US" dirty="0"/>
              <a:t>#bio1_aeqd&lt;-</a:t>
            </a:r>
            <a:r>
              <a:rPr lang="en-US" dirty="0" err="1"/>
              <a:t>projectRaster</a:t>
            </a:r>
            <a:r>
              <a:rPr lang="en-US" dirty="0"/>
              <a:t>(bio1, </a:t>
            </a:r>
            <a:r>
              <a:rPr lang="en-US" dirty="0" err="1"/>
              <a:t>crs</a:t>
            </a:r>
            <a:r>
              <a:rPr lang="en-US" dirty="0"/>
              <a:t>=aeqd_proj2, res=c(10000, 10000))</a:t>
            </a:r>
          </a:p>
          <a:p>
            <a:r>
              <a:rPr lang="en-US" dirty="0"/>
              <a:t>#plot(bio1_aeqd)</a:t>
            </a: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89F430-403D-0C45-A03C-03E283DEA6DD}" type="slidenum">
              <a:rPr kumimoji="0" lang="en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31988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B30A5-35FB-53CF-DBBA-38E407FF54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8EBECD-BA99-2DD4-862F-83B61F772C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840B8B-F627-25EF-DB6E-E26311B02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3829B-9109-DE47-8A5E-18DEFDD73F63}" type="datetimeFigureOut">
              <a:rPr lang="en-CN" smtClean="0"/>
              <a:t>2026/9/11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2F914-94A2-547A-4800-014AF635B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E9C653-DB28-1235-48DD-B46470E13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6CF93-BE44-A140-B417-A5CBE02DF3C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9806064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0319D-A883-CCF5-DB4B-414034E2F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DA7F5B-EF81-A572-D7DE-528B0FDCA0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8C480C-B124-B015-64D8-B8BEE9908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3829B-9109-DE47-8A5E-18DEFDD73F63}" type="datetimeFigureOut">
              <a:rPr lang="en-CN" smtClean="0"/>
              <a:t>2026/9/11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F47ABD-EE48-2D9C-AA75-B2C219F5C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A84316-694A-6EEB-D17D-B090A82AC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6CF93-BE44-A140-B417-A5CBE02DF3C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56720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6ADF6-179E-F873-F2D4-E2E078AAFD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C78724-34CE-9CCD-76B7-43D528F4E6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FABC6A-1DC8-5BD8-6530-3CBF9689F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3829B-9109-DE47-8A5E-18DEFDD73F63}" type="datetimeFigureOut">
              <a:rPr lang="en-CN" smtClean="0"/>
              <a:t>2026/9/11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66B02C-9233-2168-EF4A-4167CFF5C2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721C17-55E4-F58B-EABD-45F494DFF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6CF93-BE44-A140-B417-A5CBE02DF3C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0768960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F7950-044E-21FD-66E8-6B0687F29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9308AF-FF2F-0480-6938-27D02ABBA9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869AF2-4DD9-78F0-1641-02E1EC85AB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A2BC45-8261-63B9-6437-E7490D88E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3829B-9109-DE47-8A5E-18DEFDD73F63}" type="datetimeFigureOut">
              <a:rPr lang="en-CN" smtClean="0"/>
              <a:t>2026/9/11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CB7D35-5636-E49F-4E23-CE0DA1A41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37A5C7-DA12-9212-3D02-7B4F8A910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6CF93-BE44-A140-B417-A5CBE02DF3C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03748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A98C7-1B93-AD9A-DBA2-2D874794B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F10116-42B8-3BF3-11ED-7828945501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636C08-77EF-AF11-9395-ACB390412A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5C94F0-084B-F2E4-5E39-BE2DEA2519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6104CE-49A7-4F38-7EA2-C2554C9CF0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A73913-B3E1-AC99-95ED-18BC144A0B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3829B-9109-DE47-8A5E-18DEFDD73F63}" type="datetimeFigureOut">
              <a:rPr lang="en-CN" smtClean="0"/>
              <a:t>2026/9/11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D8AD8C-BBE0-80D9-670D-18B299F12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7BB8D5-89E2-9962-7D0E-4D6AAD641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6CF93-BE44-A140-B417-A5CBE02DF3C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38884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142F3-2228-4738-3167-ED65DB074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5926A9-26E0-F2EF-9BD4-A42D7D2B5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3829B-9109-DE47-8A5E-18DEFDD73F63}" type="datetimeFigureOut">
              <a:rPr lang="en-CN" smtClean="0"/>
              <a:t>2026/9/11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BC2BEA-293C-18D4-CA02-54D177FFD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1C6D9A-4B73-2694-CD59-55E0839F3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6CF93-BE44-A140-B417-A5CBE02DF3C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100073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637997-62E9-A005-8E24-C92CAE973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3829B-9109-DE47-8A5E-18DEFDD73F63}" type="datetimeFigureOut">
              <a:rPr lang="en-CN" smtClean="0"/>
              <a:t>2026/9/11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DC6099-4F66-7B8C-6B60-57E1FA6A6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8C95A0-CD8A-DE77-6A40-61470AB98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6CF93-BE44-A140-B417-A5CBE02DF3C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9523047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E2029-C54D-E64E-CBF2-0F7169DF6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ADB2BC-968A-D176-53D2-F1EE5DE049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1885B4-9D29-9E81-AD54-F070CFCEAB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E18DDE-D892-4BC6-9AF5-B51BF8B92D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3829B-9109-DE47-8A5E-18DEFDD73F63}" type="datetimeFigureOut">
              <a:rPr lang="en-CN" smtClean="0"/>
              <a:t>2026/9/11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FD27F3-31C9-CDB9-40B9-F475484A1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5A5656-EE1B-F074-EA25-AEA3264EB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6CF93-BE44-A140-B417-A5CBE02DF3C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928507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43FBE-8B98-457A-2D05-C1644A4307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4F4F35-3DA7-32EE-6D26-84EDAA8FEF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8116DD-FFFA-3754-8B6E-A1761E9353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214E7D-B693-A996-91D7-6450B55D3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3829B-9109-DE47-8A5E-18DEFDD73F63}" type="datetimeFigureOut">
              <a:rPr lang="en-CN" smtClean="0"/>
              <a:t>2026/9/11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B8D74D-0937-5171-B61F-927D4E312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69A7EF-C280-5BA7-0F37-2BB21122F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6CF93-BE44-A140-B417-A5CBE02DF3C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8898609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07D0F-5487-7F71-C954-C0066B66F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822CB9-B0D2-6221-B570-C6F1CBAB8C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D9831E-B89B-4D80-AB7A-A3B0751FC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3829B-9109-DE47-8A5E-18DEFDD73F63}" type="datetimeFigureOut">
              <a:rPr lang="en-CN" smtClean="0"/>
              <a:t>2026/9/11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E45D65-ECE9-4665-DF95-3994A328B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F11809-D145-59D5-68CD-ABC3D9600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6CF93-BE44-A140-B417-A5CBE02DF3C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38692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CAA75A-82E7-A57B-D1DA-AB33BDEAD5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5922EC-FFEA-66BD-6DD9-00037D101E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110442-A367-FC4A-B2F4-D10C2B5FB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3829B-9109-DE47-8A5E-18DEFDD73F63}" type="datetimeFigureOut">
              <a:rPr lang="en-CN" smtClean="0"/>
              <a:t>2026/9/11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534552-0E2D-990F-F37C-FA457B0E2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1CC3B9-871B-FC41-E305-3E021DB93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6CF93-BE44-A140-B417-A5CBE02DF3C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0754489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8ACFAD-1881-B24F-4010-7CEB7D0FB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FBA106-15F4-20DE-6E9C-AFF8514D14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20B567-E621-C69B-6AB1-76B8537BB9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A3829B-9109-DE47-8A5E-18DEFDD73F63}" type="datetimeFigureOut">
              <a:rPr lang="en-CN" smtClean="0"/>
              <a:t>2026/9/11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4210CB-9403-242F-25ED-7C932A2C36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ADC624-2DA4-6C7C-32AA-43C4C82126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16CF93-BE44-A140-B417-A5CBE02DF3C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287724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Great-circle_distance" TargetMode="External"/><Relationship Id="rId7" Type="http://schemas.openxmlformats.org/officeDocument/2006/relationships/image" Target="../media/image6.png"/><Relationship Id="rId2" Type="http://schemas.openxmlformats.org/officeDocument/2006/relationships/hyperlink" Target="https://onlinelibrary.wiley.com/doi/full/10.1111/gcb.15780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tif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tif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tiff"/><Relationship Id="rId2" Type="http://schemas.openxmlformats.org/officeDocument/2006/relationships/image" Target="../media/image20.tif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D90BF-85AB-C4BC-84BF-10E83FB85A2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N" dirty="0"/>
              <a:t>投影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31369B-00B1-50B9-CAE9-DBD3C5E69DA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en-CN" dirty="0"/>
              <a:t>中科院动物所</a:t>
            </a:r>
            <a:r>
              <a:rPr lang="zh-CN" altLang="en-US" dirty="0"/>
              <a:t> 乔慧捷</a:t>
            </a:r>
            <a:endParaRPr lang="en-US" altLang="zh-CN" dirty="0"/>
          </a:p>
          <a:p>
            <a:pPr algn="r"/>
            <a:r>
              <a:rPr lang="en-US" altLang="zh-CN" dirty="0"/>
              <a:t>2026-9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4975562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83AC970-9DC4-25D2-8D8E-2A3616533C85}"/>
              </a:ext>
            </a:extLst>
          </p:cNvPr>
          <p:cNvSpPr txBox="1"/>
          <p:nvPr/>
        </p:nvSpPr>
        <p:spPr>
          <a:xfrm>
            <a:off x="6599816" y="6488668"/>
            <a:ext cx="60995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dirty="0"/>
              <a:t>https://www.nature.com/articles/s41586-026-11027-z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F5012F6-C0AD-5595-88E6-169DD9FD7B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4588" y="3348996"/>
            <a:ext cx="5435850" cy="313967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0A44462-980D-7902-0F16-27CF80DC49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469" y="318710"/>
            <a:ext cx="7772400" cy="2920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63831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0104115-2C51-744B-BA0C-22480020DEBE}"/>
              </a:ext>
            </a:extLst>
          </p:cNvPr>
          <p:cNvSpPr txBox="1"/>
          <p:nvPr/>
        </p:nvSpPr>
        <p:spPr>
          <a:xfrm>
            <a:off x="6253019" y="6100740"/>
            <a:ext cx="57819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2"/>
              </a:rPr>
              <a:t>https://onlinelibrary.wiley.com/doi/full/10.1111/gcb.15780</a:t>
            </a:r>
            <a:endParaRPr kumimoji="0" lang="en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3"/>
              </a:rPr>
              <a:t>https://en.wikipedia.org/wiki/Great-circle_distance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991E865-E83B-F040-9DB2-5A19065BA0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" y="0"/>
            <a:ext cx="5437332" cy="118374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B27B490-0E30-304A-8121-4CA6FFD333AC}"/>
              </a:ext>
            </a:extLst>
          </p:cNvPr>
          <p:cNvSpPr txBox="1"/>
          <p:nvPr/>
        </p:nvSpPr>
        <p:spPr>
          <a:xfrm>
            <a:off x="360218" y="1353510"/>
            <a:ext cx="1115752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C1D1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native spatial resolution of the IAP2 at the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European extent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C1D1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is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 arcmin (WGS84; EPSG:4326).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C1D1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 obtain land uses for the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 × 10 km grid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C1D1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we overlaid polygons projected to WGS84 with the IAP2 maps and aggregated the IAP2 land uses weighted by the 10 arcmin cell contribution to these polygons.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1C1D1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ll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climate data were downloaded from 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www.worldclim.org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at 10 arcmin spatial resolution (WGS84; EPSG:4326) and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projected to 10 × 10 km grids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Lambert azimuthal equal area projection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(EPSG:3035) using bilinear interpolation.</a:t>
            </a:r>
            <a:endParaRPr kumimoji="0" lang="en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5D99F0E-7DDB-6F4A-B829-186196C6E2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7018" y="3277602"/>
            <a:ext cx="2849418" cy="2849418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AC5E4E27-5A0A-994B-A463-BE3785C7A0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96000" y="5454410"/>
            <a:ext cx="5765944" cy="64633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33A40EA-682F-BA45-8377-0F9A8A032C2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06436" y="3107836"/>
            <a:ext cx="3429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70177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6CFBD2E-8A44-8DEA-E33F-0C8F70CAE5B4}"/>
              </a:ext>
            </a:extLst>
          </p:cNvPr>
          <p:cNvSpPr txBox="1"/>
          <p:nvPr/>
        </p:nvSpPr>
        <p:spPr>
          <a:xfrm>
            <a:off x="7352842" y="6364861"/>
            <a:ext cx="48391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dirty="0"/>
              <a:t>https://news.un.org/en/story/2026/09/1168284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8609ECC-A361-2791-BBF9-53917E404E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405" y="222890"/>
            <a:ext cx="7772400" cy="348379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4158A6A-D747-C6EC-0C30-1FB958FAC9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1827" y="528580"/>
            <a:ext cx="5377534" cy="5836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378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57A9F-85C9-511F-AA1C-D67BFC1B1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DB13072-70BA-8F5D-DDB1-4080DF701F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5745" y="273072"/>
            <a:ext cx="6038247" cy="6311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38281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71B2A800-9954-4701-85BD-CC5C0B05488E}"/>
              </a:ext>
            </a:extLst>
          </p:cNvPr>
          <p:cNvSpPr/>
          <p:nvPr/>
        </p:nvSpPr>
        <p:spPr>
          <a:xfrm>
            <a:off x="7996556" y="6491568"/>
            <a:ext cx="419544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/>
              <a:t>https://www.nature.com/articles/d41586-026-02820-x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F357A57-AA62-42A7-A980-17BC54F7F9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5633" y="3804604"/>
            <a:ext cx="4595789" cy="2571737"/>
          </a:xfrm>
          <a:prstGeom prst="rect">
            <a:avLst/>
          </a:prstGeom>
        </p:spPr>
      </p:pic>
      <p:pic>
        <p:nvPicPr>
          <p:cNvPr id="1026" name="Picture 2" descr="Bent into shape. Comparison of Mercator and Equal Earth world maps showing how the Mercator projection enlarges land areas near the poles, while Equal Earth preserves relative country sizes.">
            <a:extLst>
              <a:ext uri="{FF2B5EF4-FFF2-40B4-BE49-F238E27FC236}">
                <a16:creationId xmlns:a16="http://schemas.microsoft.com/office/drawing/2014/main" id="{B73B7F06-1786-4EC2-8AC8-356D3C6842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752" y="0"/>
            <a:ext cx="54102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725E8C5A-6C9B-4B7E-9572-D8A0868B77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124" y="101210"/>
            <a:ext cx="3542858" cy="3703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9524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58E5F-9120-7F43-AE57-9A6F4350B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x-none" sz="4000" dirty="0"/>
              <a:t>Coordination and projection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21569C-A930-6C46-853D-48581D9578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9616" y="1268760"/>
            <a:ext cx="7699095" cy="5184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14616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210DE-AE7F-B749-A65A-52836C648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x-none" dirty="0"/>
              <a:t>Coordination and projection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A9AD7AB-DCB8-514B-8B4F-5E9D427590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68631" y="1600201"/>
            <a:ext cx="6654739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87756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493D6DD-4D0D-35D3-2754-335B5B48CB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157" y="158750"/>
            <a:ext cx="6604000" cy="6540500"/>
          </a:xfrm>
          <a:prstGeom prst="rect">
            <a:avLst/>
          </a:prstGeom>
        </p:spPr>
      </p:pic>
      <p:pic>
        <p:nvPicPr>
          <p:cNvPr id="4" name="Picture 3" descr="一个小游戏让你彻底弄懂墨卡托投影">
            <a:extLst>
              <a:ext uri="{FF2B5EF4-FFF2-40B4-BE49-F238E27FC236}">
                <a16:creationId xmlns:a16="http://schemas.microsoft.com/office/drawing/2014/main" id="{A45B0F4E-694E-C670-6505-0F41424521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9655" y="2126256"/>
            <a:ext cx="4572000" cy="3225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39AE6C9-BDD6-51D3-EB06-5F7781AF37EC}"/>
              </a:ext>
            </a:extLst>
          </p:cNvPr>
          <p:cNvSpPr txBox="1"/>
          <p:nvPr/>
        </p:nvSpPr>
        <p:spPr>
          <a:xfrm>
            <a:off x="8755655" y="6488668"/>
            <a:ext cx="35832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dirty="0"/>
              <a:t>https://www.openstreetmap.org/</a:t>
            </a:r>
          </a:p>
        </p:txBody>
      </p:sp>
    </p:spTree>
    <p:extLst>
      <p:ext uri="{BB962C8B-B14F-4D97-AF65-F5344CB8AC3E}">
        <p14:creationId xmlns:p14="http://schemas.microsoft.com/office/powerpoint/2010/main" val="666018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4390E-E558-C04F-8AB4-AFBE5616B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5840" y="0"/>
            <a:ext cx="3888432" cy="638944"/>
          </a:xfrm>
        </p:spPr>
        <p:txBody>
          <a:bodyPr>
            <a:normAutofit/>
          </a:bodyPr>
          <a:lstStyle/>
          <a:p>
            <a:r>
              <a:rPr lang="x-none" sz="3600" dirty="0"/>
              <a:t>Lonlat projection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AD23A3B7-C938-5F4C-ABE6-120FC7E2E0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3912" y="4035062"/>
            <a:ext cx="5202424" cy="2788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E77231B8-F856-C44A-A63A-A03A84FC10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6608" y="548680"/>
            <a:ext cx="5904656" cy="3661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60193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4390E-E558-C04F-8AB4-AFBE5616B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dirty="0"/>
              <a:t>Equal area projection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C18046-5220-5D4E-6E3B-AAB99ECD3D45}"/>
              </a:ext>
            </a:extLst>
          </p:cNvPr>
          <p:cNvSpPr txBox="1"/>
          <p:nvPr/>
        </p:nvSpPr>
        <p:spPr>
          <a:xfrm>
            <a:off x="330506" y="6379646"/>
            <a:ext cx="117136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dirty="0"/>
              <a:t>https://math.univ-lyon1.fr/~alachal/diaporamas/diaporama_cartographie3/Equal_Area_Projection.htm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42B0757-1FE6-D3AE-DF09-4914FC4D26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719" y="1690688"/>
            <a:ext cx="9550561" cy="427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2521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5F3A769-FDB4-1991-78EA-12F83E2EA8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236" y="652547"/>
            <a:ext cx="11595516" cy="519740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3692A71-15CA-9EB9-AA72-A632C35CF3F5}"/>
              </a:ext>
            </a:extLst>
          </p:cNvPr>
          <p:cNvSpPr/>
          <p:nvPr/>
        </p:nvSpPr>
        <p:spPr>
          <a:xfrm>
            <a:off x="242370" y="1112704"/>
            <a:ext cx="848299" cy="760163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124275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4390E-E558-C04F-8AB4-AFBE5616B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dirty="0"/>
              <a:t>Equal distance projection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8584E668-2D86-7047-A52B-453B858B5B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1665" y="1772816"/>
            <a:ext cx="5558607" cy="4725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07629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8CA4D-9E92-E547-BADE-D6C5A7314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x-none" dirty="0"/>
              <a:t>Equal area and </a:t>
            </a:r>
            <a:r>
              <a:rPr lang="x-none"/>
              <a:t>distance projection</a:t>
            </a:r>
            <a:br>
              <a:rPr lang="en-US" dirty="0"/>
            </a:br>
            <a:r>
              <a:rPr lang="en-US" b="1" dirty="0">
                <a:solidFill>
                  <a:srgbClr val="FF0000"/>
                </a:solidFill>
              </a:rPr>
              <a:t>Regular icosahedron</a:t>
            </a:r>
            <a:r>
              <a:rPr lang="zh-CN" altLang="en-US" b="1" dirty="0">
                <a:solidFill>
                  <a:srgbClr val="FF0000"/>
                </a:solidFill>
              </a:rPr>
              <a:t> </a:t>
            </a:r>
            <a:r>
              <a:rPr lang="en-US" altLang="zh-CN" b="1" dirty="0">
                <a:solidFill>
                  <a:srgbClr val="FF0000"/>
                </a:solidFill>
              </a:rPr>
              <a:t>(pentagon and</a:t>
            </a:r>
            <a:r>
              <a:rPr lang="zh-CN" altLang="en-US" b="1" dirty="0">
                <a:solidFill>
                  <a:srgbClr val="FF0000"/>
                </a:solidFill>
              </a:rPr>
              <a:t> </a:t>
            </a:r>
            <a:r>
              <a:rPr lang="en-US" altLang="zh-CN" b="1" dirty="0">
                <a:solidFill>
                  <a:srgbClr val="FF0000"/>
                </a:solidFill>
              </a:rPr>
              <a:t>hexagon)</a:t>
            </a:r>
            <a:endParaRPr lang="x-none" b="1" dirty="0">
              <a:solidFill>
                <a:srgbClr val="FF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9B292A3-9C24-8742-B9D5-975E92AAE3E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4865" t="24843" r="33700" b="24844"/>
          <a:stretch/>
        </p:blipFill>
        <p:spPr>
          <a:xfrm>
            <a:off x="838200" y="1871193"/>
            <a:ext cx="4392488" cy="422980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1852C06-EAC3-9E4B-9B99-21DE68E9179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5700" t="19583" r="9051" b="23838"/>
          <a:stretch/>
        </p:blipFill>
        <p:spPr>
          <a:xfrm>
            <a:off x="6245170" y="4571538"/>
            <a:ext cx="4392488" cy="2286463"/>
          </a:xfrm>
          <a:prstGeom prst="rect">
            <a:avLst/>
          </a:prstGeom>
        </p:spPr>
      </p:pic>
      <p:pic>
        <p:nvPicPr>
          <p:cNvPr id="1026" name="Picture 2" descr="足球五边形六边形图解(第1页) - 要无忧健康图库">
            <a:extLst>
              <a:ext uri="{FF2B5EF4-FFF2-40B4-BE49-F238E27FC236}">
                <a16:creationId xmlns:a16="http://schemas.microsoft.com/office/drawing/2014/main" id="{935E086E-4F01-144F-815C-A7DDEDEDAF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6654" y="2343062"/>
            <a:ext cx="2034431" cy="1968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53827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292</Words>
  <Application>Microsoft Macintosh PowerPoint</Application>
  <PresentationFormat>Widescreen</PresentationFormat>
  <Paragraphs>24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Office Theme</vt:lpstr>
      <vt:lpstr>投影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Coordination and projection</vt:lpstr>
      <vt:lpstr>Coordination and projection</vt:lpstr>
      <vt:lpstr>PowerPoint Presentation</vt:lpstr>
      <vt:lpstr>Lonlat projection</vt:lpstr>
      <vt:lpstr>Equal area projection</vt:lpstr>
      <vt:lpstr>PowerPoint Presentation</vt:lpstr>
      <vt:lpstr>Equal distance projection</vt:lpstr>
      <vt:lpstr>Equal area and distance projection Regular icosahedron (pentagon and hexagon)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</dc:title>
  <dc:creator>Huijie Qiao</dc:creator>
  <cp:lastModifiedBy>Huijie Qiao</cp:lastModifiedBy>
  <cp:revision>17</cp:revision>
  <dcterms:created xsi:type="dcterms:W3CDTF">2026-09-07T11:52:16Z</dcterms:created>
  <dcterms:modified xsi:type="dcterms:W3CDTF">2026-09-11T09:07:47Z</dcterms:modified>
</cp:coreProperties>
</file>