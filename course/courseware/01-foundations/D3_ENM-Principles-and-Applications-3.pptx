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7" r:id="rId2"/>
    <p:sldId id="454" r:id="rId3"/>
    <p:sldId id="455" r:id="rId4"/>
    <p:sldId id="456" r:id="rId5"/>
    <p:sldId id="438" r:id="rId6"/>
    <p:sldId id="457" r:id="rId7"/>
    <p:sldId id="258" r:id="rId8"/>
    <p:sldId id="458" r:id="rId9"/>
    <p:sldId id="459" r:id="rId10"/>
    <p:sldId id="460" r:id="rId11"/>
    <p:sldId id="461" r:id="rId12"/>
    <p:sldId id="1743" r:id="rId13"/>
    <p:sldId id="295" r:id="rId14"/>
    <p:sldId id="1744" r:id="rId1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1514D-FBCF-CA4B-BF07-EFD392A30656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391F8-88E9-F24D-BC58-0B5B614A782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138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CAAF-2A31-8CE5-2690-6251FB6B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4F08D-1096-0EBA-9BB9-CACC81FF9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6D227-1061-0626-5C18-10FD3D1EB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with that, I’d like to thank you for your attention.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don</a:t>
            </a:r>
            <a:r>
              <a:rPr lang="uk-UA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 hesitate to get in contact with me – I’m always happy to discuss science and potential collaborations!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88F33-6C12-E710-EE8E-A78546B1C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B0F5C7-C13C-604F-AB06-7E4F495B42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13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730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952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229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178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5407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773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4671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5035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442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6935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15437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8284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7032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1097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0484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936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0300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1pPr>
            <a:lvl2pPr marL="0" indent="2286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2pPr>
            <a:lvl3pPr marL="0" indent="4572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3pPr>
            <a:lvl4pPr marL="0" indent="6858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4pPr>
            <a:lvl5pPr marL="0" indent="9144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207349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4889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124252"/>
            <a:ext cx="4889500" cy="4128315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Small section of a modern shell bridge in Qingdao, Shandong, China with a partly cloudy sky above"/>
          <p:cNvSpPr>
            <a:spLocks noGrp="1"/>
          </p:cNvSpPr>
          <p:nvPr>
            <p:ph type="pic" idx="22"/>
          </p:nvPr>
        </p:nvSpPr>
        <p:spPr>
          <a:xfrm>
            <a:off x="4635500" y="631924"/>
            <a:ext cx="8386922" cy="55941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4889500" cy="71755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81270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5012" y="5337727"/>
            <a:ext cx="101000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319462" indent="-2349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19462" indent="-63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19462" indent="2222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19462" indent="4508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19462" indent="6794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66982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55475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11" Type="http://schemas.openxmlformats.org/officeDocument/2006/relationships/image" Target="../media/image44.jpeg"/><Relationship Id="rId5" Type="http://schemas.openxmlformats.org/officeDocument/2006/relationships/image" Target="../media/image38.jpeg"/><Relationship Id="rId10" Type="http://schemas.openxmlformats.org/officeDocument/2006/relationships/image" Target="../media/image43.jpeg"/><Relationship Id="rId4" Type="http://schemas.openxmlformats.org/officeDocument/2006/relationships/image" Target="../media/image37.jpeg"/><Relationship Id="rId9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79AB-DDBC-50BB-69A0-04609659A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153" y="731221"/>
            <a:ext cx="9077646" cy="3200400"/>
          </a:xfrm>
        </p:spPr>
        <p:txBody>
          <a:bodyPr>
            <a:normAutofit/>
          </a:bodyPr>
          <a:lstStyle/>
          <a:p>
            <a:r>
              <a:rPr lang="en-CN" b="1" dirty="0">
                <a:latin typeface="STHeiti" panose="02010600040101010101" pitchFamily="2" charset="-122"/>
                <a:ea typeface="STHeiti" panose="02010600040101010101" pitchFamily="2" charset="-122"/>
              </a:rPr>
              <a:t>生态位模型的原理与应用</a:t>
            </a:r>
            <a:r>
              <a:rPr lang="zh-CN" altLang="en-US" b="1" dirty="0">
                <a:latin typeface="STHeiti" panose="02010600040101010101" pitchFamily="2" charset="-122"/>
                <a:ea typeface="STHeiti" panose="02010600040101010101" pitchFamily="2" charset="-122"/>
              </a:rPr>
              <a:t>（三）</a:t>
            </a:r>
            <a:br>
              <a:rPr lang="en-CN" b="1" dirty="0">
                <a:latin typeface="STHeiti" panose="02010600040101010101" pitchFamily="2" charset="-122"/>
                <a:ea typeface="STHeiti" panose="02010600040101010101" pitchFamily="2" charset="-122"/>
              </a:rPr>
            </a:br>
            <a:r>
              <a:rPr lang="en-US" sz="2000" b="1" dirty="0">
                <a:latin typeface="STHeiti" panose="02010600040101010101" pitchFamily="2" charset="-122"/>
                <a:ea typeface="STHeiti" panose="02010600040101010101" pitchFamily="2" charset="-122"/>
              </a:rPr>
              <a:t>The Principles and Applications of Ecological</a:t>
            </a:r>
            <a:r>
              <a:rPr lang="zh-CN" altLang="en-US" sz="2000" b="1" dirty="0"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lang="en-US" sz="2000" b="1" dirty="0">
                <a:latin typeface="STHeiti" panose="02010600040101010101" pitchFamily="2" charset="-122"/>
                <a:ea typeface="STHeiti" panose="02010600040101010101" pitchFamily="2" charset="-122"/>
              </a:rPr>
              <a:t>Niche Model</a:t>
            </a:r>
            <a:endParaRPr lang="en-CN" b="1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7DC9-0AD8-9477-DEA1-082900318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0708" y="5486400"/>
            <a:ext cx="2914607" cy="966355"/>
          </a:xfrm>
        </p:spPr>
        <p:txBody>
          <a:bodyPr/>
          <a:lstStyle/>
          <a:p>
            <a:pPr algn="r"/>
            <a:r>
              <a:rPr lang="en-US" dirty="0" err="1"/>
              <a:t>中科院动物所</a:t>
            </a:r>
            <a:r>
              <a:rPr lang="zh-CN" altLang="en-US" dirty="0"/>
              <a:t> </a:t>
            </a:r>
            <a:r>
              <a:rPr lang="en-US" dirty="0" err="1"/>
              <a:t>乔慧捷</a:t>
            </a:r>
            <a:endParaRPr lang="en-US" dirty="0"/>
          </a:p>
          <a:p>
            <a:pPr algn="r"/>
            <a:r>
              <a:rPr lang="en-US" dirty="0"/>
              <a:t>2026-9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1296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292C9-171C-CCB3-68A7-4F0B6474A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170F03-5577-6412-9C54-6F09F96A081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50717" y="2469930"/>
            <a:ext cx="11263748" cy="1918140"/>
          </a:xfrm>
        </p:spPr>
        <p:txBody>
          <a:bodyPr>
            <a:normAutofit/>
          </a:bodyPr>
          <a:lstStyle/>
          <a:p>
            <a:r>
              <a:rPr lang="zh-CN" altLang="en-US" sz="5750" dirty="0"/>
              <a:t>如何在研究工作中使用生态位模型</a:t>
            </a:r>
          </a:p>
        </p:txBody>
      </p:sp>
    </p:spTree>
    <p:extLst>
      <p:ext uri="{BB962C8B-B14F-4D97-AF65-F5344CB8AC3E}">
        <p14:creationId xmlns:p14="http://schemas.microsoft.com/office/powerpoint/2010/main" val="347819048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06CC49F-2A31-904E-B196-D831628D5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71" y="1505415"/>
            <a:ext cx="2645763" cy="198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ocument with black text&#10;&#10;AI-generated content may be incorrect.">
            <a:extLst>
              <a:ext uri="{FF2B5EF4-FFF2-40B4-BE49-F238E27FC236}">
                <a16:creationId xmlns:a16="http://schemas.microsoft.com/office/drawing/2014/main" id="{0513C2C0-7F4A-B160-36B8-222683BE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946" y="58782"/>
            <a:ext cx="2645762" cy="3052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EA60CD-D944-79E4-4EC8-6BAEE724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593" r="927" b="47642"/>
          <a:stretch/>
        </p:blipFill>
        <p:spPr>
          <a:xfrm>
            <a:off x="108973" y="301083"/>
            <a:ext cx="3447550" cy="1204332"/>
          </a:xfrm>
          <a:prstGeom prst="rect">
            <a:avLst/>
          </a:prstGeom>
        </p:spPr>
      </p:pic>
      <p:pic>
        <p:nvPicPr>
          <p:cNvPr id="4102" name="Picture 6" descr="Ornithology Team | KU Biodiversity Institute and Natural History Museum">
            <a:extLst>
              <a:ext uri="{FF2B5EF4-FFF2-40B4-BE49-F238E27FC236}">
                <a16:creationId xmlns:a16="http://schemas.microsoft.com/office/drawing/2014/main" id="{0BC4C261-16EF-C6EA-8EF6-69BFA66C9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017" y="3111241"/>
            <a:ext cx="1841810" cy="230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Jorge Soberón, Ph.D. - data.org">
            <a:extLst>
              <a:ext uri="{FF2B5EF4-FFF2-40B4-BE49-F238E27FC236}">
                <a16:creationId xmlns:a16="http://schemas.microsoft.com/office/drawing/2014/main" id="{089671BE-219F-4C55-3F00-41AA2875E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27" y="3111241"/>
            <a:ext cx="2302263" cy="230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E7EC72-558A-FDCB-B1AB-2AB3DE1BEE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4017" y="5413503"/>
            <a:ext cx="4144073" cy="1235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03E75F-23C9-9A14-9485-B9D1DB8B24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84" y="4235637"/>
            <a:ext cx="4144074" cy="24269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4650A8-395F-96EF-036B-01C0B96436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7534" y="145212"/>
            <a:ext cx="4655493" cy="758037"/>
          </a:xfrm>
          <a:prstGeom prst="rect">
            <a:avLst/>
          </a:prstGeom>
        </p:spPr>
      </p:pic>
      <p:pic>
        <p:nvPicPr>
          <p:cNvPr id="4106" name="Picture 10" descr="Miguel Bastos Araújo wins the British Ecological Society Award - Calouste  Gulbenkian Foundation — UK Branch">
            <a:extLst>
              <a:ext uri="{FF2B5EF4-FFF2-40B4-BE49-F238E27FC236}">
                <a16:creationId xmlns:a16="http://schemas.microsoft.com/office/drawing/2014/main" id="{E2A932EA-32B9-91B1-7C5E-024C94A99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534" y="903249"/>
            <a:ext cx="3162439" cy="177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Robert Brian O'Hara - NTNU">
            <a:extLst>
              <a:ext uri="{FF2B5EF4-FFF2-40B4-BE49-F238E27FC236}">
                <a16:creationId xmlns:a16="http://schemas.microsoft.com/office/drawing/2014/main" id="{3700E91C-FF73-4942-C901-4655A592F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1383" y="2436839"/>
            <a:ext cx="1984322" cy="198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68BAD512-C6A4-9910-ED83-712F7CE99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09" y="3703559"/>
            <a:ext cx="2255025" cy="296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0365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7E185-B172-BA1E-A3A1-441AF7C4B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38" y="290669"/>
            <a:ext cx="6616700" cy="2413000"/>
          </a:xfrm>
          <a:prstGeom prst="rect">
            <a:avLst/>
          </a:prstGeom>
        </p:spPr>
      </p:pic>
      <p:pic>
        <p:nvPicPr>
          <p:cNvPr id="5122" name="Picture 2" descr="Benjamin Wong Blonder | Our Environment at Berkeley">
            <a:extLst>
              <a:ext uri="{FF2B5EF4-FFF2-40B4-BE49-F238E27FC236}">
                <a16:creationId xmlns:a16="http://schemas.microsoft.com/office/drawing/2014/main" id="{CB82A5D4-EF76-D7C3-14C8-3ECCCD658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351" y="290669"/>
            <a:ext cx="3523445" cy="352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ue and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8EF2EB30-68AA-74E2-5E5A-3BCF5BEB3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38" y="3056587"/>
            <a:ext cx="6616700" cy="2579064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0DDCF7F-DBDA-BA4D-9791-B6E0A7129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145" y="5080224"/>
            <a:ext cx="7446963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3307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FB1CFF-A3A0-4316-A40A-81DD46E1E039}"/>
              </a:ext>
            </a:extLst>
          </p:cNvPr>
          <p:cNvSpPr/>
          <p:nvPr/>
        </p:nvSpPr>
        <p:spPr>
          <a:xfrm>
            <a:off x="5579292" y="6232929"/>
            <a:ext cx="6612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Blonder et al., 2014 GEB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https://onlinelibrary.wiley.com/doi/full/10.1111/geb.12146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68AA70-4AB1-4F4E-9185-B582BB1C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52" y="1753377"/>
            <a:ext cx="5766616" cy="4524851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72A010-4BA8-47D5-A363-C47575604F4E}"/>
              </a:ext>
            </a:extLst>
          </p:cNvPr>
          <p:cNvCxnSpPr/>
          <p:nvPr/>
        </p:nvCxnSpPr>
        <p:spPr>
          <a:xfrm>
            <a:off x="1284194" y="5479676"/>
            <a:ext cx="481180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标题 1">
            <a:extLst>
              <a:ext uri="{FF2B5EF4-FFF2-40B4-BE49-F238E27FC236}">
                <a16:creationId xmlns:a16="http://schemas.microsoft.com/office/drawing/2014/main" id="{D005AFEE-6F45-43D8-3FC0-8268E801B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86" y="365126"/>
            <a:ext cx="11694813" cy="78404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STHeiti" panose="02010600040101010101" pitchFamily="2" charset="-122"/>
                <a:ea typeface="STHeiti" panose="02010600040101010101" pitchFamily="2" charset="-122"/>
              </a:rPr>
              <a:t>生态位模型前沿应用</a:t>
            </a:r>
          </a:p>
        </p:txBody>
      </p:sp>
    </p:spTree>
    <p:extLst>
      <p:ext uri="{BB962C8B-B14F-4D97-AF65-F5344CB8AC3E}">
        <p14:creationId xmlns:p14="http://schemas.microsoft.com/office/powerpoint/2010/main" val="114033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E0DB80-0856-49CC-8E92-13C75E890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200275" y="4866216"/>
            <a:ext cx="8477250" cy="15621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46157BF-447B-4F64-BECA-51D2181AAD18}"/>
              </a:ext>
            </a:extLst>
          </p:cNvPr>
          <p:cNvCxnSpPr>
            <a:cxnSpLocks/>
          </p:cNvCxnSpPr>
          <p:nvPr/>
        </p:nvCxnSpPr>
        <p:spPr>
          <a:xfrm flipH="1">
            <a:off x="2027767" y="3551767"/>
            <a:ext cx="7031566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E6D17BF-2EEE-41F6-8CA7-C117A13BC43F}"/>
              </a:ext>
            </a:extLst>
          </p:cNvPr>
          <p:cNvSpPr txBox="1"/>
          <p:nvPr/>
        </p:nvSpPr>
        <p:spPr>
          <a:xfrm>
            <a:off x="7890935" y="2916768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简单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BBA944-968F-4DB5-BF7F-419BB8B80994}"/>
              </a:ext>
            </a:extLst>
          </p:cNvPr>
          <p:cNvSpPr txBox="1"/>
          <p:nvPr/>
        </p:nvSpPr>
        <p:spPr>
          <a:xfrm>
            <a:off x="1862668" y="2916768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复杂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AF55B9D-A7A3-44F2-4C10-9AF3D9DC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86" y="365126"/>
            <a:ext cx="11694813" cy="78404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STHeiti" panose="02010600040101010101" pitchFamily="2" charset="-122"/>
                <a:ea typeface="STHeiti" panose="02010600040101010101" pitchFamily="2" charset="-122"/>
              </a:rPr>
              <a:t>生态位模型前沿应用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68545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BAB1A-E2B2-4EBF-A4A4-7097772B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86" y="365126"/>
            <a:ext cx="11694813" cy="784044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STHeiti" panose="02010600040101010101" pitchFamily="2" charset="-122"/>
                <a:ea typeface="STHeiti" panose="02010600040101010101" pitchFamily="2" charset="-122"/>
              </a:rPr>
              <a:t>生态位模型前沿应用</a:t>
            </a:r>
            <a:endParaRPr lang="zh-CN" altLang="en-US" sz="3000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B571F96-4FF9-4961-BDF5-F8E02C2C9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86" y="1481927"/>
            <a:ext cx="6691688" cy="2390245"/>
          </a:xfr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C084E96-1DAC-4EDB-80AB-0ED78374491D}"/>
              </a:ext>
            </a:extLst>
          </p:cNvPr>
          <p:cNvSpPr/>
          <p:nvPr/>
        </p:nvSpPr>
        <p:spPr>
          <a:xfrm>
            <a:off x="9645821" y="6385468"/>
            <a:ext cx="23102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YB Du, et al, 2023, FEE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03F541-B0B2-4106-9706-7C4DA794508C}"/>
              </a:ext>
            </a:extLst>
          </p:cNvPr>
          <p:cNvSpPr/>
          <p:nvPr/>
        </p:nvSpPr>
        <p:spPr>
          <a:xfrm>
            <a:off x="294986" y="4253171"/>
            <a:ext cx="914400" cy="397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MAXENT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4A615-B3D6-4020-86BD-B21EAF341266}"/>
              </a:ext>
            </a:extLst>
          </p:cNvPr>
          <p:cNvSpPr/>
          <p:nvPr/>
        </p:nvSpPr>
        <p:spPr>
          <a:xfrm>
            <a:off x="1747019" y="4253171"/>
            <a:ext cx="914400" cy="397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ENMEvel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2084BE-9083-4F2B-AA41-B1DA4FEFA23C}"/>
              </a:ext>
            </a:extLst>
          </p:cNvPr>
          <p:cNvSpPr/>
          <p:nvPr/>
        </p:nvSpPr>
        <p:spPr>
          <a:xfrm>
            <a:off x="3783252" y="4253170"/>
            <a:ext cx="914400" cy="397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Binary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BF328D-350F-4545-8AF0-64B4F73B6C44}"/>
              </a:ext>
            </a:extLst>
          </p:cNvPr>
          <p:cNvSpPr/>
          <p:nvPr/>
        </p:nvSpPr>
        <p:spPr>
          <a:xfrm>
            <a:off x="1463386" y="4871240"/>
            <a:ext cx="1481667" cy="397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Feature/RM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DAA8F8-AFF8-451C-8296-4F1A6D60FC8F}"/>
              </a:ext>
            </a:extLst>
          </p:cNvPr>
          <p:cNvSpPr/>
          <p:nvPr/>
        </p:nvSpPr>
        <p:spPr>
          <a:xfrm>
            <a:off x="1463386" y="5489309"/>
            <a:ext cx="1481667" cy="397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AUC/TSS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C4DA2C-1F08-413B-95CB-AC13B98547D8}"/>
              </a:ext>
            </a:extLst>
          </p:cNvPr>
          <p:cNvSpPr/>
          <p:nvPr/>
        </p:nvSpPr>
        <p:spPr>
          <a:xfrm>
            <a:off x="3499620" y="4871240"/>
            <a:ext cx="1481667" cy="397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10% TP/MAX TSS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4A1A1FE-CEC0-4E0D-8495-E9D422C7435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209387" y="4452137"/>
            <a:ext cx="5376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2EAAF56-3378-4DF4-B3B9-C67943394FB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661420" y="4452137"/>
            <a:ext cx="11218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E1BE792-2484-41DD-8D18-1600EB560B29}"/>
              </a:ext>
            </a:extLst>
          </p:cNvPr>
          <p:cNvSpPr/>
          <p:nvPr/>
        </p:nvSpPr>
        <p:spPr>
          <a:xfrm>
            <a:off x="1404118" y="4735771"/>
            <a:ext cx="1600200" cy="131233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C97C4-AD54-44CA-B101-764957C4A244}"/>
              </a:ext>
            </a:extLst>
          </p:cNvPr>
          <p:cNvSpPr/>
          <p:nvPr/>
        </p:nvSpPr>
        <p:spPr>
          <a:xfrm>
            <a:off x="3440352" y="4735771"/>
            <a:ext cx="1600200" cy="131233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3DFEB69-35CC-4E65-954C-9D845921F151}"/>
              </a:ext>
            </a:extLst>
          </p:cNvPr>
          <p:cNvCxnSpPr>
            <a:cxnSpLocks/>
          </p:cNvCxnSpPr>
          <p:nvPr/>
        </p:nvCxnSpPr>
        <p:spPr>
          <a:xfrm>
            <a:off x="2408767" y="3175000"/>
            <a:ext cx="2815166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6284FE1-C6AB-4CAF-95A0-CB005AB912AC}"/>
              </a:ext>
            </a:extLst>
          </p:cNvPr>
          <p:cNvCxnSpPr>
            <a:cxnSpLocks/>
          </p:cNvCxnSpPr>
          <p:nvPr/>
        </p:nvCxnSpPr>
        <p:spPr>
          <a:xfrm>
            <a:off x="685801" y="3382433"/>
            <a:ext cx="1032932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C0381A2-C473-44B9-9011-D29D773CFD83}"/>
              </a:ext>
            </a:extLst>
          </p:cNvPr>
          <p:cNvCxnSpPr/>
          <p:nvPr/>
        </p:nvCxnSpPr>
        <p:spPr>
          <a:xfrm>
            <a:off x="3835400" y="2311399"/>
            <a:ext cx="2921000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3CBB1E0-0F31-4904-837B-0980AFE0B9C0}"/>
              </a:ext>
            </a:extLst>
          </p:cNvPr>
          <p:cNvCxnSpPr>
            <a:cxnSpLocks/>
          </p:cNvCxnSpPr>
          <p:nvPr/>
        </p:nvCxnSpPr>
        <p:spPr>
          <a:xfrm>
            <a:off x="685801" y="2535767"/>
            <a:ext cx="3979332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7F6DF5F0-86DE-4599-972A-8CFEA31F4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495" y="1514627"/>
            <a:ext cx="2550257" cy="2169042"/>
          </a:xfrm>
          <a:prstGeom prst="rect">
            <a:avLst/>
          </a:prstGeom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3EBC8EE-D245-4867-8A32-A57A02D5ABDA}"/>
              </a:ext>
            </a:extLst>
          </p:cNvPr>
          <p:cNvCxnSpPr>
            <a:cxnSpLocks/>
          </p:cNvCxnSpPr>
          <p:nvPr/>
        </p:nvCxnSpPr>
        <p:spPr>
          <a:xfrm>
            <a:off x="2887973" y="2125134"/>
            <a:ext cx="3351961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3480D82-CDA5-4662-B9BA-A73B7FDAE24E}"/>
              </a:ext>
            </a:extLst>
          </p:cNvPr>
          <p:cNvSpPr/>
          <p:nvPr/>
        </p:nvSpPr>
        <p:spPr>
          <a:xfrm>
            <a:off x="6771795" y="2782507"/>
            <a:ext cx="668031" cy="75352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8EBB470-1663-4886-ACD7-93359AB0D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255" y="1514627"/>
            <a:ext cx="2567544" cy="2169042"/>
          </a:xfrm>
          <a:prstGeom prst="rect">
            <a:avLst/>
          </a:prstGeom>
        </p:spPr>
      </p:pic>
      <p:sp>
        <p:nvSpPr>
          <p:cNvPr id="37" name="箭头: 右 36">
            <a:extLst>
              <a:ext uri="{FF2B5EF4-FFF2-40B4-BE49-F238E27FC236}">
                <a16:creationId xmlns:a16="http://schemas.microsoft.com/office/drawing/2014/main" id="{50F29117-CA3A-4A6B-AEB7-93F28E36F99A}"/>
              </a:ext>
            </a:extLst>
          </p:cNvPr>
          <p:cNvSpPr/>
          <p:nvPr/>
        </p:nvSpPr>
        <p:spPr>
          <a:xfrm rot="13500000">
            <a:off x="10262153" y="3109531"/>
            <a:ext cx="653835" cy="228853"/>
          </a:xfrm>
          <a:prstGeom prst="rightArrow">
            <a:avLst>
              <a:gd name="adj1" fmla="val 50001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A89B542-F379-4753-85B8-DFD41DE24D3E}"/>
              </a:ext>
            </a:extLst>
          </p:cNvPr>
          <p:cNvSpPr/>
          <p:nvPr/>
        </p:nvSpPr>
        <p:spPr>
          <a:xfrm>
            <a:off x="9415919" y="2535768"/>
            <a:ext cx="1776124" cy="14816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A03E92C-ED03-45F8-91BC-E78BC8D67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162385" y="4497517"/>
            <a:ext cx="5335058" cy="983089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99A7DE7E-E413-496D-9804-A046D793582C}"/>
              </a:ext>
            </a:extLst>
          </p:cNvPr>
          <p:cNvSpPr/>
          <p:nvPr/>
        </p:nvSpPr>
        <p:spPr>
          <a:xfrm>
            <a:off x="5995152" y="4269113"/>
            <a:ext cx="1276366" cy="143971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13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5B13B01-DB8F-4B57-835B-1A69B398ABE8}"/>
              </a:ext>
            </a:extLst>
          </p:cNvPr>
          <p:cNvSpPr/>
          <p:nvPr/>
        </p:nvSpPr>
        <p:spPr>
          <a:xfrm>
            <a:off x="6467723" y="6211670"/>
            <a:ext cx="59314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CH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Trisos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 et al., 2020 Nature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https://www.nature.com/articles/s41586-020-2189-9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921C43-534C-48EA-B12E-05989FB0D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45" y="1852628"/>
            <a:ext cx="5246979" cy="43944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5B35D3C-8887-403C-A62F-BE3388FC7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068" y="1523999"/>
            <a:ext cx="3874171" cy="3124200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6D87127-10BB-40A1-8A44-FBD084501C8E}"/>
              </a:ext>
            </a:extLst>
          </p:cNvPr>
          <p:cNvCxnSpPr/>
          <p:nvPr/>
        </p:nvCxnSpPr>
        <p:spPr>
          <a:xfrm>
            <a:off x="2523067" y="5130800"/>
            <a:ext cx="2921000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7CC9ACB7-7EAF-4876-80AC-E8ECB33C8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556085" y="4876603"/>
            <a:ext cx="5335058" cy="98308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7826965-BD41-4A2F-B427-BFEBB5087C8B}"/>
              </a:ext>
            </a:extLst>
          </p:cNvPr>
          <p:cNvSpPr/>
          <p:nvPr/>
        </p:nvSpPr>
        <p:spPr>
          <a:xfrm>
            <a:off x="8657166" y="4685639"/>
            <a:ext cx="2261846" cy="12967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8273A18-9810-C1FB-EF52-F1ED8057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86" y="365126"/>
            <a:ext cx="11694813" cy="78404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STHeiti" panose="02010600040101010101" pitchFamily="2" charset="-122"/>
                <a:ea typeface="STHeiti" panose="02010600040101010101" pitchFamily="2" charset="-122"/>
              </a:rPr>
              <a:t>生态位模型前沿应用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736166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93EC3A-465C-4FA8-85A9-BBA4CCD19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86" y="1332311"/>
            <a:ext cx="7272391" cy="47577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5E84476-B214-4395-9BB8-64897CE8F145}"/>
              </a:ext>
            </a:extLst>
          </p:cNvPr>
          <p:cNvSpPr/>
          <p:nvPr/>
        </p:nvSpPr>
        <p:spPr>
          <a:xfrm>
            <a:off x="7058150" y="6273225"/>
            <a:ext cx="53992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HJ Qiao et al., 2024, NEE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https://www.nature.com/articles/s41559-024-02344-5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036A359-5E7E-4B48-9FE0-742BC4CE2004}"/>
              </a:ext>
            </a:extLst>
          </p:cNvPr>
          <p:cNvCxnSpPr>
            <a:cxnSpLocks/>
          </p:cNvCxnSpPr>
          <p:nvPr/>
        </p:nvCxnSpPr>
        <p:spPr>
          <a:xfrm>
            <a:off x="910167" y="4542367"/>
            <a:ext cx="6985000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AB76D78B-07EB-49F1-9FAD-C819B15C6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628052" y="1879211"/>
            <a:ext cx="5335058" cy="9830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1A1B5FB-2A7A-41C3-8319-71488CD6F188}"/>
              </a:ext>
            </a:extLst>
          </p:cNvPr>
          <p:cNvSpPr/>
          <p:nvPr/>
        </p:nvSpPr>
        <p:spPr>
          <a:xfrm>
            <a:off x="9860185" y="1595774"/>
            <a:ext cx="1276366" cy="143971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B7D6FE4-B99B-392D-95C6-8898E054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86" y="365126"/>
            <a:ext cx="11694813" cy="78404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STHeiti" panose="02010600040101010101" pitchFamily="2" charset="-122"/>
                <a:ea typeface="STHeiti" panose="02010600040101010101" pitchFamily="2" charset="-122"/>
              </a:rPr>
              <a:t>生态位模型前沿应用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91574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96401B1-FCEB-44CE-B8C8-E89248A91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44" y="1973513"/>
            <a:ext cx="6824712" cy="391004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100124B-B605-4A52-AC9B-92F79893C261}"/>
              </a:ext>
            </a:extLst>
          </p:cNvPr>
          <p:cNvSpPr/>
          <p:nvPr/>
        </p:nvSpPr>
        <p:spPr>
          <a:xfrm>
            <a:off x="7058151" y="6273225"/>
            <a:ext cx="5958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TF RANGEL et al., 2018, Science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https://www.science.org/doi/full/10.1126/science.aar5452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725865D-98BB-490F-A3A7-6A18DDD72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767" y="2308667"/>
            <a:ext cx="4268542" cy="33590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E84829F-44D0-4C32-9398-4A7C0FA91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369819" y="902427"/>
            <a:ext cx="5335058" cy="98308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2A043EF-0AD5-409E-AE78-CC6D488B0448}"/>
              </a:ext>
            </a:extLst>
          </p:cNvPr>
          <p:cNvSpPr/>
          <p:nvPr/>
        </p:nvSpPr>
        <p:spPr>
          <a:xfrm>
            <a:off x="9652636" y="806824"/>
            <a:ext cx="997433" cy="10652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812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421E97-A5AD-490C-A9A9-5E39BCE96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1495" y="3024459"/>
            <a:ext cx="9144000" cy="1278997"/>
          </a:xfrm>
        </p:spPr>
        <p:txBody>
          <a:bodyPr>
            <a:normAutofit fontScale="90000"/>
          </a:bodyPr>
          <a:lstStyle/>
          <a:p>
            <a:r>
              <a:rPr lang="zh-CN" altLang="en-US" sz="8000" dirty="0">
                <a:latin typeface="STHeiti" panose="02010600040101010101" pitchFamily="2" charset="-122"/>
                <a:ea typeface="STHeiti" panose="02010600040101010101" pitchFamily="2" charset="-122"/>
              </a:rPr>
              <a:t>重剑无锋 大巧不工</a:t>
            </a:r>
          </a:p>
        </p:txBody>
      </p:sp>
      <p:pic>
        <p:nvPicPr>
          <p:cNvPr id="1026" name="Picture 2" descr="The Art of Thomas Geissmann - Cartoons">
            <a:extLst>
              <a:ext uri="{FF2B5EF4-FFF2-40B4-BE49-F238E27FC236}">
                <a16:creationId xmlns:a16="http://schemas.microsoft.com/office/drawing/2014/main" id="{4B58AD54-2E1C-4A81-803F-4CEC6B47E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05" y="1995759"/>
            <a:ext cx="221932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57DB741-4BCF-44AB-91C9-A21021D73D78}"/>
              </a:ext>
            </a:extLst>
          </p:cNvPr>
          <p:cNvSpPr/>
          <p:nvPr/>
        </p:nvSpPr>
        <p:spPr>
          <a:xfrm>
            <a:off x="354894" y="4506169"/>
            <a:ext cx="1188017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高端的食材，往往只需要最朴素的烹饪方式</a:t>
            </a:r>
          </a:p>
        </p:txBody>
      </p:sp>
    </p:spTree>
    <p:extLst>
      <p:ext uri="{BB962C8B-B14F-4D97-AF65-F5344CB8AC3E}">
        <p14:creationId xmlns:p14="http://schemas.microsoft.com/office/powerpoint/2010/main" val="1688711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1E6CDE-0045-2AB3-45F1-DBCFCC6E7D0B}"/>
              </a:ext>
            </a:extLst>
          </p:cNvPr>
          <p:cNvSpPr txBox="1"/>
          <p:nvPr/>
        </p:nvSpPr>
        <p:spPr>
          <a:xfrm>
            <a:off x="305873" y="292281"/>
            <a:ext cx="3145665" cy="366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普通厅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IMAX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厅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杜比全景声厅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3D/4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厅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巨幕厅</a:t>
            </a:r>
          </a:p>
        </p:txBody>
      </p:sp>
      <p:pic>
        <p:nvPicPr>
          <p:cNvPr id="7170" name="Picture 2" descr="Steam 上的Avatar: Frontiers of Pandora™">
            <a:extLst>
              <a:ext uri="{FF2B5EF4-FFF2-40B4-BE49-F238E27FC236}">
                <a16:creationId xmlns:a16="http://schemas.microsoft.com/office/drawing/2014/main" id="{BB74F544-3C33-F3E5-3FDE-A2ECDCEC2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3" y="4311656"/>
            <a:ext cx="3993166" cy="228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What Denis Villeneuve's Dune Does Better Than the Book | Den of Geek">
            <a:extLst>
              <a:ext uri="{FF2B5EF4-FFF2-40B4-BE49-F238E27FC236}">
                <a16:creationId xmlns:a16="http://schemas.microsoft.com/office/drawing/2014/main" id="{3779D4D5-CBB0-ECD2-16B8-B95BF6CD8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129" y="752325"/>
            <a:ext cx="3937000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肖申克的救赎_百度百科">
            <a:extLst>
              <a:ext uri="{FF2B5EF4-FFF2-40B4-BE49-F238E27FC236}">
                <a16:creationId xmlns:a16="http://schemas.microsoft.com/office/drawing/2014/main" id="{6A7CAF32-A7AF-352B-EC7C-A288B2110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109" y="4249762"/>
            <a:ext cx="2571013" cy="257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What Dreams May Come | Features | Digital Domain">
            <a:extLst>
              <a:ext uri="{FF2B5EF4-FFF2-40B4-BE49-F238E27FC236}">
                <a16:creationId xmlns:a16="http://schemas.microsoft.com/office/drawing/2014/main" id="{4A99A259-FF1E-D042-BB71-1D303CAE5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129" y="5016500"/>
            <a:ext cx="44196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itizen Kane's Greatness Endures - WCP">
            <a:extLst>
              <a:ext uri="{FF2B5EF4-FFF2-40B4-BE49-F238E27FC236}">
                <a16:creationId xmlns:a16="http://schemas.microsoft.com/office/drawing/2014/main" id="{5945B5DD-F578-436B-7953-181B400B9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233" y="2899674"/>
            <a:ext cx="3145666" cy="204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NASA Astronauts Talk Space Travel with 'Interstellar' Cast | Space">
            <a:extLst>
              <a:ext uri="{FF2B5EF4-FFF2-40B4-BE49-F238E27FC236}">
                <a16:creationId xmlns:a16="http://schemas.microsoft.com/office/drawing/2014/main" id="{19FB249D-C43C-7A8F-6520-86F672A7F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156" y="2408262"/>
            <a:ext cx="44069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Lord of the Rings: How Peter Jackson Created the Battle of Helm's Deep">
            <a:extLst>
              <a:ext uri="{FF2B5EF4-FFF2-40B4-BE49-F238E27FC236}">
                <a16:creationId xmlns:a16="http://schemas.microsoft.com/office/drawing/2014/main" id="{D2614B45-1C09-8EA0-D389-612D68F44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33" y="302618"/>
            <a:ext cx="4087500" cy="204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348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3C07EF-035B-C7D3-AEC0-305A828FE722}"/>
              </a:ext>
            </a:extLst>
          </p:cNvPr>
          <p:cNvSpPr txBox="1"/>
          <p:nvPr/>
        </p:nvSpPr>
        <p:spPr>
          <a:xfrm>
            <a:off x="5077047" y="6274908"/>
            <a:ext cx="698559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https://www.science.org/doi/abs/10.1126/science.1231535</a:t>
            </a:r>
          </a:p>
        </p:txBody>
      </p:sp>
      <p:pic>
        <p:nvPicPr>
          <p:cNvPr id="8" name="Picture 7" descr="A screenshot of a text box&#10;&#10;Description automatically generated">
            <a:extLst>
              <a:ext uri="{FF2B5EF4-FFF2-40B4-BE49-F238E27FC236}">
                <a16:creationId xmlns:a16="http://schemas.microsoft.com/office/drawing/2014/main" id="{0B77D88B-9C5C-05D5-4AA9-5A37F995E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269" y="398426"/>
            <a:ext cx="6494573" cy="538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9808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DCA99-8B07-DD75-0169-34195D55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BE19A36-CE27-76FF-7E1F-624A17E9246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2897" y="-37469"/>
            <a:ext cx="2945455" cy="23547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8B0D0F-66C8-28E8-CC61-7B2B7FC2985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6843" y="4371219"/>
            <a:ext cx="3672116" cy="27175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EBC0CE-9857-6DB3-7E5E-DB35F89FC89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8959" y="4501724"/>
            <a:ext cx="2961784" cy="2565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7E0BFF-86BA-8002-E3AE-FBD04647C29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177" y="-37469"/>
            <a:ext cx="3461480" cy="2322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06A4CE-1368-AAA1-22AB-1D38B87629B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886" y="-53672"/>
            <a:ext cx="2771340" cy="23709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22919E-32BE-04BB-E183-6614A618D53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4414" y="4503667"/>
            <a:ext cx="2563586" cy="2563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D4E39B-0266-13AE-2007-3AF605033F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4185" y="2284778"/>
            <a:ext cx="2487048" cy="22248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12FBF-11A7-F388-C7B0-C9DD3D556F8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70360" y="2280765"/>
            <a:ext cx="3797641" cy="22392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092F6F-ACDA-15FC-C661-A2B3D697D86E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10363" y="2280765"/>
            <a:ext cx="2992654" cy="223923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9A0E4CD-464E-4CB8-8AE9-82D16E837819}"/>
              </a:ext>
            </a:extLst>
          </p:cNvPr>
          <p:cNvSpPr txBox="1">
            <a:spLocks/>
          </p:cNvSpPr>
          <p:nvPr/>
        </p:nvSpPr>
        <p:spPr>
          <a:xfrm>
            <a:off x="1907269" y="2277750"/>
            <a:ext cx="8048154" cy="2245232"/>
          </a:xfrm>
          <a:prstGeom prst="rect">
            <a:avLst/>
          </a:prstGeom>
          <a:solidFill>
            <a:schemeClr val="bg1">
              <a:alpha val="76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all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STHeiti" panose="02010600040101010101" pitchFamily="2" charset="-122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054861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Macintosh PowerPoint</Application>
  <PresentationFormat>Widescreen</PresentationFormat>
  <Paragraphs>38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等线</vt:lpstr>
      <vt:lpstr>STHeiti</vt:lpstr>
      <vt:lpstr>Aptos</vt:lpstr>
      <vt:lpstr>Arial</vt:lpstr>
      <vt:lpstr>Calibri</vt:lpstr>
      <vt:lpstr>Century Gothic</vt:lpstr>
      <vt:lpstr>Helvetica Neue Medium</vt:lpstr>
      <vt:lpstr>Mesh</vt:lpstr>
      <vt:lpstr>生态位模型的原理与应用（三） The Principles and Applications of Ecological Niche Model</vt:lpstr>
      <vt:lpstr>PowerPoint Presentation</vt:lpstr>
      <vt:lpstr>PowerPoint Presentation</vt:lpstr>
      <vt:lpstr>PowerPoint Presentation</vt:lpstr>
      <vt:lpstr>生态位模型前沿应用</vt:lpstr>
      <vt:lpstr>生态位模型前沿应用</vt:lpstr>
      <vt:lpstr>生态位模型前沿应用</vt:lpstr>
      <vt:lpstr>生态位模型前沿应用</vt:lpstr>
      <vt:lpstr>生态位模型前沿应用</vt:lpstr>
      <vt:lpstr>PowerPoint Presentation</vt:lpstr>
      <vt:lpstr>重剑无锋 大巧不工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Huijie Qiao</dc:creator>
  <cp:lastModifiedBy>Huijie Qiao</cp:lastModifiedBy>
  <cp:revision>1</cp:revision>
  <dcterms:created xsi:type="dcterms:W3CDTF">2026-08-31T14:20:43Z</dcterms:created>
  <dcterms:modified xsi:type="dcterms:W3CDTF">2026-08-31T14:21:19Z</dcterms:modified>
</cp:coreProperties>
</file>