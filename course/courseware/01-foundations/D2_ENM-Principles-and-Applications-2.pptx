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453" r:id="rId3"/>
    <p:sldId id="273" r:id="rId4"/>
    <p:sldId id="275" r:id="rId5"/>
    <p:sldId id="276" r:id="rId6"/>
    <p:sldId id="278" r:id="rId7"/>
    <p:sldId id="279" r:id="rId8"/>
    <p:sldId id="280" r:id="rId9"/>
    <p:sldId id="281" r:id="rId10"/>
    <p:sldId id="277" r:id="rId11"/>
    <p:sldId id="282" r:id="rId12"/>
    <p:sldId id="283" r:id="rId13"/>
    <p:sldId id="284" r:id="rId14"/>
    <p:sldId id="286" r:id="rId15"/>
    <p:sldId id="446" r:id="rId16"/>
    <p:sldId id="447" r:id="rId17"/>
    <p:sldId id="448" r:id="rId18"/>
    <p:sldId id="285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5512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52026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1004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9091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345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634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5323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28883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1658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916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0361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50259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5186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98633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4378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24063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4808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755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1pPr>
            <a:lvl2pPr marL="0" indent="2286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2pPr>
            <a:lvl3pPr marL="0" indent="4572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3pPr>
            <a:lvl4pPr marL="0" indent="6858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4pPr>
            <a:lvl5pPr marL="0" indent="914400" defTabSz="412750">
              <a:lnSpc>
                <a:spcPct val="100000"/>
              </a:lnSpc>
              <a:spcBef>
                <a:spcPts val="900"/>
              </a:spcBef>
              <a:buSzTx/>
              <a:buNone/>
              <a:defRPr sz="2750" spc="-28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554877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4889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0" y="2124252"/>
            <a:ext cx="4889500" cy="4128315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Small section of a modern shell bridge in Qingdao, Shandong, China with a partly cloudy sky above"/>
          <p:cNvSpPr>
            <a:spLocks noGrp="1"/>
          </p:cNvSpPr>
          <p:nvPr>
            <p:ph type="pic" idx="22"/>
          </p:nvPr>
        </p:nvSpPr>
        <p:spPr>
          <a:xfrm>
            <a:off x="4635500" y="631924"/>
            <a:ext cx="8386922" cy="55941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4889500" cy="71755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127057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5012" y="5337727"/>
            <a:ext cx="10100026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18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76962" y="2469930"/>
            <a:ext cx="10438077" cy="1918140"/>
          </a:xfrm>
          <a:prstGeom prst="rect">
            <a:avLst/>
          </a:prstGeom>
        </p:spPr>
        <p:txBody>
          <a:bodyPr/>
          <a:lstStyle>
            <a:lvl1pPr marL="319462" indent="-2349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319462" indent="-63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319462" indent="2222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319462" indent="4508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319462" indent="679450">
              <a:spcBef>
                <a:spcPts val="0"/>
              </a:spcBef>
              <a:buSzTx/>
              <a:buNone/>
              <a:defRPr sz="4250" spc="-85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19086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CF9BED0-5493-624B-B64D-11C4321F0001}" type="datetimeFigureOut">
              <a:rPr lang="en-CN" smtClean="0"/>
              <a:t>2026/8/31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425C6CE-30B4-4346-A956-21E179A5065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5634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79AB-DDBC-50BB-69A0-04609659A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153" y="731221"/>
            <a:ext cx="9077646" cy="3200400"/>
          </a:xfrm>
        </p:spPr>
        <p:txBody>
          <a:bodyPr>
            <a:normAutofit/>
          </a:bodyPr>
          <a:lstStyle/>
          <a:p>
            <a:r>
              <a:rPr lang="en-CN" b="1" dirty="0">
                <a:latin typeface="STHeiti" panose="02010600040101010101" pitchFamily="2" charset="-122"/>
                <a:ea typeface="STHeiti" panose="02010600040101010101" pitchFamily="2" charset="-122"/>
              </a:rPr>
              <a:t>生态位模型的原理与应用</a:t>
            </a:r>
            <a:r>
              <a:rPr lang="zh-CN" altLang="en-US" b="1" dirty="0">
                <a:latin typeface="STHeiti" panose="02010600040101010101" pitchFamily="2" charset="-122"/>
                <a:ea typeface="STHeiti" panose="02010600040101010101" pitchFamily="2" charset="-122"/>
              </a:rPr>
              <a:t>（二）</a:t>
            </a:r>
            <a:br>
              <a:rPr lang="en-CN" b="1" dirty="0">
                <a:latin typeface="STHeiti" panose="02010600040101010101" pitchFamily="2" charset="-122"/>
                <a:ea typeface="STHeiti" panose="02010600040101010101" pitchFamily="2" charset="-122"/>
              </a:rPr>
            </a:br>
            <a:r>
              <a:rPr lang="en-US" sz="2000" b="1" dirty="0">
                <a:latin typeface="STHeiti" panose="02010600040101010101" pitchFamily="2" charset="-122"/>
                <a:ea typeface="STHeiti" panose="02010600040101010101" pitchFamily="2" charset="-122"/>
              </a:rPr>
              <a:t>The Principles and Applications of Ecological</a:t>
            </a:r>
            <a:r>
              <a:rPr lang="zh-CN" altLang="en-US" sz="2000" b="1" dirty="0"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lang="en-US" sz="2000" b="1" dirty="0">
                <a:latin typeface="STHeiti" panose="02010600040101010101" pitchFamily="2" charset="-122"/>
                <a:ea typeface="STHeiti" panose="02010600040101010101" pitchFamily="2" charset="-122"/>
              </a:rPr>
              <a:t>Niche Model</a:t>
            </a:r>
            <a:endParaRPr lang="en-CN" b="1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7DC9-0AD8-9477-DEA1-082900318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0708" y="5486400"/>
            <a:ext cx="2914607" cy="966355"/>
          </a:xfrm>
        </p:spPr>
        <p:txBody>
          <a:bodyPr/>
          <a:lstStyle/>
          <a:p>
            <a:pPr algn="r"/>
            <a:r>
              <a:rPr lang="en-US" dirty="0" err="1"/>
              <a:t>中科院动物所</a:t>
            </a:r>
            <a:r>
              <a:rPr lang="zh-CN" altLang="en-US" dirty="0"/>
              <a:t> </a:t>
            </a:r>
            <a:r>
              <a:rPr lang="en-US" dirty="0" err="1"/>
              <a:t>乔慧捷</a:t>
            </a:r>
            <a:endParaRPr lang="en-US" dirty="0"/>
          </a:p>
          <a:p>
            <a:pPr algn="r"/>
            <a:r>
              <a:rPr lang="en-US" dirty="0"/>
              <a:t>2026-9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1296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FE11-B9DF-A2AD-03E5-C122C279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537C-E4E8-D494-2CC9-718D93C85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836" y="1402773"/>
            <a:ext cx="8229600" cy="4859922"/>
          </a:xfrm>
        </p:spPr>
        <p:txBody>
          <a:bodyPr>
            <a:normAutofit/>
          </a:bodyPr>
          <a:lstStyle/>
          <a:p>
            <a:pPr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0" i="0" dirty="0">
                <a:solidFill>
                  <a:schemeClr val="tx1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使用原始发生数据</a:t>
            </a:r>
            <a:endParaRPr lang="en-US" altLang="zh-CN" sz="3600" b="0" i="0" dirty="0">
              <a:solidFill>
                <a:schemeClr val="tx1"/>
              </a:solidFill>
              <a:effectLst/>
              <a:latin typeface="STHeiti" panose="02010600040101010101" pitchFamily="2" charset="-122"/>
              <a:ea typeface="STHeiti" panose="02010600040101010101" pitchFamily="2" charset="-122"/>
            </a:endParaRPr>
          </a:p>
          <a:p>
            <a:pPr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0" i="0" dirty="0">
                <a:solidFill>
                  <a:schemeClr val="tx1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使用栅格环境数据集</a:t>
            </a:r>
            <a:endParaRPr lang="en-US" altLang="zh-CN" sz="3600" b="0" i="0" dirty="0">
              <a:solidFill>
                <a:schemeClr val="tx1"/>
              </a:solidFill>
              <a:effectLst/>
              <a:latin typeface="STHeiti" panose="02010600040101010101" pitchFamily="2" charset="-122"/>
              <a:ea typeface="STHeiti" panose="02010600040101010101" pitchFamily="2" charset="-122"/>
            </a:endParaRPr>
          </a:p>
          <a:p>
            <a:pPr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0" i="0" dirty="0">
                <a:solidFill>
                  <a:schemeClr val="tx1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在模型中结合这两类数据流</a:t>
            </a:r>
            <a:endParaRPr lang="en-US" altLang="zh-CN" sz="3600" b="0" i="0" dirty="0">
              <a:solidFill>
                <a:schemeClr val="tx1"/>
              </a:solidFill>
              <a:effectLst/>
              <a:latin typeface="STHeiti" panose="02010600040101010101" pitchFamily="2" charset="-122"/>
              <a:ea typeface="STHeiti" panose="02010600040101010101" pitchFamily="2" charset="-122"/>
            </a:endParaRPr>
          </a:p>
          <a:p>
            <a:pPr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0" i="0" dirty="0">
                <a:solidFill>
                  <a:schemeClr val="tx1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使用该模型制作地图</a:t>
            </a:r>
            <a:endParaRPr lang="en-US" altLang="zh-CN" sz="3600" b="0" i="0" dirty="0">
              <a:solidFill>
                <a:schemeClr val="tx1"/>
              </a:solidFill>
              <a:effectLst/>
              <a:latin typeface="STHeiti" panose="02010600040101010101" pitchFamily="2" charset="-122"/>
              <a:ea typeface="STHeiti" panose="02010600040101010101" pitchFamily="2" charset="-122"/>
            </a:endParaRPr>
          </a:p>
          <a:p>
            <a:pPr algn="l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0" i="0" dirty="0">
                <a:solidFill>
                  <a:srgbClr val="C00000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地图被解释为物种“存在概率”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32B9257B-1E65-CC64-FA72-38364FE9E05A}"/>
              </a:ext>
            </a:extLst>
          </p:cNvPr>
          <p:cNvSpPr txBox="1">
            <a:spLocks/>
          </p:cNvSpPr>
          <p:nvPr/>
        </p:nvSpPr>
        <p:spPr>
          <a:xfrm>
            <a:off x="227012" y="160338"/>
            <a:ext cx="8387051" cy="10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all" spc="0" normalizeH="0" baseline="0" noProof="0" dirty="0">
                <a:ln w="3175" cmpd="sng">
                  <a:noFill/>
                </a:ln>
                <a:gradFill flip="none" rotWithShape="1">
                  <a:gsLst>
                    <a:gs pos="0">
                      <a:prstClr val="white"/>
                    </a:gs>
                    <a:gs pos="100000">
                      <a:prstClr val="white">
                        <a:lumMod val="65000"/>
                      </a:prstClr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j-cs"/>
              </a:rPr>
              <a:t>生态位建模方法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E9CA0-8C64-C96A-A557-91DDF7998964}"/>
              </a:ext>
            </a:extLst>
          </p:cNvPr>
          <p:cNvSpPr/>
          <p:nvPr/>
        </p:nvSpPr>
        <p:spPr>
          <a:xfrm>
            <a:off x="7928263" y="1808018"/>
            <a:ext cx="3643746" cy="1278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很简单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，对不？</a:t>
            </a:r>
            <a:endParaRPr kumimoji="0" lang="en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733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circle/>
      </p:transition>
    </mc:Choice>
    <mc:Fallback xmlns="">
      <p:transition xmlns:p14="http://schemas.microsoft.com/office/powerpoint/2010/main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D96E26-C023-42C4-890C-9138852FE17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726071" y="2469930"/>
            <a:ext cx="10399130" cy="1918140"/>
          </a:xfrm>
        </p:spPr>
        <p:txBody>
          <a:bodyPr>
            <a:normAutofit/>
          </a:bodyPr>
          <a:lstStyle/>
          <a:p>
            <a:r>
              <a:rPr lang="zh-CN" altLang="en-US" sz="5750" dirty="0"/>
              <a:t>显然，没那么简单！</a:t>
            </a:r>
          </a:p>
        </p:txBody>
      </p:sp>
    </p:spTree>
    <p:extLst>
      <p:ext uri="{BB962C8B-B14F-4D97-AF65-F5344CB8AC3E}">
        <p14:creationId xmlns:p14="http://schemas.microsoft.com/office/powerpoint/2010/main" val="22553993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A739E-7D86-436D-B09A-15C9DDEB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STHeiti" panose="02010600040101010101" pitchFamily="2" charset="-122"/>
                <a:ea typeface="STHeiti" panose="02010600040101010101" pitchFamily="2" charset="-122"/>
              </a:rPr>
              <a:t>我们重新回顾一下前面做的事情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EFEEBF-662D-4E44-A85B-B2421AC89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55" y="1792206"/>
            <a:ext cx="4735763" cy="23361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4817904-756D-46B3-B0D9-11EDF6F18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384" y="1792205"/>
            <a:ext cx="2881933" cy="23361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39D9F8E-0F1C-4FEB-933C-A7B615311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317" y="2214563"/>
            <a:ext cx="1795463" cy="1214438"/>
          </a:xfrm>
          <a:prstGeom prst="rect">
            <a:avLst/>
          </a:prstGeom>
        </p:spPr>
      </p:pic>
      <p:sp>
        <p:nvSpPr>
          <p:cNvPr id="8" name="十字形 7">
            <a:extLst>
              <a:ext uri="{FF2B5EF4-FFF2-40B4-BE49-F238E27FC236}">
                <a16:creationId xmlns:a16="http://schemas.microsoft.com/office/drawing/2014/main" id="{BEA9E56F-D832-499F-8D19-C4246CEE233F}"/>
              </a:ext>
            </a:extLst>
          </p:cNvPr>
          <p:cNvSpPr/>
          <p:nvPr/>
        </p:nvSpPr>
        <p:spPr>
          <a:xfrm rot="2700000">
            <a:off x="2378220" y="2068836"/>
            <a:ext cx="491739" cy="493177"/>
          </a:xfrm>
          <a:prstGeom prst="plus">
            <a:avLst>
              <a:gd name="adj" fmla="val 45060"/>
            </a:avLst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十字形 8">
            <a:extLst>
              <a:ext uri="{FF2B5EF4-FFF2-40B4-BE49-F238E27FC236}">
                <a16:creationId xmlns:a16="http://schemas.microsoft.com/office/drawing/2014/main" id="{50C4784F-21A1-46FA-8214-34C51DB40638}"/>
              </a:ext>
            </a:extLst>
          </p:cNvPr>
          <p:cNvSpPr/>
          <p:nvPr/>
        </p:nvSpPr>
        <p:spPr>
          <a:xfrm rot="2700000">
            <a:off x="1052147" y="2227482"/>
            <a:ext cx="491739" cy="493177"/>
          </a:xfrm>
          <a:prstGeom prst="plus">
            <a:avLst>
              <a:gd name="adj" fmla="val 45060"/>
            </a:avLst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十字形 9">
            <a:extLst>
              <a:ext uri="{FF2B5EF4-FFF2-40B4-BE49-F238E27FC236}">
                <a16:creationId xmlns:a16="http://schemas.microsoft.com/office/drawing/2014/main" id="{2B0A2061-5A16-4D84-B239-E1F0429EB3C7}"/>
              </a:ext>
            </a:extLst>
          </p:cNvPr>
          <p:cNvSpPr/>
          <p:nvPr/>
        </p:nvSpPr>
        <p:spPr>
          <a:xfrm rot="2700000">
            <a:off x="2326016" y="2604710"/>
            <a:ext cx="491739" cy="493177"/>
          </a:xfrm>
          <a:prstGeom prst="plus">
            <a:avLst>
              <a:gd name="adj" fmla="val 45060"/>
            </a:avLst>
          </a:prstGeom>
          <a:solidFill>
            <a:srgbClr val="C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0BCF3B8-B00B-4FF9-9A7E-5B2BA94E2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136" y="4303887"/>
            <a:ext cx="5306011" cy="221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587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EDB1F-68DE-3406-B2D2-E869D400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F48D8-5D98-6947-D570-003C6E49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>
                <a:latin typeface="STHeiti" panose="02010600040101010101" pitchFamily="2" charset="-122"/>
                <a:ea typeface="STHeiti" panose="02010600040101010101" pitchFamily="2" charset="-122"/>
              </a:rPr>
              <a:t>过滤</a:t>
            </a:r>
            <a:r>
              <a:rPr lang="zh-CN" altLang="en-US" dirty="0">
                <a:latin typeface="STHeiti" panose="02010600040101010101" pitchFamily="2" charset="-122"/>
                <a:ea typeface="STHeiti" panose="02010600040101010101" pitchFamily="2" charset="-122"/>
              </a:rPr>
              <a:t>物种发生数据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B4FE8E2-A4ED-7BC0-C438-AC920150E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74" y="1351713"/>
            <a:ext cx="3886200" cy="1760934"/>
          </a:xfrm>
          <a:prstGeom prst="rect">
            <a:avLst/>
          </a:prstGeom>
        </p:spPr>
      </p:pic>
      <p:pic>
        <p:nvPicPr>
          <p:cNvPr id="13" name="Picture 12" descr="A map of the country&#10;&#10;Description automatically generated">
            <a:extLst>
              <a:ext uri="{FF2B5EF4-FFF2-40B4-BE49-F238E27FC236}">
                <a16:creationId xmlns:a16="http://schemas.microsoft.com/office/drawing/2014/main" id="{838DA679-124C-5229-D27A-561C3DF59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381" y="1300297"/>
            <a:ext cx="3067937" cy="2350208"/>
          </a:xfrm>
          <a:prstGeom prst="rect">
            <a:avLst/>
          </a:prstGeom>
        </p:spPr>
      </p:pic>
      <p:pic>
        <p:nvPicPr>
          <p:cNvPr id="15" name="Picture 14" descr="A map of canada with red and blue colors&#10;&#10;Description automatically generated">
            <a:extLst>
              <a:ext uri="{FF2B5EF4-FFF2-40B4-BE49-F238E27FC236}">
                <a16:creationId xmlns:a16="http://schemas.microsoft.com/office/drawing/2014/main" id="{195A307B-71A2-3ED7-CD49-EA5FE4133F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441" y="3968042"/>
            <a:ext cx="3067937" cy="2350208"/>
          </a:xfrm>
          <a:prstGeom prst="rect">
            <a:avLst/>
          </a:prstGeom>
        </p:spPr>
      </p:pic>
      <p:pic>
        <p:nvPicPr>
          <p:cNvPr id="16" name="图片 5">
            <a:extLst>
              <a:ext uri="{FF2B5EF4-FFF2-40B4-BE49-F238E27FC236}">
                <a16:creationId xmlns:a16="http://schemas.microsoft.com/office/drawing/2014/main" id="{64AA2913-E93C-4C0F-57A0-A28F07B5D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674" y="1298735"/>
            <a:ext cx="2881933" cy="2336175"/>
          </a:xfrm>
          <a:prstGeom prst="rect">
            <a:avLst/>
          </a:prstGeom>
        </p:spPr>
      </p:pic>
      <p:pic>
        <p:nvPicPr>
          <p:cNvPr id="17" name="图片 6">
            <a:extLst>
              <a:ext uri="{FF2B5EF4-FFF2-40B4-BE49-F238E27FC236}">
                <a16:creationId xmlns:a16="http://schemas.microsoft.com/office/drawing/2014/main" id="{7E282A9A-B77C-3046-981A-060C16B48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875" y="3112647"/>
            <a:ext cx="1795463" cy="12144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19A264-5824-997B-0EB6-67D0613A63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474" y="4166585"/>
            <a:ext cx="4064087" cy="19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659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3E627-7975-9BC8-F720-F1565EBB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8F5E6F-B46B-890C-B8A6-FFBF0F327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>
                <a:latin typeface="STHeiti" panose="02010600040101010101" pitchFamily="2" charset="-122"/>
                <a:ea typeface="STHeiti" panose="02010600040101010101" pitchFamily="2" charset="-122"/>
              </a:rPr>
              <a:t>过滤</a:t>
            </a:r>
            <a:r>
              <a:rPr lang="zh-CN" altLang="en-US" dirty="0">
                <a:latin typeface="STHeiti" panose="02010600040101010101" pitchFamily="2" charset="-122"/>
                <a:ea typeface="STHeiti" panose="02010600040101010101" pitchFamily="2" charset="-122"/>
              </a:rPr>
              <a:t>物种发生数据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460B30-5DA1-0216-C3E2-DE4E51884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60" y="1300297"/>
            <a:ext cx="1423923" cy="43075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AB19C8-111C-0877-C2DF-37A3F1FB7C30}"/>
              </a:ext>
            </a:extLst>
          </p:cNvPr>
          <p:cNvSpPr txBox="1"/>
          <p:nvPr/>
        </p:nvSpPr>
        <p:spPr>
          <a:xfrm>
            <a:off x="2389668" y="5962768"/>
            <a:ext cx="9199083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https://nc.iucnredlist.org/redlist/resources/files/1539614211-Mapping_attribute_codes_v1.16_2018.pdf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7DF0C-9A46-4FBF-8E56-EC1F6A2F4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775" y="356558"/>
            <a:ext cx="2577517" cy="3042315"/>
          </a:xfrm>
          <a:prstGeom prst="rect">
            <a:avLst/>
          </a:prstGeom>
        </p:spPr>
      </p:pic>
      <p:pic>
        <p:nvPicPr>
          <p:cNvPr id="8" name="Picture 7" descr="A map of the country&#10;&#10;Description automatically generated">
            <a:extLst>
              <a:ext uri="{FF2B5EF4-FFF2-40B4-BE49-F238E27FC236}">
                <a16:creationId xmlns:a16="http://schemas.microsoft.com/office/drawing/2014/main" id="{CE783008-8301-3E7B-150D-74D86AB577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31" y="3295039"/>
            <a:ext cx="3067937" cy="2350208"/>
          </a:xfrm>
          <a:prstGeom prst="rect">
            <a:avLst/>
          </a:prstGeom>
        </p:spPr>
      </p:pic>
      <p:pic>
        <p:nvPicPr>
          <p:cNvPr id="9" name="Picture 8" descr="A map of canada with red and blue colors&#10;&#10;Description automatically generated">
            <a:extLst>
              <a:ext uri="{FF2B5EF4-FFF2-40B4-BE49-F238E27FC236}">
                <a16:creationId xmlns:a16="http://schemas.microsoft.com/office/drawing/2014/main" id="{5D1558F7-9B7B-3BAB-7F21-DED60A7F67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601" y="1300297"/>
            <a:ext cx="5623081" cy="43075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16BD8AD-CBD3-2406-EC2A-21A0835477A0}"/>
              </a:ext>
            </a:extLst>
          </p:cNvPr>
          <p:cNvSpPr/>
          <p:nvPr/>
        </p:nvSpPr>
        <p:spPr>
          <a:xfrm>
            <a:off x="279280" y="1693867"/>
            <a:ext cx="1081688" cy="2975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650360-640A-193F-4295-484D0699F3F5}"/>
              </a:ext>
            </a:extLst>
          </p:cNvPr>
          <p:cNvSpPr/>
          <p:nvPr/>
        </p:nvSpPr>
        <p:spPr>
          <a:xfrm>
            <a:off x="7604008" y="1011795"/>
            <a:ext cx="1922765" cy="2975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535494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4ED5D-2853-972E-4AFF-8A0BBFEC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0FA236-3F5C-9E01-8861-92D4737E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>
                <a:latin typeface="STHeiti" panose="02010600040101010101" pitchFamily="2" charset="-122"/>
                <a:ea typeface="STHeiti" panose="02010600040101010101" pitchFamily="2" charset="-122"/>
              </a:rPr>
              <a:t>过滤</a:t>
            </a:r>
            <a:r>
              <a:rPr lang="zh-CN" altLang="en-US" dirty="0">
                <a:latin typeface="STHeiti" panose="02010600040101010101" pitchFamily="2" charset="-122"/>
                <a:ea typeface="STHeiti" panose="02010600040101010101" pitchFamily="2" charset="-122"/>
              </a:rPr>
              <a:t>物种发生数据</a:t>
            </a:r>
            <a:endParaRPr lang="zh-CN" altLang="en-US" dirty="0"/>
          </a:p>
        </p:txBody>
      </p:sp>
      <p:pic>
        <p:nvPicPr>
          <p:cNvPr id="5" name="Picture 4" descr="A map of the world&#10;&#10;Description automatically generated">
            <a:extLst>
              <a:ext uri="{FF2B5EF4-FFF2-40B4-BE49-F238E27FC236}">
                <a16:creationId xmlns:a16="http://schemas.microsoft.com/office/drawing/2014/main" id="{2AC4E2BF-467E-EE9B-5EA5-94A4A5013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64" y="3968042"/>
            <a:ext cx="3067937" cy="2350208"/>
          </a:xfrm>
          <a:prstGeom prst="rect">
            <a:avLst/>
          </a:prstGeom>
        </p:spPr>
      </p:pic>
      <p:pic>
        <p:nvPicPr>
          <p:cNvPr id="13" name="Picture 12" descr="A map of the country&#10;&#10;Description automatically generated">
            <a:extLst>
              <a:ext uri="{FF2B5EF4-FFF2-40B4-BE49-F238E27FC236}">
                <a16:creationId xmlns:a16="http://schemas.microsoft.com/office/drawing/2014/main" id="{A7647CF6-D768-E8D7-D3C3-91575EA8B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64" y="1256332"/>
            <a:ext cx="3067937" cy="2350208"/>
          </a:xfrm>
          <a:prstGeom prst="rect">
            <a:avLst/>
          </a:prstGeom>
        </p:spPr>
      </p:pic>
      <p:pic>
        <p:nvPicPr>
          <p:cNvPr id="15" name="Picture 14" descr="A map of the north and south america&#10;&#10;Description automatically generated">
            <a:extLst>
              <a:ext uri="{FF2B5EF4-FFF2-40B4-BE49-F238E27FC236}">
                <a16:creationId xmlns:a16="http://schemas.microsoft.com/office/drawing/2014/main" id="{993946D5-2FC2-0AF7-9AA8-B91CB4F30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187" y="1256332"/>
            <a:ext cx="5919381" cy="506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269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578E2-EDDD-23F4-D5BE-E39E762AE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0100D-87DC-BB76-C32F-8493F4324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>
                <a:latin typeface="STHeiti" panose="02010600040101010101" pitchFamily="2" charset="-122"/>
                <a:ea typeface="STHeiti" panose="02010600040101010101" pitchFamily="2" charset="-122"/>
              </a:rPr>
              <a:t>过滤</a:t>
            </a:r>
            <a:r>
              <a:rPr lang="zh-CN" altLang="en-US" dirty="0">
                <a:latin typeface="STHeiti" panose="02010600040101010101" pitchFamily="2" charset="-122"/>
                <a:ea typeface="STHeiti" panose="02010600040101010101" pitchFamily="2" charset="-122"/>
              </a:rPr>
              <a:t>物种发生数据</a:t>
            </a:r>
            <a:endParaRPr lang="zh-CN" altLang="en-US" dirty="0"/>
          </a:p>
        </p:txBody>
      </p:sp>
      <p:pic>
        <p:nvPicPr>
          <p:cNvPr id="3" name="Picture 2" descr="A map of the world&#10;&#10;Description automatically generated">
            <a:extLst>
              <a:ext uri="{FF2B5EF4-FFF2-40B4-BE49-F238E27FC236}">
                <a16:creationId xmlns:a16="http://schemas.microsoft.com/office/drawing/2014/main" id="{C48A7342-1711-CF60-E40B-71BA322DF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15" y="1344871"/>
            <a:ext cx="5975126" cy="4973379"/>
          </a:xfrm>
          <a:prstGeom prst="rect">
            <a:avLst/>
          </a:prstGeom>
        </p:spPr>
      </p:pic>
      <p:pic>
        <p:nvPicPr>
          <p:cNvPr id="6" name="Picture 5" descr="A map with red dots and blue lines&#10;&#10;Description automatically generated">
            <a:extLst>
              <a:ext uri="{FF2B5EF4-FFF2-40B4-BE49-F238E27FC236}">
                <a16:creationId xmlns:a16="http://schemas.microsoft.com/office/drawing/2014/main" id="{B057D1E8-A578-FAC2-97EE-2B001354F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059" y="1344871"/>
            <a:ext cx="5037691" cy="499763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A12D2DF-5F87-8CA1-E925-9970A92D69B5}"/>
              </a:ext>
            </a:extLst>
          </p:cNvPr>
          <p:cNvSpPr/>
          <p:nvPr/>
        </p:nvSpPr>
        <p:spPr>
          <a:xfrm>
            <a:off x="3530010" y="2355209"/>
            <a:ext cx="1222744" cy="297517"/>
          </a:xfrm>
          <a:prstGeom prst="rect">
            <a:avLst/>
          </a:pr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9E6474-FC2D-4D39-1AD9-0B3431FE32F3}"/>
              </a:ext>
            </a:extLst>
          </p:cNvPr>
          <p:cNvCxnSpPr/>
          <p:nvPr/>
        </p:nvCxnSpPr>
        <p:spPr>
          <a:xfrm flipV="1">
            <a:off x="4805917" y="1344871"/>
            <a:ext cx="1745143" cy="611520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8BBDBD-34C4-D629-90CB-83D9A734111B}"/>
              </a:ext>
            </a:extLst>
          </p:cNvPr>
          <p:cNvCxnSpPr>
            <a:cxnSpLocks/>
          </p:cNvCxnSpPr>
          <p:nvPr/>
        </p:nvCxnSpPr>
        <p:spPr>
          <a:xfrm>
            <a:off x="4752754" y="3062177"/>
            <a:ext cx="1798306" cy="3256074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9542707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7181-818B-E22E-F790-691C54C9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9D85D-A47C-17A5-B75E-122BDBCE6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>
                <a:latin typeface="STHeiti" panose="02010600040101010101" pitchFamily="2" charset="-122"/>
                <a:ea typeface="STHeiti" panose="02010600040101010101" pitchFamily="2" charset="-122"/>
              </a:rPr>
              <a:t>过滤</a:t>
            </a:r>
            <a:r>
              <a:rPr lang="zh-CN" altLang="en-US" dirty="0">
                <a:latin typeface="STHeiti" panose="02010600040101010101" pitchFamily="2" charset="-122"/>
                <a:ea typeface="STHeiti" panose="02010600040101010101" pitchFamily="2" charset="-122"/>
              </a:rPr>
              <a:t>物种发生数据</a:t>
            </a:r>
            <a:endParaRPr lang="zh-CN" altLang="en-US" dirty="0"/>
          </a:p>
        </p:txBody>
      </p:sp>
      <p:pic>
        <p:nvPicPr>
          <p:cNvPr id="5" name="Picture 4" descr="A map with red dots and blue lines&#10;&#10;Description automatically generated">
            <a:extLst>
              <a:ext uri="{FF2B5EF4-FFF2-40B4-BE49-F238E27FC236}">
                <a16:creationId xmlns:a16="http://schemas.microsoft.com/office/drawing/2014/main" id="{E7FE53B7-1592-3B65-D4F4-3D0270883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" y="1330735"/>
            <a:ext cx="5037691" cy="4997630"/>
          </a:xfrm>
          <a:prstGeom prst="rect">
            <a:avLst/>
          </a:prstGeom>
        </p:spPr>
      </p:pic>
      <p:pic>
        <p:nvPicPr>
          <p:cNvPr id="11" name="Picture 10" descr="A map of the world&#10;&#10;Description automatically generated">
            <a:extLst>
              <a:ext uri="{FF2B5EF4-FFF2-40B4-BE49-F238E27FC236}">
                <a16:creationId xmlns:a16="http://schemas.microsoft.com/office/drawing/2014/main" id="{A568AB13-E85E-BE9F-B7C7-0E95A2679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025" y="1330735"/>
            <a:ext cx="5037691" cy="498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9771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C07A1-2FDF-5F42-6159-33F69A709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THeiti" panose="02010600040101010101" pitchFamily="2" charset="-122"/>
                <a:ea typeface="STHeiti" panose="02010600040101010101" pitchFamily="2" charset="-122"/>
              </a:rPr>
              <a:t>新的MAXENT模型</a:t>
            </a:r>
          </a:p>
        </p:txBody>
      </p:sp>
      <p:pic>
        <p:nvPicPr>
          <p:cNvPr id="15" name="Picture 14" descr="A blue world map&#10;&#10;Description automatically generated">
            <a:extLst>
              <a:ext uri="{FF2B5EF4-FFF2-40B4-BE49-F238E27FC236}">
                <a16:creationId xmlns:a16="http://schemas.microsoft.com/office/drawing/2014/main" id="{3D1FA684-D2C6-04AF-6948-2A52295AB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326" y="1256332"/>
            <a:ext cx="3886200" cy="1619250"/>
          </a:xfrm>
          <a:prstGeom prst="rect">
            <a:avLst/>
          </a:prstGeom>
        </p:spPr>
      </p:pic>
      <p:pic>
        <p:nvPicPr>
          <p:cNvPr id="17" name="Picture 16" descr="A blue world map with white light&#10;&#10;Description automatically generated">
            <a:extLst>
              <a:ext uri="{FF2B5EF4-FFF2-40B4-BE49-F238E27FC236}">
                <a16:creationId xmlns:a16="http://schemas.microsoft.com/office/drawing/2014/main" id="{94A14BFF-8E7A-B18E-58BF-3EE014403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40" y="1256332"/>
            <a:ext cx="3886200" cy="1619250"/>
          </a:xfrm>
          <a:prstGeom prst="rect">
            <a:avLst/>
          </a:prstGeom>
        </p:spPr>
      </p:pic>
      <p:pic>
        <p:nvPicPr>
          <p:cNvPr id="21" name="Picture 20" descr="A map of the world&#10;&#10;Description automatically generated">
            <a:extLst>
              <a:ext uri="{FF2B5EF4-FFF2-40B4-BE49-F238E27FC236}">
                <a16:creationId xmlns:a16="http://schemas.microsoft.com/office/drawing/2014/main" id="{7E02D8E5-979A-EE28-72C8-ABA090B23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263" y="3193808"/>
            <a:ext cx="5010002" cy="3454162"/>
          </a:xfrm>
          <a:prstGeom prst="rect">
            <a:avLst/>
          </a:prstGeom>
        </p:spPr>
      </p:pic>
      <p:pic>
        <p:nvPicPr>
          <p:cNvPr id="23" name="Picture 22" descr="A map of the north and south america&#10;&#10;Description automatically generated">
            <a:extLst>
              <a:ext uri="{FF2B5EF4-FFF2-40B4-BE49-F238E27FC236}">
                <a16:creationId xmlns:a16="http://schemas.microsoft.com/office/drawing/2014/main" id="{F2652023-B5A0-0044-116F-C1EA4E323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6" y="3193808"/>
            <a:ext cx="6275871" cy="345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623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2BD2A-E2C3-2406-D0E3-E87905B2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THeiti" panose="02010600040101010101" pitchFamily="2" charset="-122"/>
                <a:ea typeface="STHeiti" panose="02010600040101010101" pitchFamily="2" charset="-122"/>
              </a:rPr>
              <a:t>这就足够了吗</a:t>
            </a:r>
            <a:r>
              <a:rPr lang="zh-CN" altLang="en-US" dirty="0">
                <a:latin typeface="STHeiti" panose="02010600040101010101" pitchFamily="2" charset="-122"/>
                <a:ea typeface="STHeiti" panose="02010600040101010101" pitchFamily="2" charset="-122"/>
              </a:rPr>
              <a:t>？</a:t>
            </a:r>
            <a:endParaRPr lang="en-CN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1802C9-82BC-BEC5-B027-96BB16B8A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394" y="1711035"/>
            <a:ext cx="4564415" cy="3124201"/>
          </a:xfrm>
        </p:spPr>
        <p:txBody>
          <a:bodyPr>
            <a:normAutofit/>
          </a:bodyPr>
          <a:lstStyle/>
          <a:p>
            <a:r>
              <a:rPr lang="en-CN" sz="17200" dirty="0"/>
              <a:t>NO!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182210-CF7D-9518-C69F-47E2CAF00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693" y="165544"/>
            <a:ext cx="6526913" cy="652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02642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5B9BE39B-6FD2-059A-BE60-651B60658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28" y="254670"/>
            <a:ext cx="5976384" cy="43910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CB5560C-5A0D-D5F7-A65F-DB1E4F51D6F2}"/>
              </a:ext>
            </a:extLst>
          </p:cNvPr>
          <p:cNvSpPr/>
          <p:nvPr/>
        </p:nvSpPr>
        <p:spPr>
          <a:xfrm>
            <a:off x="414670" y="1722572"/>
            <a:ext cx="1031358" cy="2975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9248F3-1E6B-8018-1918-A0F329AA497A}"/>
              </a:ext>
            </a:extLst>
          </p:cNvPr>
          <p:cNvSpPr/>
          <p:nvPr/>
        </p:nvSpPr>
        <p:spPr>
          <a:xfrm>
            <a:off x="335812" y="3468440"/>
            <a:ext cx="1189075" cy="2975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D63BA0-DDA1-5226-8B1B-E93CA09C74B2}"/>
              </a:ext>
            </a:extLst>
          </p:cNvPr>
          <p:cNvSpPr/>
          <p:nvPr/>
        </p:nvSpPr>
        <p:spPr>
          <a:xfrm>
            <a:off x="3012558" y="1703965"/>
            <a:ext cx="3159642" cy="2975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803885-B0C8-9FA3-D9AD-59EA91FCBD47}"/>
              </a:ext>
            </a:extLst>
          </p:cNvPr>
          <p:cNvSpPr/>
          <p:nvPr/>
        </p:nvSpPr>
        <p:spPr>
          <a:xfrm>
            <a:off x="2290652" y="4247930"/>
            <a:ext cx="1924936" cy="2975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94FFB3B0-4956-10EC-E837-7C2C26342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115" y="743369"/>
            <a:ext cx="4765979" cy="39024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EFC898-EA7F-A06F-D8F5-75A1D9510AAD}"/>
              </a:ext>
            </a:extLst>
          </p:cNvPr>
          <p:cNvCxnSpPr/>
          <p:nvPr/>
        </p:nvCxnSpPr>
        <p:spPr>
          <a:xfrm flipV="1">
            <a:off x="4193658" y="2819400"/>
            <a:ext cx="2769560" cy="1454889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9225280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p of the world&#10;&#10;Description automatically generated">
            <a:extLst>
              <a:ext uri="{FF2B5EF4-FFF2-40B4-BE49-F238E27FC236}">
                <a16:creationId xmlns:a16="http://schemas.microsoft.com/office/drawing/2014/main" id="{0C811FD5-5FFE-ADC6-A016-C358A96BD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686"/>
            <a:ext cx="5007569" cy="3454161"/>
          </a:xfrm>
          <a:prstGeom prst="rect">
            <a:avLst/>
          </a:prstGeom>
        </p:spPr>
      </p:pic>
      <p:pic>
        <p:nvPicPr>
          <p:cNvPr id="7" name="Picture 6" descr="A map of the world&#10;&#10;Description automatically generated">
            <a:extLst>
              <a:ext uri="{FF2B5EF4-FFF2-40B4-BE49-F238E27FC236}">
                <a16:creationId xmlns:a16="http://schemas.microsoft.com/office/drawing/2014/main" id="{999F056C-9F16-8B8A-992B-66997FDB5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09" y="14686"/>
            <a:ext cx="5010002" cy="3454162"/>
          </a:xfrm>
          <a:prstGeom prst="rect">
            <a:avLst/>
          </a:prstGeom>
        </p:spPr>
      </p:pic>
      <p:pic>
        <p:nvPicPr>
          <p:cNvPr id="10" name="Picture 9" descr="A map of asia with red and blue colors&#10;&#10;Description automatically generated">
            <a:extLst>
              <a:ext uri="{FF2B5EF4-FFF2-40B4-BE49-F238E27FC236}">
                <a16:creationId xmlns:a16="http://schemas.microsoft.com/office/drawing/2014/main" id="{47E0A1FC-01C5-536D-D590-84E9CED100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43" y="3468847"/>
            <a:ext cx="5007569" cy="3389153"/>
          </a:xfrm>
          <a:prstGeom prst="rect">
            <a:avLst/>
          </a:prstGeom>
        </p:spPr>
      </p:pic>
      <p:pic>
        <p:nvPicPr>
          <p:cNvPr id="12" name="Picture 11" descr="A map of the world&#10;&#10;Description automatically generated">
            <a:extLst>
              <a:ext uri="{FF2B5EF4-FFF2-40B4-BE49-F238E27FC236}">
                <a16:creationId xmlns:a16="http://schemas.microsoft.com/office/drawing/2014/main" id="{0ADF958A-C187-E24C-22E2-2DDAB8451B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68847"/>
            <a:ext cx="4980904" cy="33744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7D2062-8D23-1C0E-3584-9DA56F3E8E95}"/>
              </a:ext>
            </a:extLst>
          </p:cNvPr>
          <p:cNvSpPr txBox="1"/>
          <p:nvPr/>
        </p:nvSpPr>
        <p:spPr>
          <a:xfrm>
            <a:off x="4497572" y="2526152"/>
            <a:ext cx="753411" cy="678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25400" tIns="25400" rIns="25400" bIns="25400" numCol="1" spcCol="38100" rtlCol="0" anchor="ctr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Helvetica Neue"/>
              </a:rPr>
              <a:t>Auto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492A9-5B51-27A6-A541-35E5A188A65D}"/>
              </a:ext>
            </a:extLst>
          </p:cNvPr>
          <p:cNvSpPr txBox="1"/>
          <p:nvPr/>
        </p:nvSpPr>
        <p:spPr>
          <a:xfrm>
            <a:off x="10028275" y="2526152"/>
            <a:ext cx="942566" cy="678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25400" tIns="25400" rIns="25400" bIns="25400" numCol="1" spcCol="38100" rtlCol="0" anchor="ctr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Helvetica Neue"/>
              </a:rPr>
              <a:t>Linear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D3C026-9A2C-A75F-C3EB-D82BF104628B}"/>
              </a:ext>
            </a:extLst>
          </p:cNvPr>
          <p:cNvSpPr txBox="1"/>
          <p:nvPr/>
        </p:nvSpPr>
        <p:spPr>
          <a:xfrm>
            <a:off x="3566898" y="5866548"/>
            <a:ext cx="1557996" cy="678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Helvetica Neue"/>
              </a:rPr>
              <a:t>Quadratic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FDCF37-A04D-7BFD-051C-339B07203163}"/>
              </a:ext>
            </a:extLst>
          </p:cNvPr>
          <p:cNvSpPr txBox="1"/>
          <p:nvPr/>
        </p:nvSpPr>
        <p:spPr>
          <a:xfrm>
            <a:off x="9433450" y="5866548"/>
            <a:ext cx="1557996" cy="678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Helvetica Neue"/>
              </a:rPr>
              <a:t>Product</a:t>
            </a:r>
            <a:endParaRPr kumimoji="0" lang="en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6277663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EE7C65B-ABEF-579C-A67D-CB2A5FEF01D1}"/>
              </a:ext>
            </a:extLst>
          </p:cNvPr>
          <p:cNvSpPr/>
          <p:nvPr/>
        </p:nvSpPr>
        <p:spPr>
          <a:xfrm>
            <a:off x="1963882" y="1104551"/>
            <a:ext cx="7855528" cy="4748646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 descr="A close-up of a grid&#10;&#10;Description automatically generated">
            <a:extLst>
              <a:ext uri="{FF2B5EF4-FFF2-40B4-BE49-F238E27FC236}">
                <a16:creationId xmlns:a16="http://schemas.microsoft.com/office/drawing/2014/main" id="{F89555B1-7425-A389-8E90-5CE1FBF94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447" y="2228518"/>
            <a:ext cx="3343145" cy="24005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60525DA-3D75-4D71-82E2-1F517EE13FC5}"/>
              </a:ext>
            </a:extLst>
          </p:cNvPr>
          <p:cNvSpPr/>
          <p:nvPr/>
        </p:nvSpPr>
        <p:spPr>
          <a:xfrm>
            <a:off x="1618584" y="1693055"/>
            <a:ext cx="1928177" cy="466794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Accuracy</a:t>
            </a:r>
            <a:endParaRPr kumimoji="0" lang="en-CN" sz="2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08A641-7521-51F4-E092-C7B1534EF9D7}"/>
              </a:ext>
            </a:extLst>
          </p:cNvPr>
          <p:cNvSpPr/>
          <p:nvPr/>
        </p:nvSpPr>
        <p:spPr>
          <a:xfrm>
            <a:off x="1102907" y="3635619"/>
            <a:ext cx="1928177" cy="466794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Sensitivity</a:t>
            </a:r>
            <a:endParaRPr kumimoji="0" lang="en-CN" sz="2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D0D49E-5347-08C2-C65C-E9F982289B8C}"/>
              </a:ext>
            </a:extLst>
          </p:cNvPr>
          <p:cNvSpPr/>
          <p:nvPr/>
        </p:nvSpPr>
        <p:spPr>
          <a:xfrm>
            <a:off x="8426965" y="1740552"/>
            <a:ext cx="1928177" cy="466794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ROC AUC</a:t>
            </a:r>
            <a:endParaRPr kumimoji="0" lang="en-CN" sz="2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2C1E15-0F64-5049-5047-3941EA3F2E2D}"/>
              </a:ext>
            </a:extLst>
          </p:cNvPr>
          <p:cNvSpPr/>
          <p:nvPr/>
        </p:nvSpPr>
        <p:spPr>
          <a:xfrm>
            <a:off x="9219091" y="3635619"/>
            <a:ext cx="1928177" cy="466794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AICc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/BIC</a:t>
            </a:r>
            <a:endParaRPr kumimoji="0" lang="en-CN" sz="2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9F7D08-D3B9-24C0-21AB-FC46335E6008}"/>
              </a:ext>
            </a:extLst>
          </p:cNvPr>
          <p:cNvSpPr/>
          <p:nvPr/>
        </p:nvSpPr>
        <p:spPr>
          <a:xfrm>
            <a:off x="5029836" y="871154"/>
            <a:ext cx="1928177" cy="466794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Specificity</a:t>
            </a:r>
            <a:endParaRPr kumimoji="0" lang="en-CN" sz="2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6FCDAE-7F9D-27D6-D71B-C7FD57F1EED8}"/>
              </a:ext>
            </a:extLst>
          </p:cNvPr>
          <p:cNvSpPr/>
          <p:nvPr/>
        </p:nvSpPr>
        <p:spPr>
          <a:xfrm>
            <a:off x="7119164" y="5546397"/>
            <a:ext cx="1928177" cy="466794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TSS</a:t>
            </a:r>
            <a:endParaRPr kumimoji="0" lang="en-CN" sz="27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C96ED-2978-AF87-C9A1-098C1A518928}"/>
              </a:ext>
            </a:extLst>
          </p:cNvPr>
          <p:cNvSpPr/>
          <p:nvPr/>
        </p:nvSpPr>
        <p:spPr>
          <a:xfrm>
            <a:off x="3277264" y="5529165"/>
            <a:ext cx="1928177" cy="466794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KAPPA</a:t>
            </a:r>
          </a:p>
        </p:txBody>
      </p:sp>
    </p:spTree>
    <p:extLst>
      <p:ext uri="{BB962C8B-B14F-4D97-AF65-F5344CB8AC3E}">
        <p14:creationId xmlns:p14="http://schemas.microsoft.com/office/powerpoint/2010/main" val="305379150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32" y="462769"/>
            <a:ext cx="7499350" cy="2657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48" y="3349063"/>
            <a:ext cx="34290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89" y="4587315"/>
            <a:ext cx="33813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7841042" y="6554796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https://en.wikipedia.org/wiki/Confusion_matrix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" name="Picture 2" descr="https://upload.wikimedia.org/wikipedia/commons/6/6b/Roccurves.png">
            <a:extLst>
              <a:ext uri="{FF2B5EF4-FFF2-40B4-BE49-F238E27FC236}">
                <a16:creationId xmlns:a16="http://schemas.microsoft.com/office/drawing/2014/main" id="{968006CE-D209-440F-9E55-FB3F4A8DD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300" y="3321324"/>
            <a:ext cx="3333477" cy="323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D31C02-BAFB-F1BD-7708-0A6C869195A7}"/>
              </a:ext>
            </a:extLst>
          </p:cNvPr>
          <p:cNvSpPr/>
          <p:nvPr/>
        </p:nvSpPr>
        <p:spPr>
          <a:xfrm>
            <a:off x="322389" y="3349840"/>
            <a:ext cx="3429000" cy="123747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D65456-9D34-0CC6-A6C2-97C754084D02}"/>
              </a:ext>
            </a:extLst>
          </p:cNvPr>
          <p:cNvSpPr txBox="1"/>
          <p:nvPr/>
        </p:nvSpPr>
        <p:spPr>
          <a:xfrm>
            <a:off x="8117489" y="131909"/>
            <a:ext cx="40191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CN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模型评估</a:t>
            </a:r>
            <a:endParaRPr kumimoji="0" lang="en-CN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99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5221" y="290623"/>
            <a:ext cx="2879869" cy="956286"/>
          </a:xfrm>
        </p:spPr>
        <p:txBody>
          <a:bodyPr>
            <a:normAutofit/>
          </a:bodyPr>
          <a:lstStyle/>
          <a:p>
            <a:r>
              <a:rPr lang="zh-CN" altLang="en-CN" sz="4800" dirty="0">
                <a:latin typeface="STHeiti" panose="02010600040101010101" pitchFamily="2" charset="-122"/>
                <a:ea typeface="STHeiti" panose="02010600040101010101" pitchFamily="2" charset="-122"/>
              </a:rPr>
              <a:t>模型评估</a:t>
            </a:r>
            <a:endParaRPr lang="zh-CN" altLang="en-US" sz="4800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Kappa vs TSS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cs typeface="Arial" panose="020B0604020202020204" pitchFamily="34" charset="0"/>
                      </a:rPr>
                      <m:t>𝐾𝑎𝑝𝑝𝑎</m:t>
                    </m:r>
                    <m:r>
                      <a:rPr lang="en-US" altLang="zh-CN" i="1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𝑑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𝑑</m:t>
                        </m:r>
                      </m:den>
                    </m:f>
                  </m:oMath>
                </a14:m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  <m:r>
                      <a:rPr lang="en-US" altLang="zh-CN" i="1">
                        <a:latin typeface="Cambria Math"/>
                        <a:cs typeface="Arial" panose="020B0604020202020204" pitchFamily="34" charset="0"/>
                      </a:rPr>
                      <m:t>𝑆𝑆</m:t>
                    </m:r>
                    <m:r>
                      <a:rPr lang="en-US" altLang="zh-CN" i="1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𝑎𝑑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𝑏𝑐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)(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i="1">
                            <a:latin typeface="Cambria Math"/>
                            <a:cs typeface="Arial" panose="020B0604020202020204" pitchFamily="34" charset="0"/>
                          </a:rPr>
                          <m:t>)</m:t>
                        </m:r>
                      </m:den>
                    </m:f>
                    <m:r>
                      <a:rPr lang="en-US" altLang="zh-CN" i="1">
                        <a:latin typeface="Cambria Math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i="1">
                        <a:latin typeface="Cambria Math"/>
                        <a:cs typeface="Arial" panose="020B0604020202020204" pitchFamily="34" charset="0"/>
                      </a:rPr>
                      <m:t>𝑆𝑒𝑛𝑠𝑖𝑡𝑖𝑣𝑖𝑡𝑦</m:t>
                    </m:r>
                    <m:r>
                      <a:rPr lang="en-US" altLang="zh-CN" i="1">
                        <a:latin typeface="Cambria Math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i="1">
                        <a:latin typeface="Cambria Math"/>
                        <a:cs typeface="Arial" panose="020B0604020202020204" pitchFamily="34" charset="0"/>
                      </a:rPr>
                      <m:t>𝑆𝑝𝑒𝑐𝑖𝑓𝑖𝑐𝑖𝑡𝑦</m:t>
                    </m:r>
                    <m:r>
                      <a:rPr lang="en-US" altLang="zh-CN" i="1">
                        <a:latin typeface="Cambria Math"/>
                        <a:cs typeface="Arial" panose="020B0604020202020204" pitchFamily="34" charset="0"/>
                      </a:rPr>
                      <m:t>−1</m:t>
                    </m:r>
                  </m:oMath>
                </a14:m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9" t="-277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088" y="608908"/>
            <a:ext cx="13906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549935" y="6237313"/>
            <a:ext cx="78488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Allouche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O., et al. (2006). Assessing the accuracy of species distribution models: prevalence, kappa and the true skill statistic (TSS). </a:t>
            </a:r>
            <a:r>
              <a: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Journal of Applied Ecology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43(6): 1223-1232.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74AFDD-0DD3-89E7-81D6-09E2F06AAB51}"/>
              </a:ext>
            </a:extLst>
          </p:cNvPr>
          <p:cNvSpPr/>
          <p:nvPr/>
        </p:nvSpPr>
        <p:spPr>
          <a:xfrm>
            <a:off x="1031358" y="3219623"/>
            <a:ext cx="7389628" cy="21109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432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280DB85-7008-4416-A50F-F3BE5A3E7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18" y="157306"/>
            <a:ext cx="5643450" cy="35934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FB8ECA4-3E90-4475-BC26-A4D70381C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852" y="357447"/>
            <a:ext cx="3581859" cy="333441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F0C2011-5CAE-4782-9AA5-47079E687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34" y="4179198"/>
            <a:ext cx="3890984" cy="24467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6EB4B01-1680-49BC-9D11-201B35233D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02" y="4193980"/>
            <a:ext cx="7205965" cy="212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80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6721B0F-0B18-3CB5-3687-8905D8ED70B8}"/>
              </a:ext>
            </a:extLst>
          </p:cNvPr>
          <p:cNvSpPr txBox="1"/>
          <p:nvPr/>
        </p:nvSpPr>
        <p:spPr>
          <a:xfrm>
            <a:off x="368595" y="6308742"/>
            <a:ext cx="6097772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https://github.com/jamiemkass/ENMeval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05CEC810-2C5A-ADA6-7F97-F8E6FD621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07" y="361213"/>
            <a:ext cx="3886200" cy="2821426"/>
          </a:xfrm>
          <a:prstGeom prst="rect">
            <a:avLst/>
          </a:prstGeom>
        </p:spPr>
      </p:pic>
      <p:pic>
        <p:nvPicPr>
          <p:cNvPr id="12" name="Picture 11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FE01A668-E90B-0D4D-A7AA-44339E5AF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07" y="3428129"/>
            <a:ext cx="3886200" cy="2635122"/>
          </a:xfrm>
          <a:prstGeom prst="rect">
            <a:avLst/>
          </a:prstGeom>
        </p:spPr>
      </p:pic>
      <p:pic>
        <p:nvPicPr>
          <p:cNvPr id="14" name="Picture 13" descr="A table of numbers on a white background&#10;&#10;Description automatically generated">
            <a:extLst>
              <a:ext uri="{FF2B5EF4-FFF2-40B4-BE49-F238E27FC236}">
                <a16:creationId xmlns:a16="http://schemas.microsoft.com/office/drawing/2014/main" id="{EC0B7E9F-FF24-3336-8BBB-69A38BFA4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013" y="361213"/>
            <a:ext cx="7420881" cy="41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5051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black dots&#10;&#10;Description automatically generated">
            <a:extLst>
              <a:ext uri="{FF2B5EF4-FFF2-40B4-BE49-F238E27FC236}">
                <a16:creationId xmlns:a16="http://schemas.microsoft.com/office/drawing/2014/main" id="{617C78BC-025A-85D3-EEE6-46D13D916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40" y="243603"/>
            <a:ext cx="5358957" cy="4093191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21597D4-53E3-7A38-4009-D8CD8B3EE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977" y="1971927"/>
            <a:ext cx="7237229" cy="464247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9B9C247-85E5-F232-A27F-8F9347BB8E7B}"/>
              </a:ext>
            </a:extLst>
          </p:cNvPr>
          <p:cNvSpPr/>
          <p:nvPr/>
        </p:nvSpPr>
        <p:spPr>
          <a:xfrm>
            <a:off x="4269858" y="4925228"/>
            <a:ext cx="1189075" cy="2975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ADA6BF-7A7E-A04C-4ADC-84EBA0F03565}"/>
              </a:ext>
            </a:extLst>
          </p:cNvPr>
          <p:cNvSpPr/>
          <p:nvPr/>
        </p:nvSpPr>
        <p:spPr>
          <a:xfrm>
            <a:off x="10123968" y="4777126"/>
            <a:ext cx="1189075" cy="29751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8975885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p of the world&#10;&#10;Description automatically generated">
            <a:extLst>
              <a:ext uri="{FF2B5EF4-FFF2-40B4-BE49-F238E27FC236}">
                <a16:creationId xmlns:a16="http://schemas.microsoft.com/office/drawing/2014/main" id="{6D02D89D-8D56-7B21-DD62-C11749BB8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435" y="1607583"/>
            <a:ext cx="6843785" cy="4740054"/>
          </a:xfrm>
          <a:prstGeom prst="rect">
            <a:avLst/>
          </a:prstGeom>
        </p:spPr>
      </p:pic>
      <p:pic>
        <p:nvPicPr>
          <p:cNvPr id="7" name="Picture 6" descr="A map of the world&#10;&#10;Description automatically generated">
            <a:extLst>
              <a:ext uri="{FF2B5EF4-FFF2-40B4-BE49-F238E27FC236}">
                <a16:creationId xmlns:a16="http://schemas.microsoft.com/office/drawing/2014/main" id="{26B0CC7B-6777-7D40-0F75-3EA180081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09" y="14686"/>
            <a:ext cx="5010002" cy="34541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B6B3C0-1580-DC86-AA5E-E557531DFD01}"/>
              </a:ext>
            </a:extLst>
          </p:cNvPr>
          <p:cNvSpPr txBox="1"/>
          <p:nvPr/>
        </p:nvSpPr>
        <p:spPr>
          <a:xfrm>
            <a:off x="4497572" y="2526152"/>
            <a:ext cx="753411" cy="678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25400" tIns="25400" rIns="25400" bIns="25400" numCol="1" spcCol="38100" rtlCol="0" anchor="ctr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Helvetica Neue"/>
              </a:rPr>
              <a:t>Auto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6BD84-2007-ED0C-F091-F120CDDF1B9A}"/>
              </a:ext>
            </a:extLst>
          </p:cNvPr>
          <p:cNvSpPr txBox="1"/>
          <p:nvPr/>
        </p:nvSpPr>
        <p:spPr>
          <a:xfrm>
            <a:off x="9504219" y="5239545"/>
            <a:ext cx="2296001" cy="678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Helvetica Neue"/>
              </a:rPr>
              <a:t>LQ + RM=0.01</a:t>
            </a:r>
          </a:p>
        </p:txBody>
      </p:sp>
    </p:spTree>
    <p:extLst>
      <p:ext uri="{BB962C8B-B14F-4D97-AF65-F5344CB8AC3E}">
        <p14:creationId xmlns:p14="http://schemas.microsoft.com/office/powerpoint/2010/main" val="248880681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5CC2-1D1B-0A8A-6643-908CDCA59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THeiti" panose="02010600040101010101" pitchFamily="2" charset="-122"/>
                <a:ea typeface="STHeiti" panose="02010600040101010101" pitchFamily="2" charset="-122"/>
              </a:rPr>
              <a:t>那么我们得到最好的模型了吗</a:t>
            </a:r>
            <a:r>
              <a:rPr lang="zh-CN" altLang="en-US" dirty="0">
                <a:latin typeface="STHeiti" panose="02010600040101010101" pitchFamily="2" charset="-122"/>
                <a:ea typeface="STHeiti" panose="02010600040101010101" pitchFamily="2" charset="-122"/>
              </a:rPr>
              <a:t>？</a:t>
            </a:r>
            <a:endParaRPr lang="en-CN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pic>
        <p:nvPicPr>
          <p:cNvPr id="6" name="Picture 5" descr="A person with glasses and a quote&#10;&#10;Description automatically generated">
            <a:extLst>
              <a:ext uri="{FF2B5EF4-FFF2-40B4-BE49-F238E27FC236}">
                <a16:creationId xmlns:a16="http://schemas.microsoft.com/office/drawing/2014/main" id="{86F67EB7-7CC7-DEE9-306C-C3014BC07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" y="1439678"/>
            <a:ext cx="10977367" cy="510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5246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0F7C-94B9-DFAF-6507-F2D39C40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4000" dirty="0">
                <a:latin typeface="STHeiti" panose="02010600040101010101" pitchFamily="2" charset="-122"/>
                <a:ea typeface="STHeiti" panose="02010600040101010101" pitchFamily="2" charset="-122"/>
              </a:rPr>
              <a:t>接下来还需要做些什么</a:t>
            </a:r>
            <a:r>
              <a:rPr lang="zh-CN" altLang="en-US" sz="4000" dirty="0">
                <a:latin typeface="STHeiti" panose="02010600040101010101" pitchFamily="2" charset="-122"/>
                <a:ea typeface="STHeiti" panose="02010600040101010101" pitchFamily="2" charset="-122"/>
              </a:rPr>
              <a:t>？</a:t>
            </a:r>
            <a:endParaRPr lang="en-CN" sz="4000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D2062-CD67-5385-B3DC-66E42C8AC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250" y="1256332"/>
            <a:ext cx="10985500" cy="4995927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N" sz="3000" dirty="0">
                <a:latin typeface="STHeiti" panose="02010600040101010101" pitchFamily="2" charset="-122"/>
                <a:ea typeface="STHeiti" panose="02010600040101010101" pitchFamily="2" charset="-122"/>
              </a:rPr>
              <a:t>更多的生态位模型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N" sz="3000" dirty="0">
                <a:latin typeface="STHeiti" panose="02010600040101010101" pitchFamily="2" charset="-122"/>
                <a:ea typeface="STHeiti" panose="02010600040101010101" pitchFamily="2" charset="-122"/>
              </a:rPr>
              <a:t>环境变量选择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N" sz="3000" dirty="0">
                <a:latin typeface="STHeiti" panose="02010600040101010101" pitchFamily="2" charset="-122"/>
                <a:ea typeface="STHeiti" panose="02010600040101010101" pitchFamily="2" charset="-122"/>
              </a:rPr>
              <a:t>如何生成伪负样本</a:t>
            </a:r>
            <a:r>
              <a:rPr lang="en-US" altLang="zh-CN" sz="3000" dirty="0">
                <a:latin typeface="STHeiti" panose="02010600040101010101" pitchFamily="2" charset="-122"/>
                <a:ea typeface="STHeiti" panose="02010600040101010101" pitchFamily="2" charset="-122"/>
              </a:rPr>
              <a:t>/</a:t>
            </a:r>
            <a:r>
              <a:rPr lang="zh-CN" altLang="en-CN" sz="3000" dirty="0">
                <a:latin typeface="STHeiti" panose="02010600040101010101" pitchFamily="2" charset="-122"/>
                <a:ea typeface="STHeiti" panose="02010600040101010101" pitchFamily="2" charset="-122"/>
              </a:rPr>
              <a:t>背景点</a:t>
            </a:r>
            <a:endParaRPr lang="en-US" altLang="zh-CN" sz="3000" dirty="0">
              <a:latin typeface="STHeiti" panose="02010600040101010101" pitchFamily="2" charset="-122"/>
              <a:ea typeface="STHeiti" panose="02010600040101010101" pitchFamily="2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N" sz="3000" dirty="0">
                <a:latin typeface="STHeiti" panose="02010600040101010101" pitchFamily="2" charset="-122"/>
                <a:ea typeface="STHeiti" panose="02010600040101010101" pitchFamily="2" charset="-122"/>
              </a:rPr>
              <a:t>缓冲区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N" sz="3000" dirty="0">
                <a:latin typeface="STHeiti" panose="02010600040101010101" pitchFamily="2" charset="-122"/>
                <a:ea typeface="STHeiti" panose="02010600040101010101" pitchFamily="2" charset="-122"/>
              </a:rPr>
              <a:t>等等……</a:t>
            </a:r>
          </a:p>
        </p:txBody>
      </p:sp>
    </p:spTree>
    <p:extLst>
      <p:ext uri="{BB962C8B-B14F-4D97-AF65-F5344CB8AC3E}">
        <p14:creationId xmlns:p14="http://schemas.microsoft.com/office/powerpoint/2010/main" val="364088366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8F9D-8411-75AC-C514-0D7F3D787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35" y="165677"/>
            <a:ext cx="10985500" cy="717550"/>
          </a:xfrm>
        </p:spPr>
        <p:txBody>
          <a:bodyPr>
            <a:normAutofit/>
          </a:bodyPr>
          <a:lstStyle/>
          <a:p>
            <a:r>
              <a:rPr lang="en-CN" sz="4000" dirty="0">
                <a:latin typeface="STHeiti" panose="02010600040101010101" pitchFamily="2" charset="-122"/>
                <a:ea typeface="STHeiti" panose="02010600040101010101" pitchFamily="2" charset="-122"/>
              </a:rPr>
              <a:t>流行的生态位模型</a:t>
            </a:r>
            <a:r>
              <a:rPr lang="en-US" altLang="zh-CN" sz="4000" dirty="0">
                <a:latin typeface="STHeiti" panose="02010600040101010101" pitchFamily="2" charset="-122"/>
                <a:ea typeface="STHeiti" panose="02010600040101010101" pitchFamily="2" charset="-122"/>
              </a:rPr>
              <a:t>/</a:t>
            </a:r>
            <a:r>
              <a:rPr lang="zh-CN" altLang="en-US" sz="4000" dirty="0">
                <a:latin typeface="STHeiti" panose="02010600040101010101" pitchFamily="2" charset="-122"/>
                <a:ea typeface="STHeiti" panose="02010600040101010101" pitchFamily="2" charset="-122"/>
              </a:rPr>
              <a:t>物种分布模型</a:t>
            </a:r>
            <a:endParaRPr lang="en-CN" sz="4000" dirty="0"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B00743B-2CF9-8D37-22DB-0958637179CC}"/>
              </a:ext>
            </a:extLst>
          </p:cNvPr>
          <p:cNvGraphicFramePr>
            <a:graphicFrameLocks noGrp="1"/>
          </p:cNvGraphicFramePr>
          <p:nvPr/>
        </p:nvGraphicFramePr>
        <p:xfrm>
          <a:off x="131135" y="1128741"/>
          <a:ext cx="11929731" cy="5662255"/>
        </p:xfrm>
        <a:graphic>
          <a:graphicData uri="http://schemas.openxmlformats.org/drawingml/2006/table">
            <a:tbl>
              <a:tblPr firstRow="1" firstCol="1" bandRow="1"/>
              <a:tblGrid>
                <a:gridCol w="3976577">
                  <a:extLst>
                    <a:ext uri="{9D8B030D-6E8A-4147-A177-3AD203B41FA5}">
                      <a16:colId xmlns:a16="http://schemas.microsoft.com/office/drawing/2014/main" val="2594439312"/>
                    </a:ext>
                  </a:extLst>
                </a:gridCol>
                <a:gridCol w="3976577">
                  <a:extLst>
                    <a:ext uri="{9D8B030D-6E8A-4147-A177-3AD203B41FA5}">
                      <a16:colId xmlns:a16="http://schemas.microsoft.com/office/drawing/2014/main" val="1751551953"/>
                    </a:ext>
                  </a:extLst>
                </a:gridCol>
                <a:gridCol w="3976577">
                  <a:extLst>
                    <a:ext uri="{9D8B030D-6E8A-4147-A177-3AD203B41FA5}">
                      <a16:colId xmlns:a16="http://schemas.microsoft.com/office/drawing/2014/main" val="4209456063"/>
                    </a:ext>
                  </a:extLst>
                </a:gridCol>
              </a:tblGrid>
              <a:tr h="2971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800" kern="100" dirty="0">
                          <a:effectLst/>
                        </a:rPr>
                        <a:t>Model</a:t>
                      </a:r>
                      <a:endParaRPr lang="en-C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800" kern="100" dirty="0">
                          <a:effectLst/>
                        </a:rPr>
                        <a:t>Algorithm</a:t>
                      </a:r>
                      <a:endParaRPr lang="en-C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800" kern="100" dirty="0">
                          <a:effectLst/>
                        </a:rPr>
                        <a:t>Key Features</a:t>
                      </a:r>
                      <a:endParaRPr lang="en-CN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1378729306"/>
                  </a:ext>
                </a:extLst>
              </a:tr>
              <a:tr h="556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 dirty="0">
                          <a:effectLst/>
                        </a:rPr>
                        <a:t>Maxent</a:t>
                      </a:r>
                      <a:endParaRPr lang="en-CN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Maximum Entropy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 dirty="0">
                          <a:effectLst/>
                        </a:rPr>
                        <a:t>- Presence-only data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Robust and user-friendly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Handles complex interactions well</a:t>
                      </a:r>
                      <a:endParaRPr lang="en-CN" sz="1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236336401"/>
                  </a:ext>
                </a:extLst>
              </a:tr>
              <a:tr h="556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GLM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Generalized Linear Model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>
                          <a:effectLst/>
                        </a:rPr>
                        <a:t>- Regression-based</a:t>
                      </a:r>
                      <a:br>
                        <a:rPr lang="en-CN" sz="1000" kern="100">
                          <a:effectLst/>
                        </a:rPr>
                      </a:br>
                      <a:r>
                        <a:rPr lang="en-CN" sz="1000" kern="100">
                          <a:effectLst/>
                        </a:rPr>
                        <a:t>- Models linear relationships</a:t>
                      </a:r>
                      <a:br>
                        <a:rPr lang="en-CN" sz="1000" kern="100">
                          <a:effectLst/>
                        </a:rPr>
                      </a:br>
                      <a:r>
                        <a:rPr lang="en-CN" sz="1000" kern="100">
                          <a:effectLst/>
                        </a:rPr>
                        <a:t>- Flexible and interpretable</a:t>
                      </a:r>
                      <a:endParaRPr lang="en-CN" sz="1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3883387264"/>
                  </a:ext>
                </a:extLst>
              </a:tr>
              <a:tr h="3677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 dirty="0">
                          <a:effectLst/>
                        </a:rPr>
                        <a:t>GAM</a:t>
                      </a:r>
                      <a:endParaRPr lang="en-CN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Generalized Additive Model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>
                          <a:effectLst/>
                        </a:rPr>
                        <a:t>- Nonlinear extensions of GLM</a:t>
                      </a:r>
                      <a:br>
                        <a:rPr lang="en-CN" sz="1000" kern="100">
                          <a:effectLst/>
                        </a:rPr>
                      </a:br>
                      <a:r>
                        <a:rPr lang="en-CN" sz="1000" kern="100">
                          <a:effectLst/>
                        </a:rPr>
                        <a:t>- Captures complex environmental interactions</a:t>
                      </a:r>
                      <a:endParaRPr lang="en-CN" sz="1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3022703023"/>
                  </a:ext>
                </a:extLst>
              </a:tr>
              <a:tr h="556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BRT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 dirty="0">
                          <a:effectLst/>
                        </a:rPr>
                        <a:t>Boosted Regression Trees</a:t>
                      </a:r>
                      <a:endParaRPr lang="en-CN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 dirty="0">
                          <a:effectLst/>
                        </a:rPr>
                        <a:t>- Ensemble of regression trees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Handles complex and large datasets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High predictive power</a:t>
                      </a:r>
                      <a:endParaRPr lang="en-CN" sz="1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1837983656"/>
                  </a:ext>
                </a:extLst>
              </a:tr>
              <a:tr h="3677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Random Forest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Ensemble Decision Trees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 dirty="0">
                          <a:effectLst/>
                        </a:rPr>
                        <a:t>- Builds multiple decision trees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Effective for nonlinear and high-dimensional data</a:t>
                      </a:r>
                      <a:endParaRPr lang="en-CN" sz="1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146174443"/>
                  </a:ext>
                </a:extLst>
              </a:tr>
              <a:tr h="556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ENFA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 dirty="0">
                          <a:effectLst/>
                        </a:rPr>
                        <a:t>Ecological Niche Factor Analysis</a:t>
                      </a:r>
                      <a:endParaRPr lang="en-CN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 dirty="0">
                          <a:effectLst/>
                        </a:rPr>
                        <a:t>- Presence-only data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Calculates niche in environmental space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Good for limited data</a:t>
                      </a:r>
                      <a:endParaRPr lang="en-CN" sz="1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2781715373"/>
                  </a:ext>
                </a:extLst>
              </a:tr>
              <a:tr h="556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BIOCLIM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 dirty="0">
                          <a:effectLst/>
                        </a:rPr>
                        <a:t>Bioclimatic Envelope Model</a:t>
                      </a:r>
                      <a:endParaRPr lang="en-CN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 dirty="0">
                          <a:effectLst/>
                        </a:rPr>
                        <a:t>- Bioclimatic variables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Simple and interpretable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Best for preliminary analyses</a:t>
                      </a:r>
                      <a:endParaRPr lang="en-CN" sz="1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2467248933"/>
                  </a:ext>
                </a:extLst>
              </a:tr>
              <a:tr h="3677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GARP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 dirty="0">
                          <a:effectLst/>
                        </a:rPr>
                        <a:t>Genetic Algorithm</a:t>
                      </a:r>
                      <a:endParaRPr lang="en-CN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 dirty="0">
                          <a:effectLst/>
                        </a:rPr>
                        <a:t>- Uses genetic algorithms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Builds rule sets from environmental variables</a:t>
                      </a:r>
                      <a:endParaRPr lang="en-CN" sz="1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565408424"/>
                  </a:ext>
                </a:extLst>
              </a:tr>
              <a:tr h="556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MARS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 dirty="0">
                          <a:effectLst/>
                        </a:rPr>
                        <a:t>Multivariate Adaptive Regression Splines</a:t>
                      </a:r>
                      <a:endParaRPr lang="en-CN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 dirty="0">
                          <a:effectLst/>
                        </a:rPr>
                        <a:t>- Flexible regression model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Handles nonlinear interactions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Suitable for small datasets</a:t>
                      </a:r>
                      <a:endParaRPr lang="en-CN" sz="1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636728682"/>
                  </a:ext>
                </a:extLst>
              </a:tr>
              <a:tr h="3677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CLIMEX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 dirty="0">
                          <a:effectLst/>
                        </a:rPr>
                        <a:t>Mechanistic Model</a:t>
                      </a:r>
                      <a:endParaRPr lang="en-CN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 dirty="0">
                          <a:effectLst/>
                        </a:rPr>
                        <a:t>- Uses climatic and physiological data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Often applied in agriculture and invasion studies</a:t>
                      </a:r>
                      <a:endParaRPr lang="en-CN" sz="1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184611573"/>
                  </a:ext>
                </a:extLst>
              </a:tr>
              <a:tr h="556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>
                          <a:effectLst/>
                        </a:rPr>
                        <a:t>SDM Frameworks</a:t>
                      </a:r>
                      <a:endParaRPr lang="en-CN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600" kern="100" dirty="0">
                          <a:effectLst/>
                        </a:rPr>
                        <a:t>Various (e.g., Biomod2, Wallace, dismo)</a:t>
                      </a:r>
                      <a:endParaRPr lang="en-CN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CN" sz="1000" kern="100" dirty="0">
                          <a:effectLst/>
                        </a:rPr>
                        <a:t>- Combines multiple SDMs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Ensemble modeling</a:t>
                      </a:r>
                      <a:br>
                        <a:rPr lang="en-CN" sz="1000" kern="100" dirty="0">
                          <a:effectLst/>
                        </a:rPr>
                      </a:br>
                      <a:r>
                        <a:rPr lang="en-CN" sz="1000" kern="100" dirty="0">
                          <a:effectLst/>
                        </a:rPr>
                        <a:t>- Increases robustness and accuracy</a:t>
                      </a:r>
                      <a:endParaRPr lang="en-CN" sz="1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290" marR="34290" marT="0" marB="0"/>
                </a:tc>
                <a:extLst>
                  <a:ext uri="{0D108BD9-81ED-4DB2-BD59-A6C34878D82A}">
                    <a16:rowId xmlns:a16="http://schemas.microsoft.com/office/drawing/2014/main" val="3999820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2114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map of the world&#10;&#10;Description automatically generated">
            <a:extLst>
              <a:ext uri="{FF2B5EF4-FFF2-40B4-BE49-F238E27FC236}">
                <a16:creationId xmlns:a16="http://schemas.microsoft.com/office/drawing/2014/main" id="{7DF5DADB-0BDE-8DBD-1E68-1AE63BCC3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799" y="145904"/>
            <a:ext cx="4740201" cy="32830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7AFDC7-DDD7-8EBA-0FBC-E1DB75985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THeiti" panose="02010600040101010101" pitchFamily="2" charset="-122"/>
                <a:ea typeface="STHeiti" panose="02010600040101010101" pitchFamily="2" charset="-122"/>
              </a:rPr>
              <a:t>环境变量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C5BB1-4CB6-3768-2B3F-93799685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250" y="1169582"/>
            <a:ext cx="7254211" cy="5082677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 = Annual Mean Temperature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BIO2 = Mean Diurnal Range (Mean of monthly (max temp - min temp))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BIO3 = </a:t>
            </a:r>
            <a:r>
              <a:rPr lang="en-US" dirty="0" err="1"/>
              <a:t>Isothermality</a:t>
            </a:r>
            <a:r>
              <a:rPr lang="en-US" dirty="0"/>
              <a:t> (BIO2/BIO7) (×100)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BIO4 = Temperature Seasonality (standard deviation ×100)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BIO5 = Max Temperature of Warmest Month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BIO6 = Min Temperature of Coldest Month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BIO7 = Temperature Annual Range (BIO5-BIO6)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BIO8 = Mean Temperature of Wettest Quarter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BIO9 = Mean Temperature of Driest Quarter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BIO10 = Mean Temperature of Warmest Quarter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BIO11 = Mean Temperature of Coldest Quarter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BIO12 = Annual Precipitation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BIO13 = Precipitation of Wettest Month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BIO14 = Precipitation of Driest Month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BIO15 = Precipitation Seasonality (Coefficient of Variation)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BIO16 = Precipitation of Wettest Quarter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BIO17 = Precipitation of Driest Quarter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BIO18 = Precipitation of Warmest Quarter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BIO19 = Precipitation of Coldest Quarter</a:t>
            </a:r>
          </a:p>
        </p:txBody>
      </p:sp>
      <p:pic>
        <p:nvPicPr>
          <p:cNvPr id="8" name="Picture 7" descr="A map of the world&#10;&#10;Description automatically generated">
            <a:extLst>
              <a:ext uri="{FF2B5EF4-FFF2-40B4-BE49-F238E27FC236}">
                <a16:creationId xmlns:a16="http://schemas.microsoft.com/office/drawing/2014/main" id="{4C4338B6-47BA-D4DF-9EA9-51CA826E9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799" y="3440519"/>
            <a:ext cx="4740201" cy="32519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60C7F6-ECDA-D066-0F8F-D7DE80B61092}"/>
              </a:ext>
            </a:extLst>
          </p:cNvPr>
          <p:cNvSpPr txBox="1"/>
          <p:nvPr/>
        </p:nvSpPr>
        <p:spPr>
          <a:xfrm>
            <a:off x="10280395" y="2257001"/>
            <a:ext cx="1808824" cy="10110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Helvetica Neue"/>
              </a:rPr>
              <a:t>19 variables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1757BF-53C5-F4BA-B770-FDFD8E7F0064}"/>
              </a:ext>
            </a:extLst>
          </p:cNvPr>
          <p:cNvSpPr txBox="1"/>
          <p:nvPr/>
        </p:nvSpPr>
        <p:spPr>
          <a:xfrm>
            <a:off x="10280395" y="5706298"/>
            <a:ext cx="1702498" cy="678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Helvetica Neue"/>
              </a:rPr>
              <a:t>1 &amp; 12 only</a:t>
            </a:r>
          </a:p>
        </p:txBody>
      </p:sp>
    </p:spTree>
    <p:extLst>
      <p:ext uri="{BB962C8B-B14F-4D97-AF65-F5344CB8AC3E}">
        <p14:creationId xmlns:p14="http://schemas.microsoft.com/office/powerpoint/2010/main" val="203398548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6553E-D056-FF2B-D467-DE6C607E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map of the world&#10;&#10;Description automatically generated">
            <a:extLst>
              <a:ext uri="{FF2B5EF4-FFF2-40B4-BE49-F238E27FC236}">
                <a16:creationId xmlns:a16="http://schemas.microsoft.com/office/drawing/2014/main" id="{4F6AC578-3A59-4647-2305-8E47959AF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800" y="3389982"/>
            <a:ext cx="4660079" cy="31703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3BDB1C-CAB6-F929-CFA0-510603DDA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THeiti" panose="02010600040101010101" pitchFamily="2" charset="-122"/>
                <a:ea typeface="STHeiti" panose="02010600040101010101" pitchFamily="2" charset="-122"/>
              </a:rPr>
              <a:t>背景点数目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CC3433-4E2B-E884-2807-78C6E675671D}"/>
              </a:ext>
            </a:extLst>
          </p:cNvPr>
          <p:cNvSpPr txBox="1"/>
          <p:nvPr/>
        </p:nvSpPr>
        <p:spPr>
          <a:xfrm>
            <a:off x="10280395" y="5706298"/>
            <a:ext cx="1702498" cy="678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Helvetica Neue"/>
              </a:rPr>
              <a:t>100 bg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9C627B9-983C-E37C-1199-D2A54DD25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00" y="1357336"/>
            <a:ext cx="5495899" cy="4511836"/>
          </a:xfrm>
          <a:prstGeom prst="rect">
            <a:avLst/>
          </a:prstGeom>
        </p:spPr>
      </p:pic>
      <p:pic>
        <p:nvPicPr>
          <p:cNvPr id="12" name="Picture 11" descr="A map of the world&#10;&#10;Description automatically generated">
            <a:extLst>
              <a:ext uri="{FF2B5EF4-FFF2-40B4-BE49-F238E27FC236}">
                <a16:creationId xmlns:a16="http://schemas.microsoft.com/office/drawing/2014/main" id="{F290C2B9-4D2E-30A8-546D-9841CE600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800" y="165484"/>
            <a:ext cx="4740201" cy="32519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B82B38-6BEF-1C1D-586E-5C52987A0D37}"/>
              </a:ext>
            </a:extLst>
          </p:cNvPr>
          <p:cNvSpPr txBox="1"/>
          <p:nvPr/>
        </p:nvSpPr>
        <p:spPr>
          <a:xfrm>
            <a:off x="10280396" y="2431263"/>
            <a:ext cx="1702498" cy="6786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sym typeface="Helvetica Neue"/>
              </a:rPr>
              <a:t>10000 bg</a:t>
            </a:r>
          </a:p>
        </p:txBody>
      </p:sp>
    </p:spTree>
    <p:extLst>
      <p:ext uri="{BB962C8B-B14F-4D97-AF65-F5344CB8AC3E}">
        <p14:creationId xmlns:p14="http://schemas.microsoft.com/office/powerpoint/2010/main" val="105744482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B123-9A60-15C4-B5B1-9A69FA8F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sz="4000" dirty="0">
                <a:latin typeface="STHeiti" panose="02010600040101010101" pitchFamily="2" charset="-122"/>
                <a:ea typeface="STHeiti" panose="02010600040101010101" pitchFamily="2" charset="-122"/>
              </a:rPr>
              <a:t>核心信息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491DF-0A2B-3946-B460-6425A2FA6D88}"/>
              </a:ext>
            </a:extLst>
          </p:cNvPr>
          <p:cNvSpPr txBox="1"/>
          <p:nvPr/>
        </p:nvSpPr>
        <p:spPr>
          <a:xfrm>
            <a:off x="358701" y="1372309"/>
            <a:ext cx="7924062" cy="4996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生态位模型概念上简单，但在实践中复杂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生态位模型不仅限于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Maxent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模型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不存在万能解决方案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生态学洞察力至关重要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数据是核心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生态位模型只是生态研究中的一个工具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谨慎选择环境变量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模型评估至关重要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推荐使用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R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Heiti" panose="02010600040101010101" pitchFamily="2" charset="-122"/>
                <a:ea typeface="STHeiti" panose="02010600040101010101" pitchFamily="2" charset="-122"/>
                <a:cs typeface="+mn-cs"/>
              </a:rPr>
              <a:t>语言进行生态位模型分析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Heiti" panose="02010600040101010101" pitchFamily="2" charset="-122"/>
              <a:ea typeface="STHeiti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50522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Macintosh PowerPoint</Application>
  <PresentationFormat>Widescreen</PresentationFormat>
  <Paragraphs>121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STHeiti</vt:lpstr>
      <vt:lpstr>Aptos</vt:lpstr>
      <vt:lpstr>Arial</vt:lpstr>
      <vt:lpstr>Cambria Math</vt:lpstr>
      <vt:lpstr>Century Gothic</vt:lpstr>
      <vt:lpstr>Helvetica Neue Medium</vt:lpstr>
      <vt:lpstr>Mesh</vt:lpstr>
      <vt:lpstr>生态位模型的原理与应用（二） The Principles and Applications of Ecological Niche Model</vt:lpstr>
      <vt:lpstr>PowerPoint Presentation</vt:lpstr>
      <vt:lpstr>PowerPoint Presentation</vt:lpstr>
      <vt:lpstr>我们重新回顾一下前面做的事情</vt:lpstr>
      <vt:lpstr>过滤物种发生数据</vt:lpstr>
      <vt:lpstr>过滤物种发生数据</vt:lpstr>
      <vt:lpstr>过滤物种发生数据</vt:lpstr>
      <vt:lpstr>过滤物种发生数据</vt:lpstr>
      <vt:lpstr>过滤物种发生数据</vt:lpstr>
      <vt:lpstr>新的MAXENT模型</vt:lpstr>
      <vt:lpstr>这就足够了吗？</vt:lpstr>
      <vt:lpstr>PowerPoint Presentation</vt:lpstr>
      <vt:lpstr>PowerPoint Presentation</vt:lpstr>
      <vt:lpstr>PowerPoint Presentation</vt:lpstr>
      <vt:lpstr>PowerPoint Presentation</vt:lpstr>
      <vt:lpstr>模型评估</vt:lpstr>
      <vt:lpstr>PowerPoint Presentation</vt:lpstr>
      <vt:lpstr>PowerPoint Presentation</vt:lpstr>
      <vt:lpstr>PowerPoint Presentation</vt:lpstr>
      <vt:lpstr>PowerPoint Presentation</vt:lpstr>
      <vt:lpstr>那么我们得到最好的模型了吗？</vt:lpstr>
      <vt:lpstr>接下来还需要做些什么？</vt:lpstr>
      <vt:lpstr>流行的生态位模型/物种分布模型</vt:lpstr>
      <vt:lpstr>环境变量</vt:lpstr>
      <vt:lpstr>背景点数目</vt:lpstr>
      <vt:lpstr>核心信息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Huijie Qiao</dc:creator>
  <cp:lastModifiedBy>Huijie Qiao</cp:lastModifiedBy>
  <cp:revision>1</cp:revision>
  <dcterms:created xsi:type="dcterms:W3CDTF">2026-08-31T14:19:42Z</dcterms:created>
  <dcterms:modified xsi:type="dcterms:W3CDTF">2026-08-31T14:20:20Z</dcterms:modified>
</cp:coreProperties>
</file>