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D4385-B529-60A6-E164-D274E528C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C97CA-3865-9BC7-0339-1B4A987FC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8D56B-BF63-C5CB-7EC9-3F1B5F89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1B672-65BC-A847-8A58-187483752094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320B5-3A9C-812E-84EA-0571E62A3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8836F-699B-00CC-B1E8-14C3B57E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2E4ED-8FB7-DA48-B059-66DEDE5F1F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1903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54095-B027-9917-0B13-37AF89E2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44BA2-047F-76D3-F3D6-CF57B51FF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1DB72-3DCA-6400-C01A-00261DB2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1B672-65BC-A847-8A58-187483752094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13FF4-7D12-E37B-B520-005E8E7A9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F8AAD-192E-A76B-E9A0-CBEB67699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2E4ED-8FB7-DA48-B059-66DEDE5F1F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55369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41C2-6745-D9CD-96CE-C9E01477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21C10-1F3C-78C0-F3BF-DB1E943F5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1C8F8-49A6-8ABB-4546-1146226F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1B672-65BC-A847-8A58-187483752094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289C4-5864-D918-9FFC-10FEA688C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DC993-EA5E-9255-9F1A-7911ED7D0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2E4ED-8FB7-DA48-B059-66DEDE5F1F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51647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1953-2FC4-ABD4-6C6A-6E975C04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84F47-FCB8-CCAA-27E2-FFB3C9C40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CFBB5-A578-7D33-2B57-00CE9C6F8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1E577-1A31-3F7E-FA00-F675799DB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1B672-65BC-A847-8A58-187483752094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8E155-AEDA-368D-C3B2-04F2E9F5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79D63-83C1-2C23-C36E-8BC197F9F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2E4ED-8FB7-DA48-B059-66DEDE5F1F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76863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E927-CCE4-5B3A-0A1B-F9018C679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D16B0-BB81-94F3-C901-1B102297F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6628A-977C-2773-DC43-770CD10E7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BC7B28-F889-FE76-E730-FCBE320CC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46EE7-2086-BC83-5D45-B96AAE6D0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E78C2-4163-5091-B44C-161C5DBE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1B672-65BC-A847-8A58-187483752094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2940A2-63A7-6B6F-9336-3F1995AD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39B4C-B4EC-0078-D87F-55C0128F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2E4ED-8FB7-DA48-B059-66DEDE5F1F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6374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69094-5AFE-B5FD-F86A-17A2AD9F4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DE958-7237-1229-1532-4EF23D466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1B672-65BC-A847-8A58-187483752094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07227-C6E6-D959-8769-545887ABC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7AE5A-EFD9-E91B-8EAD-A32062FA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2E4ED-8FB7-DA48-B059-66DEDE5F1F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775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CF4BF-1081-7C5E-5F88-3DDF0C87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1B672-65BC-A847-8A58-187483752094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95C8F5-1204-2D9D-6615-7472E44E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C35E0-D5E8-284D-B936-46AE20AC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2E4ED-8FB7-DA48-B059-66DEDE5F1F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39163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8E187-5AAA-1607-0F93-A43F0D9E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53C32-BC44-D783-11F4-369A00FD6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7536B-76AE-A0EA-8002-2BB0D2B65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BB39D-0314-F585-7562-600AC16DA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1B672-65BC-A847-8A58-187483752094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2124D-3755-6D96-E1F1-A90DB4475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4ABAC-72FC-537F-DE4F-9F6C2BBC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2E4ED-8FB7-DA48-B059-66DEDE5F1F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08055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0B00-E4AF-B67C-C966-9F7E1450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13F4E-3514-BB3B-1CEC-45244BA54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8914B-393D-A0DA-F813-0A6568F0F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1980B-7669-436B-FB95-A36BFF2EA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1B672-65BC-A847-8A58-187483752094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FCEF6-36A0-7232-B4D4-3EF54779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473B3-1D68-48B5-2C8C-3687A0B6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2E4ED-8FB7-DA48-B059-66DEDE5F1F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7030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5589-23BC-C561-8B57-103DFBFFF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E91BCF-CFF2-FD8A-3AB3-153A0A554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F4EBF-B3E3-E80A-A420-FAB343FF3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1B672-65BC-A847-8A58-187483752094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8CFEC-B8CD-4C53-6575-952682CB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9E1A-C730-AF86-4F7E-5E1512FAE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2E4ED-8FB7-DA48-B059-66DEDE5F1F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8575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9BFB1E-B1BF-09CF-60CD-F5884883A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A1334-C4D8-6AC1-EE72-D38DFD599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27A9A-B3F7-1205-B65A-C533DB00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1B672-65BC-A847-8A58-187483752094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30104-3916-3FBA-DD35-85928C6C8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DA79D-B348-DCDE-5557-306A037BB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2E4ED-8FB7-DA48-B059-66DEDE5F1F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6770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92C486-C66C-D2BD-5E72-4BBA4A175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9441D-EB68-863D-33E9-2C5EF80A1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CCCC-E5D4-C238-8C0B-3025595A1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1B672-65BC-A847-8A58-187483752094}" type="datetimeFigureOut">
              <a:rPr lang="en-CN" smtClean="0"/>
              <a:t>2026/9/15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688F6-1BE5-1809-A268-AE87554AB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5C11E-478E-47D2-A901-445610800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2E4ED-8FB7-DA48-B059-66DEDE5F1F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835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620C4-59A0-11E0-A53C-9F28477BB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扩散在SDM中的应用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9AC00-5B31-3E0E-D7BA-224001FED3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乔慧捷</a:t>
            </a:r>
          </a:p>
          <a:p>
            <a:r>
              <a:rPr lang="en-US" altLang="zh-CN" dirty="0"/>
              <a:t>2026-9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78447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5">
            <a:extLst>
              <a:ext uri="{FF2B5EF4-FFF2-40B4-BE49-F238E27FC236}">
                <a16:creationId xmlns:a16="http://schemas.microsoft.com/office/drawing/2014/main" id="{E0F9EF48-1389-4127-047A-FAB2ADDC9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83" y="1515401"/>
            <a:ext cx="4652266" cy="2311317"/>
          </a:xfrm>
          <a:prstGeom prst="rect">
            <a:avLst/>
          </a:prstGeom>
        </p:spPr>
      </p:pic>
      <p:sp>
        <p:nvSpPr>
          <p:cNvPr id="5" name="文本框 17">
            <a:extLst>
              <a:ext uri="{FF2B5EF4-FFF2-40B4-BE49-F238E27FC236}">
                <a16:creationId xmlns:a16="http://schemas.microsoft.com/office/drawing/2014/main" id="{239F02DE-25B4-5D4F-F0DD-0A49D6E24656}"/>
              </a:ext>
            </a:extLst>
          </p:cNvPr>
          <p:cNvSpPr txBox="1"/>
          <p:nvPr/>
        </p:nvSpPr>
        <p:spPr>
          <a:xfrm>
            <a:off x="2713854" y="3948339"/>
            <a:ext cx="2666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(Jonsson et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al, 2016, Trends Ecol. Evol.)</a:t>
            </a:r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09C79637-ECD9-C98F-CF4A-0BC99272C33D}"/>
              </a:ext>
            </a:extLst>
          </p:cNvPr>
          <p:cNvGrpSpPr/>
          <p:nvPr/>
        </p:nvGrpSpPr>
        <p:grpSpPr>
          <a:xfrm>
            <a:off x="5852931" y="1528825"/>
            <a:ext cx="2689115" cy="2047077"/>
            <a:chOff x="6311887" y="977619"/>
            <a:chExt cx="4669373" cy="3554540"/>
          </a:xfrm>
        </p:grpSpPr>
        <p:pic>
          <p:nvPicPr>
            <p:cNvPr id="7" name="图片 19">
              <a:extLst>
                <a:ext uri="{FF2B5EF4-FFF2-40B4-BE49-F238E27FC236}">
                  <a16:creationId xmlns:a16="http://schemas.microsoft.com/office/drawing/2014/main" id="{9602B660-4340-ECF0-F143-99078DF13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1887" y="977619"/>
              <a:ext cx="4669373" cy="3554540"/>
            </a:xfrm>
            <a:prstGeom prst="rect">
              <a:avLst/>
            </a:prstGeom>
          </p:spPr>
        </p:pic>
        <p:cxnSp>
          <p:nvCxnSpPr>
            <p:cNvPr id="8" name="直接箭头连接符 20">
              <a:extLst>
                <a:ext uri="{FF2B5EF4-FFF2-40B4-BE49-F238E27FC236}">
                  <a16:creationId xmlns:a16="http://schemas.microsoft.com/office/drawing/2014/main" id="{A938FBEE-B3A6-8EED-3674-603E4ADD54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8897" y="2850743"/>
              <a:ext cx="327676" cy="93513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21">
              <a:extLst>
                <a:ext uri="{FF2B5EF4-FFF2-40B4-BE49-F238E27FC236}">
                  <a16:creationId xmlns:a16="http://schemas.microsoft.com/office/drawing/2014/main" id="{0C5A58BD-6ADE-E599-E0FD-119C74B370E8}"/>
                </a:ext>
              </a:extLst>
            </p:cNvPr>
            <p:cNvSpPr txBox="1"/>
            <p:nvPr/>
          </p:nvSpPr>
          <p:spPr>
            <a:xfrm>
              <a:off x="7208245" y="3740153"/>
              <a:ext cx="22213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实际分布</a:t>
              </a:r>
              <a:endPara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22">
              <a:extLst>
                <a:ext uri="{FF2B5EF4-FFF2-40B4-BE49-F238E27FC236}">
                  <a16:creationId xmlns:a16="http://schemas.microsoft.com/office/drawing/2014/main" id="{DF49DCAF-84C2-EE09-1CE9-91762E4BB0DF}"/>
                </a:ext>
              </a:extLst>
            </p:cNvPr>
            <p:cNvSpPr txBox="1"/>
            <p:nvPr/>
          </p:nvSpPr>
          <p:spPr>
            <a:xfrm>
              <a:off x="6392962" y="3387500"/>
              <a:ext cx="22213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3F74B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潜在分布</a:t>
              </a:r>
              <a:endParaRPr lang="en-US" altLang="zh-CN" sz="1400" dirty="0">
                <a:solidFill>
                  <a:srgbClr val="3F74B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箭头连接符 23">
              <a:extLst>
                <a:ext uri="{FF2B5EF4-FFF2-40B4-BE49-F238E27FC236}">
                  <a16:creationId xmlns:a16="http://schemas.microsoft.com/office/drawing/2014/main" id="{2129A00F-E203-A28E-9C65-8F2630142787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 flipH="1">
              <a:off x="7503614" y="2686050"/>
              <a:ext cx="908866" cy="701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24">
            <a:extLst>
              <a:ext uri="{FF2B5EF4-FFF2-40B4-BE49-F238E27FC236}">
                <a16:creationId xmlns:a16="http://schemas.microsoft.com/office/drawing/2014/main" id="{A7B81F22-BB1A-1C51-1775-7E0803B79671}"/>
              </a:ext>
            </a:extLst>
          </p:cNvPr>
          <p:cNvSpPr txBox="1"/>
          <p:nvPr/>
        </p:nvSpPr>
        <p:spPr>
          <a:xfrm>
            <a:off x="5882603" y="3671340"/>
            <a:ext cx="23756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(Mariana et al, 2008, J. </a:t>
            </a:r>
            <a:r>
              <a:rPr lang="en-US" altLang="zh-CN" sz="1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Biogeogr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.)</a:t>
            </a:r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连接符 28">
            <a:extLst>
              <a:ext uri="{FF2B5EF4-FFF2-40B4-BE49-F238E27FC236}">
                <a16:creationId xmlns:a16="http://schemas.microsoft.com/office/drawing/2014/main" id="{AA7F8370-07F3-58A2-C3E5-C353FFDC7103}"/>
              </a:ext>
            </a:extLst>
          </p:cNvPr>
          <p:cNvCxnSpPr/>
          <p:nvPr/>
        </p:nvCxnSpPr>
        <p:spPr>
          <a:xfrm>
            <a:off x="5700968" y="869355"/>
            <a:ext cx="50006" cy="5829300"/>
          </a:xfrm>
          <a:prstGeom prst="line">
            <a:avLst/>
          </a:prstGeom>
          <a:ln w="19050">
            <a:solidFill>
              <a:srgbClr val="194A96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29">
            <a:extLst>
              <a:ext uri="{FF2B5EF4-FFF2-40B4-BE49-F238E27FC236}">
                <a16:creationId xmlns:a16="http://schemas.microsoft.com/office/drawing/2014/main" id="{AE3CEC46-8A10-7A1A-0CB5-FCE15A4D2C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72" b="47815"/>
          <a:stretch>
            <a:fillRect/>
          </a:stretch>
        </p:blipFill>
        <p:spPr>
          <a:xfrm>
            <a:off x="8593112" y="1682079"/>
            <a:ext cx="3332787" cy="1800991"/>
          </a:xfrm>
          <a:prstGeom prst="rect">
            <a:avLst/>
          </a:prstGeom>
        </p:spPr>
      </p:pic>
      <p:sp>
        <p:nvSpPr>
          <p:cNvPr id="15" name="文本框 30">
            <a:extLst>
              <a:ext uri="{FF2B5EF4-FFF2-40B4-BE49-F238E27FC236}">
                <a16:creationId xmlns:a16="http://schemas.microsoft.com/office/drawing/2014/main" id="{13AA3122-1655-64B0-E4F4-8AEC6191445F}"/>
              </a:ext>
            </a:extLst>
          </p:cNvPr>
          <p:cNvSpPr txBox="1"/>
          <p:nvPr/>
        </p:nvSpPr>
        <p:spPr>
          <a:xfrm>
            <a:off x="9232096" y="3507006"/>
            <a:ext cx="2693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(Travis et al, 2020, Front.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Biogeogr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表格 32">
            <a:extLst>
              <a:ext uri="{FF2B5EF4-FFF2-40B4-BE49-F238E27FC236}">
                <a16:creationId xmlns:a16="http://schemas.microsoft.com/office/drawing/2014/main" id="{A6DED287-9FBB-5BEF-0DE0-D20727123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80756"/>
              </p:ext>
            </p:extLst>
          </p:nvPr>
        </p:nvGraphicFramePr>
        <p:xfrm>
          <a:off x="6095999" y="4139215"/>
          <a:ext cx="5641513" cy="2115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0838">
                  <a:extLst>
                    <a:ext uri="{9D8B030D-6E8A-4147-A177-3AD203B41FA5}">
                      <a16:colId xmlns:a16="http://schemas.microsoft.com/office/drawing/2014/main" val="2644451954"/>
                    </a:ext>
                  </a:extLst>
                </a:gridCol>
                <a:gridCol w="1200225">
                  <a:extLst>
                    <a:ext uri="{9D8B030D-6E8A-4147-A177-3AD203B41FA5}">
                      <a16:colId xmlns:a16="http://schemas.microsoft.com/office/drawing/2014/main" val="2196754968"/>
                    </a:ext>
                  </a:extLst>
                </a:gridCol>
                <a:gridCol w="1200225">
                  <a:extLst>
                    <a:ext uri="{9D8B030D-6E8A-4147-A177-3AD203B41FA5}">
                      <a16:colId xmlns:a16="http://schemas.microsoft.com/office/drawing/2014/main" val="83950612"/>
                    </a:ext>
                  </a:extLst>
                </a:gridCol>
                <a:gridCol w="1200225">
                  <a:extLst>
                    <a:ext uri="{9D8B030D-6E8A-4147-A177-3AD203B41FA5}">
                      <a16:colId xmlns:a16="http://schemas.microsoft.com/office/drawing/2014/main" val="314560447"/>
                    </a:ext>
                  </a:extLst>
                </a:gridCol>
              </a:tblGrid>
              <a:tr h="241797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扩散方式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无限扩散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部分扩散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不扩散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210991"/>
                  </a:ext>
                </a:extLst>
              </a:tr>
              <a:tr h="583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预测的分布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559521"/>
                  </a:ext>
                </a:extLst>
              </a:tr>
              <a:tr h="583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保护（灭绝风险）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173920"/>
                  </a:ext>
                </a:extLst>
              </a:tr>
              <a:tr h="583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有害（入侵风险）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090965"/>
                  </a:ext>
                </a:extLst>
              </a:tr>
            </a:tbl>
          </a:graphicData>
        </a:graphic>
      </p:graphicFrame>
      <p:sp>
        <p:nvSpPr>
          <p:cNvPr id="17" name="文本框 33">
            <a:extLst>
              <a:ext uri="{FF2B5EF4-FFF2-40B4-BE49-F238E27FC236}">
                <a16:creationId xmlns:a16="http://schemas.microsoft.com/office/drawing/2014/main" id="{282D1558-7963-8B6D-BA62-BBFDE5F88FB3}"/>
              </a:ext>
            </a:extLst>
          </p:cNvPr>
          <p:cNvSpPr txBox="1"/>
          <p:nvPr/>
        </p:nvSpPr>
        <p:spPr>
          <a:xfrm>
            <a:off x="799785" y="830738"/>
            <a:ext cx="1936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物种扩散</a:t>
            </a:r>
          </a:p>
        </p:txBody>
      </p:sp>
      <p:cxnSp>
        <p:nvCxnSpPr>
          <p:cNvPr id="18" name="直接连接符 35">
            <a:extLst>
              <a:ext uri="{FF2B5EF4-FFF2-40B4-BE49-F238E27FC236}">
                <a16:creationId xmlns:a16="http://schemas.microsoft.com/office/drawing/2014/main" id="{791E525D-B271-DFED-F3DA-1105E164CFE5}"/>
              </a:ext>
            </a:extLst>
          </p:cNvPr>
          <p:cNvCxnSpPr/>
          <p:nvPr/>
        </p:nvCxnSpPr>
        <p:spPr>
          <a:xfrm>
            <a:off x="864394" y="1275991"/>
            <a:ext cx="1343025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36">
            <a:extLst>
              <a:ext uri="{FF2B5EF4-FFF2-40B4-BE49-F238E27FC236}">
                <a16:creationId xmlns:a16="http://schemas.microsoft.com/office/drawing/2014/main" id="{6042418E-7CB7-62CA-AF71-234078E6E90C}"/>
              </a:ext>
            </a:extLst>
          </p:cNvPr>
          <p:cNvSpPr txBox="1"/>
          <p:nvPr/>
        </p:nvSpPr>
        <p:spPr>
          <a:xfrm>
            <a:off x="5931636" y="828840"/>
            <a:ext cx="2836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扩散与物种分布</a:t>
            </a:r>
          </a:p>
        </p:txBody>
      </p:sp>
      <p:cxnSp>
        <p:nvCxnSpPr>
          <p:cNvPr id="20" name="直接连接符 37">
            <a:extLst>
              <a:ext uri="{FF2B5EF4-FFF2-40B4-BE49-F238E27FC236}">
                <a16:creationId xmlns:a16="http://schemas.microsoft.com/office/drawing/2014/main" id="{EB7BAAC7-4934-3859-2A23-7C4E53B28B3B}"/>
              </a:ext>
            </a:extLst>
          </p:cNvPr>
          <p:cNvCxnSpPr>
            <a:cxnSpLocks/>
          </p:cNvCxnSpPr>
          <p:nvPr/>
        </p:nvCxnSpPr>
        <p:spPr>
          <a:xfrm>
            <a:off x="5996245" y="1280519"/>
            <a:ext cx="239278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6">
            <a:extLst>
              <a:ext uri="{FF2B5EF4-FFF2-40B4-BE49-F238E27FC236}">
                <a16:creationId xmlns:a16="http://schemas.microsoft.com/office/drawing/2014/main" id="{2FCAFB57-201A-D190-38BC-EC9E21822387}"/>
              </a:ext>
            </a:extLst>
          </p:cNvPr>
          <p:cNvSpPr txBox="1"/>
          <p:nvPr/>
        </p:nvSpPr>
        <p:spPr>
          <a:xfrm>
            <a:off x="454488" y="4400770"/>
            <a:ext cx="5065818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驱动因素：风力、水力等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阻力因素：土地利用类型、海拔等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扩散频率：多次小规模扩散 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VS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一次大规模扩散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876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2">
            <a:extLst>
              <a:ext uri="{FF2B5EF4-FFF2-40B4-BE49-F238E27FC236}">
                <a16:creationId xmlns:a16="http://schemas.microsoft.com/office/drawing/2014/main" id="{00B8B9BD-D379-0CDF-2E46-F23D887C8E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85"/>
          <a:stretch>
            <a:fillRect/>
          </a:stretch>
        </p:blipFill>
        <p:spPr>
          <a:xfrm>
            <a:off x="1128498" y="1077092"/>
            <a:ext cx="5186428" cy="5610199"/>
          </a:xfrm>
          <a:prstGeom prst="rect">
            <a:avLst/>
          </a:prstGeom>
          <a:ln>
            <a:noFill/>
            <a:prstDash val="dash"/>
          </a:ln>
        </p:spPr>
      </p:pic>
      <p:pic>
        <p:nvPicPr>
          <p:cNvPr id="5" name="图片 15">
            <a:extLst>
              <a:ext uri="{FF2B5EF4-FFF2-40B4-BE49-F238E27FC236}">
                <a16:creationId xmlns:a16="http://schemas.microsoft.com/office/drawing/2014/main" id="{E84ED796-3843-90DE-6554-A6F19C8E8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0" r="52068"/>
          <a:stretch>
            <a:fillRect/>
          </a:stretch>
        </p:blipFill>
        <p:spPr>
          <a:xfrm>
            <a:off x="6524830" y="1414560"/>
            <a:ext cx="2858483" cy="2564989"/>
          </a:xfrm>
          <a:prstGeom prst="rect">
            <a:avLst/>
          </a:prstGeom>
        </p:spPr>
      </p:pic>
      <p:grpSp>
        <p:nvGrpSpPr>
          <p:cNvPr id="6" name="组合 16">
            <a:extLst>
              <a:ext uri="{FF2B5EF4-FFF2-40B4-BE49-F238E27FC236}">
                <a16:creationId xmlns:a16="http://schemas.microsoft.com/office/drawing/2014/main" id="{BC379F20-F26B-6E60-745E-F50803B2A312}"/>
              </a:ext>
            </a:extLst>
          </p:cNvPr>
          <p:cNvGrpSpPr/>
          <p:nvPr/>
        </p:nvGrpSpPr>
        <p:grpSpPr>
          <a:xfrm>
            <a:off x="9212122" y="1736895"/>
            <a:ext cx="4014927" cy="1816447"/>
            <a:chOff x="4785949" y="1602202"/>
            <a:chExt cx="3586520" cy="1816447"/>
          </a:xfrm>
        </p:grpSpPr>
        <p:sp>
          <p:nvSpPr>
            <p:cNvPr id="7" name="箭头: 右 17">
              <a:extLst>
                <a:ext uri="{FF2B5EF4-FFF2-40B4-BE49-F238E27FC236}">
                  <a16:creationId xmlns:a16="http://schemas.microsoft.com/office/drawing/2014/main" id="{5752CFF3-EB7D-8EA1-3BDB-A1E1B71A3FE9}"/>
                </a:ext>
              </a:extLst>
            </p:cNvPr>
            <p:cNvSpPr/>
            <p:nvPr/>
          </p:nvSpPr>
          <p:spPr>
            <a:xfrm>
              <a:off x="4826459" y="2083751"/>
              <a:ext cx="342153" cy="178755"/>
            </a:xfrm>
            <a:prstGeom prst="rightArrow">
              <a:avLst/>
            </a:prstGeom>
            <a:noFill/>
            <a:ln>
              <a:solidFill>
                <a:srgbClr val="C97537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18">
              <a:extLst>
                <a:ext uri="{FF2B5EF4-FFF2-40B4-BE49-F238E27FC236}">
                  <a16:creationId xmlns:a16="http://schemas.microsoft.com/office/drawing/2014/main" id="{0E7E7FE8-E19F-4B0E-859A-192C8676FDDA}"/>
                </a:ext>
              </a:extLst>
            </p:cNvPr>
            <p:cNvGrpSpPr/>
            <p:nvPr/>
          </p:nvGrpSpPr>
          <p:grpSpPr>
            <a:xfrm>
              <a:off x="4785949" y="1602202"/>
              <a:ext cx="3586520" cy="1816447"/>
              <a:chOff x="4785949" y="1602202"/>
              <a:chExt cx="3586520" cy="1816447"/>
            </a:xfrm>
          </p:grpSpPr>
          <p:grpSp>
            <p:nvGrpSpPr>
              <p:cNvPr id="9" name="组合 19">
                <a:extLst>
                  <a:ext uri="{FF2B5EF4-FFF2-40B4-BE49-F238E27FC236}">
                    <a16:creationId xmlns:a16="http://schemas.microsoft.com/office/drawing/2014/main" id="{51208BBF-D1D8-E6A7-B2DB-5239FFBBE070}"/>
                  </a:ext>
                </a:extLst>
              </p:cNvPr>
              <p:cNvGrpSpPr/>
              <p:nvPr/>
            </p:nvGrpSpPr>
            <p:grpSpPr>
              <a:xfrm>
                <a:off x="4874508" y="1602202"/>
                <a:ext cx="1549827" cy="729978"/>
                <a:chOff x="4874508" y="1602202"/>
                <a:chExt cx="1549827" cy="729978"/>
              </a:xfrm>
            </p:grpSpPr>
            <p:sp>
              <p:nvSpPr>
                <p:cNvPr id="11" name="流程图: 接点 21">
                  <a:extLst>
                    <a:ext uri="{FF2B5EF4-FFF2-40B4-BE49-F238E27FC236}">
                      <a16:creationId xmlns:a16="http://schemas.microsoft.com/office/drawing/2014/main" id="{D1046ABA-1A7D-C2A1-957D-BEADB99C51FB}"/>
                    </a:ext>
                  </a:extLst>
                </p:cNvPr>
                <p:cNvSpPr/>
                <p:nvPr/>
              </p:nvSpPr>
              <p:spPr>
                <a:xfrm>
                  <a:off x="4874508" y="1697491"/>
                  <a:ext cx="187295" cy="178755"/>
                </a:xfrm>
                <a:prstGeom prst="flowChartConnector">
                  <a:avLst/>
                </a:prstGeom>
                <a:solidFill>
                  <a:srgbClr val="C2A175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" name="文本框 22">
                  <a:extLst>
                    <a:ext uri="{FF2B5EF4-FFF2-40B4-BE49-F238E27FC236}">
                      <a16:creationId xmlns:a16="http://schemas.microsoft.com/office/drawing/2014/main" id="{9B724D43-848A-D023-81AE-1DFB2FEEC69C}"/>
                    </a:ext>
                  </a:extLst>
                </p:cNvPr>
                <p:cNvSpPr txBox="1"/>
                <p:nvPr/>
              </p:nvSpPr>
              <p:spPr>
                <a:xfrm>
                  <a:off x="5128091" y="1602202"/>
                  <a:ext cx="12962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物种分布点</a:t>
                  </a:r>
                </a:p>
              </p:txBody>
            </p:sp>
            <p:sp>
              <p:nvSpPr>
                <p:cNvPr id="13" name="文本框 23">
                  <a:extLst>
                    <a:ext uri="{FF2B5EF4-FFF2-40B4-BE49-F238E27FC236}">
                      <a16:creationId xmlns:a16="http://schemas.microsoft.com/office/drawing/2014/main" id="{7E1C5C86-0A1A-50F8-C240-662F3FEF202B}"/>
                    </a:ext>
                  </a:extLst>
                </p:cNvPr>
                <p:cNvSpPr txBox="1"/>
                <p:nvPr/>
              </p:nvSpPr>
              <p:spPr>
                <a:xfrm>
                  <a:off x="5128087" y="1962848"/>
                  <a:ext cx="12011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扩散距离</a:t>
                  </a:r>
                </a:p>
              </p:txBody>
            </p:sp>
          </p:grpSp>
          <p:sp>
            <p:nvSpPr>
              <p:cNvPr id="10" name="文本框 20">
                <a:extLst>
                  <a:ext uri="{FF2B5EF4-FFF2-40B4-BE49-F238E27FC236}">
                    <a16:creationId xmlns:a16="http://schemas.microsoft.com/office/drawing/2014/main" id="{F408C778-E2E5-7D54-E337-D8E89297A43B}"/>
                  </a:ext>
                </a:extLst>
              </p:cNvPr>
              <p:cNvSpPr txBox="1"/>
              <p:nvPr/>
            </p:nvSpPr>
            <p:spPr>
              <a:xfrm>
                <a:off x="4785949" y="2341431"/>
                <a:ext cx="358652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扩散可到达的区域</a:t>
                </a:r>
                <a:endPara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：潜在适生区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：潜在分布区</a:t>
                </a:r>
              </a:p>
            </p:txBody>
          </p:sp>
        </p:grpSp>
      </p:grpSp>
      <p:sp>
        <p:nvSpPr>
          <p:cNvPr id="14" name="矩形: 圆角 26">
            <a:extLst>
              <a:ext uri="{FF2B5EF4-FFF2-40B4-BE49-F238E27FC236}">
                <a16:creationId xmlns:a16="http://schemas.microsoft.com/office/drawing/2014/main" id="{AFF31F3E-9911-A365-02E3-27D76CEAEF94}"/>
              </a:ext>
            </a:extLst>
          </p:cNvPr>
          <p:cNvSpPr/>
          <p:nvPr/>
        </p:nvSpPr>
        <p:spPr>
          <a:xfrm>
            <a:off x="455042" y="2698569"/>
            <a:ext cx="518458" cy="1460861"/>
          </a:xfrm>
          <a:prstGeom prst="roundRect">
            <a:avLst/>
          </a:prstGeom>
          <a:solidFill>
            <a:srgbClr val="194A96"/>
          </a:solidFill>
          <a:ln>
            <a:solidFill>
              <a:srgbClr val="194A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prstClr val="whit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假设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27">
            <a:extLst>
              <a:ext uri="{FF2B5EF4-FFF2-40B4-BE49-F238E27FC236}">
                <a16:creationId xmlns:a16="http://schemas.microsoft.com/office/drawing/2014/main" id="{99BD2959-0D94-FAC8-94ED-B49C8BDD8B20}"/>
              </a:ext>
            </a:extLst>
          </p:cNvPr>
          <p:cNvSpPr/>
          <p:nvPr/>
        </p:nvSpPr>
        <p:spPr>
          <a:xfrm>
            <a:off x="455042" y="907256"/>
            <a:ext cx="5859884" cy="578003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28">
            <a:extLst>
              <a:ext uri="{FF2B5EF4-FFF2-40B4-BE49-F238E27FC236}">
                <a16:creationId xmlns:a16="http://schemas.microsoft.com/office/drawing/2014/main" id="{861C054A-7C85-2DE2-FC1D-B77394AD4135}"/>
              </a:ext>
            </a:extLst>
          </p:cNvPr>
          <p:cNvSpPr/>
          <p:nvPr/>
        </p:nvSpPr>
        <p:spPr>
          <a:xfrm>
            <a:off x="6436515" y="907256"/>
            <a:ext cx="5089635" cy="578003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9">
            <a:extLst>
              <a:ext uri="{FF2B5EF4-FFF2-40B4-BE49-F238E27FC236}">
                <a16:creationId xmlns:a16="http://schemas.microsoft.com/office/drawing/2014/main" id="{761225AB-F837-B949-EF43-BC1D0B287A1E}"/>
              </a:ext>
            </a:extLst>
          </p:cNvPr>
          <p:cNvSpPr/>
          <p:nvPr/>
        </p:nvSpPr>
        <p:spPr>
          <a:xfrm>
            <a:off x="6939070" y="907256"/>
            <a:ext cx="3700462" cy="459369"/>
          </a:xfrm>
          <a:prstGeom prst="roundRect">
            <a:avLst/>
          </a:prstGeom>
          <a:solidFill>
            <a:srgbClr val="194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物种扩散的概念框架</a:t>
            </a:r>
          </a:p>
        </p:txBody>
      </p:sp>
      <p:pic>
        <p:nvPicPr>
          <p:cNvPr id="18" name="图片 80">
            <a:extLst>
              <a:ext uri="{FF2B5EF4-FFF2-40B4-BE49-F238E27FC236}">
                <a16:creationId xmlns:a16="http://schemas.microsoft.com/office/drawing/2014/main" id="{C508AF40-4B70-522C-4967-0CC52A0AD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840" y="4468391"/>
            <a:ext cx="5015138" cy="1760098"/>
          </a:xfrm>
          <a:prstGeom prst="rect">
            <a:avLst/>
          </a:prstGeom>
        </p:spPr>
      </p:pic>
      <p:cxnSp>
        <p:nvCxnSpPr>
          <p:cNvPr id="19" name="直接连接符 84">
            <a:extLst>
              <a:ext uri="{FF2B5EF4-FFF2-40B4-BE49-F238E27FC236}">
                <a16:creationId xmlns:a16="http://schemas.microsoft.com/office/drawing/2014/main" id="{353E4130-B93F-368B-33A8-FEE97441E415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8981333" y="4277965"/>
            <a:ext cx="0" cy="2409326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87">
            <a:extLst>
              <a:ext uri="{FF2B5EF4-FFF2-40B4-BE49-F238E27FC236}">
                <a16:creationId xmlns:a16="http://schemas.microsoft.com/office/drawing/2014/main" id="{D46B96D5-FCF9-6094-EACD-B6907011698F}"/>
              </a:ext>
            </a:extLst>
          </p:cNvPr>
          <p:cNvCxnSpPr>
            <a:cxnSpLocks/>
          </p:cNvCxnSpPr>
          <p:nvPr/>
        </p:nvCxnSpPr>
        <p:spPr>
          <a:xfrm>
            <a:off x="6434607" y="4277965"/>
            <a:ext cx="508963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2">
            <a:extLst>
              <a:ext uri="{FF2B5EF4-FFF2-40B4-BE49-F238E27FC236}">
                <a16:creationId xmlns:a16="http://schemas.microsoft.com/office/drawing/2014/main" id="{120D5D2B-3E72-97F7-DC87-464F0AF3FF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85"/>
          <a:stretch>
            <a:fillRect/>
          </a:stretch>
        </p:blipFill>
        <p:spPr>
          <a:xfrm>
            <a:off x="938759" y="1395641"/>
            <a:ext cx="4722234" cy="5108077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5" name="椭圆 14">
            <a:extLst>
              <a:ext uri="{FF2B5EF4-FFF2-40B4-BE49-F238E27FC236}">
                <a16:creationId xmlns:a16="http://schemas.microsoft.com/office/drawing/2014/main" id="{5E87A040-42F1-AA55-92D9-77CB1C31F379}"/>
              </a:ext>
            </a:extLst>
          </p:cNvPr>
          <p:cNvSpPr/>
          <p:nvPr/>
        </p:nvSpPr>
        <p:spPr>
          <a:xfrm>
            <a:off x="634013" y="3907631"/>
            <a:ext cx="3526793" cy="1303618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15">
            <a:extLst>
              <a:ext uri="{FF2B5EF4-FFF2-40B4-BE49-F238E27FC236}">
                <a16:creationId xmlns:a16="http://schemas.microsoft.com/office/drawing/2014/main" id="{70058192-4078-41F1-A56A-2603F8EACCD7}"/>
              </a:ext>
            </a:extLst>
          </p:cNvPr>
          <p:cNvSpPr/>
          <p:nvPr/>
        </p:nvSpPr>
        <p:spPr>
          <a:xfrm>
            <a:off x="634013" y="5221642"/>
            <a:ext cx="3526793" cy="1303618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19">
            <a:extLst>
              <a:ext uri="{FF2B5EF4-FFF2-40B4-BE49-F238E27FC236}">
                <a16:creationId xmlns:a16="http://schemas.microsoft.com/office/drawing/2014/main" id="{6AD9F259-3D24-EAE8-ABE0-1CF07A5D410D}"/>
              </a:ext>
            </a:extLst>
          </p:cNvPr>
          <p:cNvSpPr txBox="1"/>
          <p:nvPr/>
        </p:nvSpPr>
        <p:spPr>
          <a:xfrm>
            <a:off x="6463717" y="2513100"/>
            <a:ext cx="63222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假设无扩散      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   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低估入侵风险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假设无限扩散  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    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低估灭绝风险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8" name="矩形: 圆角 20">
            <a:extLst>
              <a:ext uri="{FF2B5EF4-FFF2-40B4-BE49-F238E27FC236}">
                <a16:creationId xmlns:a16="http://schemas.microsoft.com/office/drawing/2014/main" id="{34288AE0-06B4-1C7A-F107-64B7CC1DEA60}"/>
              </a:ext>
            </a:extLst>
          </p:cNvPr>
          <p:cNvSpPr/>
          <p:nvPr/>
        </p:nvSpPr>
        <p:spPr>
          <a:xfrm>
            <a:off x="5872162" y="1928815"/>
            <a:ext cx="2713037" cy="471488"/>
          </a:xfrm>
          <a:prstGeom prst="roundRect">
            <a:avLst/>
          </a:prstGeom>
          <a:solidFill>
            <a:srgbClr val="194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忽略物种扩散能力</a:t>
            </a:r>
            <a:endParaRPr lang="zh-CN" altLang="en-US" sz="2000" dirty="0"/>
          </a:p>
        </p:txBody>
      </p:sp>
      <p:sp>
        <p:nvSpPr>
          <p:cNvPr id="9" name="矩形: 圆角 21">
            <a:extLst>
              <a:ext uri="{FF2B5EF4-FFF2-40B4-BE49-F238E27FC236}">
                <a16:creationId xmlns:a16="http://schemas.microsoft.com/office/drawing/2014/main" id="{4EC07CE3-6A57-A252-8137-E4F63305B59B}"/>
              </a:ext>
            </a:extLst>
          </p:cNvPr>
          <p:cNvSpPr/>
          <p:nvPr/>
        </p:nvSpPr>
        <p:spPr>
          <a:xfrm>
            <a:off x="5872163" y="3884312"/>
            <a:ext cx="2713036" cy="471488"/>
          </a:xfrm>
          <a:prstGeom prst="roundRect">
            <a:avLst/>
          </a:prstGeom>
          <a:solidFill>
            <a:srgbClr val="194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扩散能力影响差异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000" dirty="0"/>
          </a:p>
        </p:txBody>
      </p:sp>
      <p:sp>
        <p:nvSpPr>
          <p:cNvPr id="10" name="文本框 22">
            <a:extLst>
              <a:ext uri="{FF2B5EF4-FFF2-40B4-BE49-F238E27FC236}">
                <a16:creationId xmlns:a16="http://schemas.microsoft.com/office/drawing/2014/main" id="{841746B2-CD0B-19C4-9A78-E70972FD96D6}"/>
              </a:ext>
            </a:extLst>
          </p:cNvPr>
          <p:cNvSpPr txBox="1"/>
          <p:nvPr/>
        </p:nvSpPr>
        <p:spPr>
          <a:xfrm>
            <a:off x="6463717" y="4564889"/>
            <a:ext cx="63222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强扩散能力物种      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   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跟上潜在适生区变化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弱扩散能力物种      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    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持续减少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40708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7">
            <a:extLst>
              <a:ext uri="{FF2B5EF4-FFF2-40B4-BE49-F238E27FC236}">
                <a16:creationId xmlns:a16="http://schemas.microsoft.com/office/drawing/2014/main" id="{4FFDC4F2-CA91-ABA2-233F-AC7346C0E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64" y="1436067"/>
            <a:ext cx="5134571" cy="4929188"/>
          </a:xfrm>
          <a:prstGeom prst="rect">
            <a:avLst/>
          </a:prstGeom>
        </p:spPr>
      </p:pic>
      <p:sp>
        <p:nvSpPr>
          <p:cNvPr id="5" name="矩形 28">
            <a:extLst>
              <a:ext uri="{FF2B5EF4-FFF2-40B4-BE49-F238E27FC236}">
                <a16:creationId xmlns:a16="http://schemas.microsoft.com/office/drawing/2014/main" id="{7F82E95D-C348-FDD9-9095-D705238B79C7}"/>
              </a:ext>
            </a:extLst>
          </p:cNvPr>
          <p:cNvSpPr/>
          <p:nvPr/>
        </p:nvSpPr>
        <p:spPr>
          <a:xfrm>
            <a:off x="472892" y="969803"/>
            <a:ext cx="5463563" cy="567685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21">
            <a:extLst>
              <a:ext uri="{FF2B5EF4-FFF2-40B4-BE49-F238E27FC236}">
                <a16:creationId xmlns:a16="http://schemas.microsoft.com/office/drawing/2014/main" id="{774DC770-95F1-F922-4133-2F83D358BCF0}"/>
              </a:ext>
            </a:extLst>
          </p:cNvPr>
          <p:cNvSpPr txBox="1"/>
          <p:nvPr/>
        </p:nvSpPr>
        <p:spPr>
          <a:xfrm>
            <a:off x="1459997" y="6263572"/>
            <a:ext cx="4411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(Engler et al, 2012,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Ecography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30">
            <a:extLst>
              <a:ext uri="{FF2B5EF4-FFF2-40B4-BE49-F238E27FC236}">
                <a16:creationId xmlns:a16="http://schemas.microsoft.com/office/drawing/2014/main" id="{14E47AB0-4A71-C737-72F7-06E08637F01C}"/>
              </a:ext>
            </a:extLst>
          </p:cNvPr>
          <p:cNvSpPr txBox="1"/>
          <p:nvPr/>
        </p:nvSpPr>
        <p:spPr>
          <a:xfrm>
            <a:off x="2271266" y="989487"/>
            <a:ext cx="1850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MIGCLIM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" name="矩形 31">
            <a:extLst>
              <a:ext uri="{FF2B5EF4-FFF2-40B4-BE49-F238E27FC236}">
                <a16:creationId xmlns:a16="http://schemas.microsoft.com/office/drawing/2014/main" id="{294D6B1E-BC7B-F71B-A676-9A3A8CDDBD89}"/>
              </a:ext>
            </a:extLst>
          </p:cNvPr>
          <p:cNvSpPr/>
          <p:nvPr/>
        </p:nvSpPr>
        <p:spPr>
          <a:xfrm>
            <a:off x="6220239" y="989487"/>
            <a:ext cx="5463562" cy="567685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32">
            <a:extLst>
              <a:ext uri="{FF2B5EF4-FFF2-40B4-BE49-F238E27FC236}">
                <a16:creationId xmlns:a16="http://schemas.microsoft.com/office/drawing/2014/main" id="{E7068C3B-87A8-D3AB-2079-2C3B1342AC79}"/>
              </a:ext>
            </a:extLst>
          </p:cNvPr>
          <p:cNvSpPr txBox="1"/>
          <p:nvPr/>
        </p:nvSpPr>
        <p:spPr>
          <a:xfrm>
            <a:off x="8152545" y="969803"/>
            <a:ext cx="1850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megaSDM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10" name="图片 34">
            <a:extLst>
              <a:ext uri="{FF2B5EF4-FFF2-40B4-BE49-F238E27FC236}">
                <a16:creationId xmlns:a16="http://schemas.microsoft.com/office/drawing/2014/main" id="{E3C78C6F-1774-789B-638F-44A52FC59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831" y="1691645"/>
            <a:ext cx="2845035" cy="2673187"/>
          </a:xfrm>
          <a:prstGeom prst="rect">
            <a:avLst/>
          </a:prstGeom>
        </p:spPr>
      </p:pic>
      <p:pic>
        <p:nvPicPr>
          <p:cNvPr id="11" name="图片 36">
            <a:extLst>
              <a:ext uri="{FF2B5EF4-FFF2-40B4-BE49-F238E27FC236}">
                <a16:creationId xmlns:a16="http://schemas.microsoft.com/office/drawing/2014/main" id="{2E81FD3E-4732-43D8-5EFC-2FEB505AED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887" y="1445311"/>
            <a:ext cx="1762160" cy="4869437"/>
          </a:xfrm>
          <a:prstGeom prst="rect">
            <a:avLst/>
          </a:prstGeom>
        </p:spPr>
      </p:pic>
      <p:sp>
        <p:nvSpPr>
          <p:cNvPr id="12" name="文本框 37">
            <a:extLst>
              <a:ext uri="{FF2B5EF4-FFF2-40B4-BE49-F238E27FC236}">
                <a16:creationId xmlns:a16="http://schemas.microsoft.com/office/drawing/2014/main" id="{D057D66E-E14E-EACE-D765-9DC7CB62C9D4}"/>
              </a:ext>
            </a:extLst>
          </p:cNvPr>
          <p:cNvSpPr txBox="1"/>
          <p:nvPr/>
        </p:nvSpPr>
        <p:spPr>
          <a:xfrm>
            <a:off x="7271821" y="6257785"/>
            <a:ext cx="4411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(Shipley et al. 2022,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Ecography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39">
            <a:extLst>
              <a:ext uri="{FF2B5EF4-FFF2-40B4-BE49-F238E27FC236}">
                <a16:creationId xmlns:a16="http://schemas.microsoft.com/office/drawing/2014/main" id="{BF8C9EC7-DB6C-D557-E0C6-C4346819B604}"/>
              </a:ext>
            </a:extLst>
          </p:cNvPr>
          <p:cNvSpPr txBox="1"/>
          <p:nvPr/>
        </p:nvSpPr>
        <p:spPr>
          <a:xfrm>
            <a:off x="8177001" y="4804905"/>
            <a:ext cx="37905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invadable suitability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habitat suitability ⅹ dispersal ability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B229E1F-FC31-A482-D9B9-6E9ED5EDC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592" y="4187370"/>
            <a:ext cx="2623991" cy="1510361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046860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69">
            <a:extLst>
              <a:ext uri="{FF2B5EF4-FFF2-40B4-BE49-F238E27FC236}">
                <a16:creationId xmlns:a16="http://schemas.microsoft.com/office/drawing/2014/main" id="{AA1057BD-EF73-16F5-63B8-B7715D04D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01181" y="1063777"/>
            <a:ext cx="10384402" cy="5566279"/>
          </a:xfrm>
          <a:prstGeom prst="rect">
            <a:avLst/>
          </a:prstGeom>
        </p:spPr>
      </p:pic>
      <p:sp>
        <p:nvSpPr>
          <p:cNvPr id="5" name="文本框 70">
            <a:extLst>
              <a:ext uri="{FF2B5EF4-FFF2-40B4-BE49-F238E27FC236}">
                <a16:creationId xmlns:a16="http://schemas.microsoft.com/office/drawing/2014/main" id="{1C932A65-447C-DC69-AFBC-37384087F48A}"/>
              </a:ext>
            </a:extLst>
          </p:cNvPr>
          <p:cNvSpPr txBox="1"/>
          <p:nvPr/>
        </p:nvSpPr>
        <p:spPr>
          <a:xfrm>
            <a:off x="1321534" y="1691178"/>
            <a:ext cx="1805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occurrences data</a:t>
            </a:r>
          </a:p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occ_filter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species occurrence data</a:t>
            </a:r>
          </a:p>
        </p:txBody>
      </p:sp>
      <p:sp>
        <p:nvSpPr>
          <p:cNvPr id="6" name="文本框 71">
            <a:extLst>
              <a:ext uri="{FF2B5EF4-FFF2-40B4-BE49-F238E27FC236}">
                <a16:creationId xmlns:a16="http://schemas.microsoft.com/office/drawing/2014/main" id="{99DF9503-FDB9-C145-834C-971F87C9A6B6}"/>
              </a:ext>
            </a:extLst>
          </p:cNvPr>
          <p:cNvSpPr txBox="1"/>
          <p:nvPr/>
        </p:nvSpPr>
        <p:spPr>
          <a:xfrm>
            <a:off x="1262541" y="2974348"/>
            <a:ext cx="193524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environmental data</a:t>
            </a:r>
          </a:p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env_correlation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of environmental </a:t>
            </a:r>
          </a:p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</p:txBody>
      </p:sp>
      <p:sp>
        <p:nvSpPr>
          <p:cNvPr id="7" name="文本框 72">
            <a:extLst>
              <a:ext uri="{FF2B5EF4-FFF2-40B4-BE49-F238E27FC236}">
                <a16:creationId xmlns:a16="http://schemas.microsoft.com/office/drawing/2014/main" id="{9741B50E-888D-0712-9756-61F8B7AB0DD6}"/>
              </a:ext>
            </a:extLst>
          </p:cNvPr>
          <p:cNvSpPr txBox="1"/>
          <p:nvPr/>
        </p:nvSpPr>
        <p:spPr>
          <a:xfrm>
            <a:off x="3443899" y="2543460"/>
            <a:ext cx="2010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modelling</a:t>
            </a:r>
          </a:p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model_tuning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maxent_model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endParaRPr lang="en-US" altLang="zh-C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model parameters and optimal model building </a:t>
            </a:r>
          </a:p>
        </p:txBody>
      </p:sp>
      <p:sp>
        <p:nvSpPr>
          <p:cNvPr id="8" name="文本框 73">
            <a:extLst>
              <a:ext uri="{FF2B5EF4-FFF2-40B4-BE49-F238E27FC236}">
                <a16:creationId xmlns:a16="http://schemas.microsoft.com/office/drawing/2014/main" id="{EDE3FA97-0C22-C469-7BC7-C7C80CBACDFB}"/>
              </a:ext>
            </a:extLst>
          </p:cNvPr>
          <p:cNvSpPr txBox="1"/>
          <p:nvPr/>
        </p:nvSpPr>
        <p:spPr>
          <a:xfrm>
            <a:off x="5640769" y="2562485"/>
            <a:ext cx="1740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Predicting</a:t>
            </a:r>
          </a:p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(prediction)</a:t>
            </a:r>
          </a:p>
          <a:p>
            <a:pPr algn="ctr"/>
            <a:endParaRPr lang="en-US" altLang="zh-C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potential habitats of species at different times</a:t>
            </a:r>
          </a:p>
        </p:txBody>
      </p:sp>
      <p:sp>
        <p:nvSpPr>
          <p:cNvPr id="9" name="文本框 74">
            <a:extLst>
              <a:ext uri="{FF2B5EF4-FFF2-40B4-BE49-F238E27FC236}">
                <a16:creationId xmlns:a16="http://schemas.microsoft.com/office/drawing/2014/main" id="{5888BF83-0BB6-4559-BE6B-437FC44B8355}"/>
              </a:ext>
            </a:extLst>
          </p:cNvPr>
          <p:cNvSpPr txBox="1"/>
          <p:nvPr/>
        </p:nvSpPr>
        <p:spPr>
          <a:xfrm>
            <a:off x="7808487" y="2562485"/>
            <a:ext cx="15580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dispersal limiting</a:t>
            </a:r>
          </a:p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dipsersal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endParaRPr lang="en-US" altLang="zh-C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species’ potential distribution with dispersal</a:t>
            </a:r>
          </a:p>
        </p:txBody>
      </p:sp>
      <p:sp>
        <p:nvSpPr>
          <p:cNvPr id="10" name="文本框 75">
            <a:extLst>
              <a:ext uri="{FF2B5EF4-FFF2-40B4-BE49-F238E27FC236}">
                <a16:creationId xmlns:a16="http://schemas.microsoft.com/office/drawing/2014/main" id="{892817FC-F11B-AE64-79B6-8A85A3679E81}"/>
              </a:ext>
            </a:extLst>
          </p:cNvPr>
          <p:cNvSpPr txBox="1"/>
          <p:nvPr/>
        </p:nvSpPr>
        <p:spPr>
          <a:xfrm>
            <a:off x="9812613" y="2558849"/>
            <a:ext cx="1776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distribution changing</a:t>
            </a:r>
          </a:p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(statistics)</a:t>
            </a:r>
          </a:p>
          <a:p>
            <a:pPr algn="ctr"/>
            <a:endParaRPr lang="en-US" altLang="zh-C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species distribution area changes over time</a:t>
            </a:r>
          </a:p>
        </p:txBody>
      </p:sp>
      <p:sp>
        <p:nvSpPr>
          <p:cNvPr id="11" name="文本框 76">
            <a:extLst>
              <a:ext uri="{FF2B5EF4-FFF2-40B4-BE49-F238E27FC236}">
                <a16:creationId xmlns:a16="http://schemas.microsoft.com/office/drawing/2014/main" id="{AA297D14-FF81-42A3-AE01-788823F81EA2}"/>
              </a:ext>
            </a:extLst>
          </p:cNvPr>
          <p:cNvSpPr txBox="1"/>
          <p:nvPr/>
        </p:nvSpPr>
        <p:spPr>
          <a:xfrm>
            <a:off x="1389674" y="4130230"/>
            <a:ext cx="1935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Suitable Habitat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77">
            <a:extLst>
              <a:ext uri="{FF2B5EF4-FFF2-40B4-BE49-F238E27FC236}">
                <a16:creationId xmlns:a16="http://schemas.microsoft.com/office/drawing/2014/main" id="{5736C111-D16B-A827-066D-5402E45C7B0F}"/>
              </a:ext>
            </a:extLst>
          </p:cNvPr>
          <p:cNvSpPr txBox="1"/>
          <p:nvPr/>
        </p:nvSpPr>
        <p:spPr>
          <a:xfrm>
            <a:off x="1389674" y="5459566"/>
            <a:ext cx="1935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Potential Suitable Habitat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(Future)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78">
            <a:extLst>
              <a:ext uri="{FF2B5EF4-FFF2-40B4-BE49-F238E27FC236}">
                <a16:creationId xmlns:a16="http://schemas.microsoft.com/office/drawing/2014/main" id="{069B084E-B030-8B14-02D6-541E38190603}"/>
              </a:ext>
            </a:extLst>
          </p:cNvPr>
          <p:cNvSpPr txBox="1"/>
          <p:nvPr/>
        </p:nvSpPr>
        <p:spPr>
          <a:xfrm>
            <a:off x="3749669" y="3789468"/>
            <a:ext cx="7728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alien species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79">
            <a:extLst>
              <a:ext uri="{FF2B5EF4-FFF2-40B4-BE49-F238E27FC236}">
                <a16:creationId xmlns:a16="http://schemas.microsoft.com/office/drawing/2014/main" id="{CA9450F3-A701-3207-FD6A-14E8A557D945}"/>
              </a:ext>
            </a:extLst>
          </p:cNvPr>
          <p:cNvSpPr txBox="1"/>
          <p:nvPr/>
        </p:nvSpPr>
        <p:spPr>
          <a:xfrm>
            <a:off x="3720164" y="4854140"/>
            <a:ext cx="8672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species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80">
            <a:extLst>
              <a:ext uri="{FF2B5EF4-FFF2-40B4-BE49-F238E27FC236}">
                <a16:creationId xmlns:a16="http://schemas.microsoft.com/office/drawing/2014/main" id="{02AA9D73-1857-3C59-1AB6-C777A4080C03}"/>
              </a:ext>
            </a:extLst>
          </p:cNvPr>
          <p:cNvSpPr txBox="1"/>
          <p:nvPr/>
        </p:nvSpPr>
        <p:spPr>
          <a:xfrm>
            <a:off x="4226528" y="5904575"/>
            <a:ext cx="8672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Binarization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81">
            <a:extLst>
              <a:ext uri="{FF2B5EF4-FFF2-40B4-BE49-F238E27FC236}">
                <a16:creationId xmlns:a16="http://schemas.microsoft.com/office/drawing/2014/main" id="{417DC75A-01E5-098C-8250-7D64590107F4}"/>
              </a:ext>
            </a:extLst>
          </p:cNvPr>
          <p:cNvSpPr txBox="1"/>
          <p:nvPr/>
        </p:nvSpPr>
        <p:spPr>
          <a:xfrm>
            <a:off x="5613389" y="5690399"/>
            <a:ext cx="8672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82">
            <a:extLst>
              <a:ext uri="{FF2B5EF4-FFF2-40B4-BE49-F238E27FC236}">
                <a16:creationId xmlns:a16="http://schemas.microsoft.com/office/drawing/2014/main" id="{612CF266-9101-EBAA-5D8D-F22C83777B29}"/>
              </a:ext>
            </a:extLst>
          </p:cNvPr>
          <p:cNvSpPr txBox="1"/>
          <p:nvPr/>
        </p:nvSpPr>
        <p:spPr>
          <a:xfrm>
            <a:off x="5015427" y="4723974"/>
            <a:ext cx="3565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83">
            <a:extLst>
              <a:ext uri="{FF2B5EF4-FFF2-40B4-BE49-F238E27FC236}">
                <a16:creationId xmlns:a16="http://schemas.microsoft.com/office/drawing/2014/main" id="{26F27230-5F10-FEB7-918B-C17FDA4B8060}"/>
              </a:ext>
            </a:extLst>
          </p:cNvPr>
          <p:cNvSpPr txBox="1"/>
          <p:nvPr/>
        </p:nvSpPr>
        <p:spPr>
          <a:xfrm>
            <a:off x="6124037" y="4723974"/>
            <a:ext cx="4731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84">
            <a:extLst>
              <a:ext uri="{FF2B5EF4-FFF2-40B4-BE49-F238E27FC236}">
                <a16:creationId xmlns:a16="http://schemas.microsoft.com/office/drawing/2014/main" id="{72642024-56D9-E971-1206-3E221BAFBF04}"/>
              </a:ext>
            </a:extLst>
          </p:cNvPr>
          <p:cNvSpPr txBox="1"/>
          <p:nvPr/>
        </p:nvSpPr>
        <p:spPr>
          <a:xfrm>
            <a:off x="7054093" y="4661358"/>
            <a:ext cx="4731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85">
            <a:extLst>
              <a:ext uri="{FF2B5EF4-FFF2-40B4-BE49-F238E27FC236}">
                <a16:creationId xmlns:a16="http://schemas.microsoft.com/office/drawing/2014/main" id="{A39B5120-C5AF-CF6A-2894-2C0C601E51EF}"/>
              </a:ext>
            </a:extLst>
          </p:cNvPr>
          <p:cNvSpPr txBox="1"/>
          <p:nvPr/>
        </p:nvSpPr>
        <p:spPr>
          <a:xfrm>
            <a:off x="7112367" y="5344150"/>
            <a:ext cx="3565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86">
            <a:extLst>
              <a:ext uri="{FF2B5EF4-FFF2-40B4-BE49-F238E27FC236}">
                <a16:creationId xmlns:a16="http://schemas.microsoft.com/office/drawing/2014/main" id="{CD68499A-29FF-812E-484E-1B3988876F56}"/>
              </a:ext>
            </a:extLst>
          </p:cNvPr>
          <p:cNvSpPr txBox="1"/>
          <p:nvPr/>
        </p:nvSpPr>
        <p:spPr>
          <a:xfrm>
            <a:off x="5118314" y="4378460"/>
            <a:ext cx="138098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dispersal frequency  </a:t>
            </a:r>
          </a:p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</a:p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User-defined ?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87">
            <a:extLst>
              <a:ext uri="{FF2B5EF4-FFF2-40B4-BE49-F238E27FC236}">
                <a16:creationId xmlns:a16="http://schemas.microsoft.com/office/drawing/2014/main" id="{ED7EC718-98EF-C318-2359-BC5853B36856}"/>
              </a:ext>
            </a:extLst>
          </p:cNvPr>
          <p:cNvSpPr txBox="1"/>
          <p:nvPr/>
        </p:nvSpPr>
        <p:spPr>
          <a:xfrm>
            <a:off x="7602204" y="4118432"/>
            <a:ext cx="138098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simluations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(Eckert IV projection)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88">
            <a:extLst>
              <a:ext uri="{FF2B5EF4-FFF2-40B4-BE49-F238E27FC236}">
                <a16:creationId xmlns:a16="http://schemas.microsoft.com/office/drawing/2014/main" id="{12B49700-1B2C-4327-6B05-72B52AD1E360}"/>
              </a:ext>
            </a:extLst>
          </p:cNvPr>
          <p:cNvSpPr txBox="1"/>
          <p:nvPr/>
        </p:nvSpPr>
        <p:spPr>
          <a:xfrm>
            <a:off x="8203224" y="4746062"/>
            <a:ext cx="4731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89">
            <a:extLst>
              <a:ext uri="{FF2B5EF4-FFF2-40B4-BE49-F238E27FC236}">
                <a16:creationId xmlns:a16="http://schemas.microsoft.com/office/drawing/2014/main" id="{141496B3-AEAC-77D0-0C72-A15D74208842}"/>
              </a:ext>
            </a:extLst>
          </p:cNvPr>
          <p:cNvSpPr txBox="1"/>
          <p:nvPr/>
        </p:nvSpPr>
        <p:spPr>
          <a:xfrm>
            <a:off x="6498300" y="5028769"/>
            <a:ext cx="13809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points ?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90">
            <a:extLst>
              <a:ext uri="{FF2B5EF4-FFF2-40B4-BE49-F238E27FC236}">
                <a16:creationId xmlns:a16="http://schemas.microsoft.com/office/drawing/2014/main" id="{41395654-BE75-3144-641F-2A72461D6489}"/>
              </a:ext>
            </a:extLst>
          </p:cNvPr>
          <p:cNvSpPr txBox="1"/>
          <p:nvPr/>
        </p:nvSpPr>
        <p:spPr>
          <a:xfrm>
            <a:off x="160492" y="2045121"/>
            <a:ext cx="1283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工作流程</a:t>
            </a:r>
            <a:endParaRPr lang="zh-CN" altLang="en-US" sz="2000" dirty="0"/>
          </a:p>
        </p:txBody>
      </p:sp>
      <p:sp>
        <p:nvSpPr>
          <p:cNvPr id="26" name="文本框 91">
            <a:extLst>
              <a:ext uri="{FF2B5EF4-FFF2-40B4-BE49-F238E27FC236}">
                <a16:creationId xmlns:a16="http://schemas.microsoft.com/office/drawing/2014/main" id="{8758E2DE-06A7-CC2E-C115-05EC0FC3F857}"/>
              </a:ext>
            </a:extLst>
          </p:cNvPr>
          <p:cNvSpPr txBox="1"/>
          <p:nvPr/>
        </p:nvSpPr>
        <p:spPr>
          <a:xfrm>
            <a:off x="197140" y="482871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核心机制</a:t>
            </a:r>
            <a:endParaRPr lang="zh-CN" altLang="en-US" sz="2000" dirty="0"/>
          </a:p>
        </p:txBody>
      </p:sp>
      <p:sp>
        <p:nvSpPr>
          <p:cNvPr id="27" name="文本框 94">
            <a:extLst>
              <a:ext uri="{FF2B5EF4-FFF2-40B4-BE49-F238E27FC236}">
                <a16:creationId xmlns:a16="http://schemas.microsoft.com/office/drawing/2014/main" id="{7DF0518E-A20D-5685-B482-164A4D59374E}"/>
              </a:ext>
            </a:extLst>
          </p:cNvPr>
          <p:cNvSpPr txBox="1"/>
          <p:nvPr/>
        </p:nvSpPr>
        <p:spPr>
          <a:xfrm>
            <a:off x="4894365" y="772155"/>
            <a:ext cx="2508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dispersalENM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23210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48">
            <a:extLst>
              <a:ext uri="{FF2B5EF4-FFF2-40B4-BE49-F238E27FC236}">
                <a16:creationId xmlns:a16="http://schemas.microsoft.com/office/drawing/2014/main" id="{43CAEE4D-6DD0-4DE0-3969-4AD97FA40303}"/>
              </a:ext>
            </a:extLst>
          </p:cNvPr>
          <p:cNvGrpSpPr/>
          <p:nvPr/>
        </p:nvGrpSpPr>
        <p:grpSpPr>
          <a:xfrm>
            <a:off x="3973140" y="1166895"/>
            <a:ext cx="6354024" cy="1968886"/>
            <a:chOff x="424309" y="4366260"/>
            <a:chExt cx="5519291" cy="1710232"/>
          </a:xfrm>
        </p:grpSpPr>
        <p:pic>
          <p:nvPicPr>
            <p:cNvPr id="5" name="图片 49">
              <a:extLst>
                <a:ext uri="{FF2B5EF4-FFF2-40B4-BE49-F238E27FC236}">
                  <a16:creationId xmlns:a16="http://schemas.microsoft.com/office/drawing/2014/main" id="{8F8F90F0-3268-D401-F62E-BE6F3988F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1027"/>
            <a:stretch>
              <a:fillRect/>
            </a:stretch>
          </p:blipFill>
          <p:spPr>
            <a:xfrm>
              <a:off x="424309" y="4778303"/>
              <a:ext cx="4992106" cy="1298189"/>
            </a:xfrm>
            <a:prstGeom prst="rect">
              <a:avLst/>
            </a:prstGeom>
          </p:spPr>
        </p:pic>
        <p:cxnSp>
          <p:nvCxnSpPr>
            <p:cNvPr id="6" name="直接箭头连接符 50">
              <a:extLst>
                <a:ext uri="{FF2B5EF4-FFF2-40B4-BE49-F238E27FC236}">
                  <a16:creationId xmlns:a16="http://schemas.microsoft.com/office/drawing/2014/main" id="{AD5749D1-D726-6D45-9CED-BC181E5DC6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5521" y="4778303"/>
              <a:ext cx="386359" cy="67795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51">
              <a:extLst>
                <a:ext uri="{FF2B5EF4-FFF2-40B4-BE49-F238E27FC236}">
                  <a16:creationId xmlns:a16="http://schemas.microsoft.com/office/drawing/2014/main" id="{0D0FD62F-446A-59BD-8FF6-AB7EB199A2B5}"/>
                </a:ext>
              </a:extLst>
            </p:cNvPr>
            <p:cNvSpPr txBox="1"/>
            <p:nvPr/>
          </p:nvSpPr>
          <p:spPr>
            <a:xfrm>
              <a:off x="3225521" y="4366260"/>
              <a:ext cx="2718079" cy="36933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阻力因素取值范围：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 – 1 </a:t>
              </a:r>
              <a:endParaRPr lang="zh-CN" altLang="en-US" dirty="0"/>
            </a:p>
          </p:txBody>
        </p:sp>
      </p:grpSp>
      <p:grpSp>
        <p:nvGrpSpPr>
          <p:cNvPr id="8" name="组合 12">
            <a:extLst>
              <a:ext uri="{FF2B5EF4-FFF2-40B4-BE49-F238E27FC236}">
                <a16:creationId xmlns:a16="http://schemas.microsoft.com/office/drawing/2014/main" id="{08157A46-4133-1B80-FB2E-ADB50E231930}"/>
              </a:ext>
            </a:extLst>
          </p:cNvPr>
          <p:cNvGrpSpPr/>
          <p:nvPr/>
        </p:nvGrpSpPr>
        <p:grpSpPr>
          <a:xfrm>
            <a:off x="2973855" y="3239624"/>
            <a:ext cx="5506494" cy="3103534"/>
            <a:chOff x="5184159" y="3936187"/>
            <a:chExt cx="4942729" cy="2785788"/>
          </a:xfrm>
        </p:grpSpPr>
        <p:grpSp>
          <p:nvGrpSpPr>
            <p:cNvPr id="9" name="组合 52">
              <a:extLst>
                <a:ext uri="{FF2B5EF4-FFF2-40B4-BE49-F238E27FC236}">
                  <a16:creationId xmlns:a16="http://schemas.microsoft.com/office/drawing/2014/main" id="{30F19A6C-A35B-030A-5973-7D156344EAD4}"/>
                </a:ext>
              </a:extLst>
            </p:cNvPr>
            <p:cNvGrpSpPr/>
            <p:nvPr/>
          </p:nvGrpSpPr>
          <p:grpSpPr>
            <a:xfrm>
              <a:off x="6484412" y="3936187"/>
              <a:ext cx="3642476" cy="2416456"/>
              <a:chOff x="6484412" y="3936187"/>
              <a:chExt cx="3642476" cy="2416456"/>
            </a:xfrm>
          </p:grpSpPr>
          <p:pic>
            <p:nvPicPr>
              <p:cNvPr id="12" name="图片 53">
                <a:extLst>
                  <a:ext uri="{FF2B5EF4-FFF2-40B4-BE49-F238E27FC236}">
                    <a16:creationId xmlns:a16="http://schemas.microsoft.com/office/drawing/2014/main" id="{670786C4-607C-40F1-2941-6E5270DD35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6074"/>
              <a:stretch>
                <a:fillRect/>
              </a:stretch>
            </p:blipFill>
            <p:spPr>
              <a:xfrm>
                <a:off x="6484412" y="4255735"/>
                <a:ext cx="3642476" cy="2096908"/>
              </a:xfrm>
              <a:prstGeom prst="rect">
                <a:avLst/>
              </a:prstGeom>
            </p:spPr>
          </p:pic>
          <p:sp>
            <p:nvSpPr>
              <p:cNvPr id="13" name="左大括号 54">
                <a:extLst>
                  <a:ext uri="{FF2B5EF4-FFF2-40B4-BE49-F238E27FC236}">
                    <a16:creationId xmlns:a16="http://schemas.microsoft.com/office/drawing/2014/main" id="{6BAC1CAF-F8C9-C521-1794-3D8CFBA91D88}"/>
                  </a:ext>
                </a:extLst>
              </p:cNvPr>
              <p:cNvSpPr/>
              <p:nvPr/>
            </p:nvSpPr>
            <p:spPr>
              <a:xfrm rot="-5400000">
                <a:off x="7381025" y="4478367"/>
                <a:ext cx="147672" cy="452199"/>
              </a:xfrm>
              <a:prstGeom prst="leftBrac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4" name="连接符: 肘形 55">
                <a:extLst>
                  <a:ext uri="{FF2B5EF4-FFF2-40B4-BE49-F238E27FC236}">
                    <a16:creationId xmlns:a16="http://schemas.microsoft.com/office/drawing/2014/main" id="{4D2F71DD-518C-9F5C-AFB5-727B7449513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8005528" y="3693892"/>
                <a:ext cx="472784" cy="1558877"/>
              </a:xfrm>
              <a:prstGeom prst="bentConnector3">
                <a:avLst>
                  <a:gd name="adj1" fmla="val -33818"/>
                </a:avLst>
              </a:prstGeom>
              <a:ln w="28575">
                <a:solidFill>
                  <a:srgbClr val="FF000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56">
                <a:extLst>
                  <a:ext uri="{FF2B5EF4-FFF2-40B4-BE49-F238E27FC236}">
                    <a16:creationId xmlns:a16="http://schemas.microsoft.com/office/drawing/2014/main" id="{C47E00C0-0B3C-96F4-7905-94F805796EDC}"/>
                  </a:ext>
                </a:extLst>
              </p:cNvPr>
              <p:cNvSpPr txBox="1"/>
              <p:nvPr/>
            </p:nvSpPr>
            <p:spPr>
              <a:xfrm>
                <a:off x="8190057" y="3936187"/>
                <a:ext cx="1647364" cy="36933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驱动因素</a:t>
                </a:r>
                <a:endParaRPr lang="zh-CN" altLang="en-US" dirty="0"/>
              </a:p>
            </p:txBody>
          </p:sp>
        </p:grpSp>
        <p:sp>
          <p:nvSpPr>
            <p:cNvPr id="10" name="文本框 57">
              <a:extLst>
                <a:ext uri="{FF2B5EF4-FFF2-40B4-BE49-F238E27FC236}">
                  <a16:creationId xmlns:a16="http://schemas.microsoft.com/office/drawing/2014/main" id="{98E1C498-9A64-5663-0213-BB8EF1BC06EC}"/>
                </a:ext>
              </a:extLst>
            </p:cNvPr>
            <p:cNvSpPr txBox="1"/>
            <p:nvPr/>
          </p:nvSpPr>
          <p:spPr>
            <a:xfrm>
              <a:off x="5184159" y="6352643"/>
              <a:ext cx="1518881" cy="36933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作用程度</a:t>
              </a:r>
              <a:endParaRPr lang="zh-CN" altLang="en-US" dirty="0"/>
            </a:p>
          </p:txBody>
        </p:sp>
        <p:cxnSp>
          <p:nvCxnSpPr>
            <p:cNvPr id="11" name="直接箭头连接符 58">
              <a:extLst>
                <a:ext uri="{FF2B5EF4-FFF2-40B4-BE49-F238E27FC236}">
                  <a16:creationId xmlns:a16="http://schemas.microsoft.com/office/drawing/2014/main" id="{5E69B769-8707-00FF-1C20-185E42A135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5196840"/>
              <a:ext cx="607040" cy="115580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3">
            <a:extLst>
              <a:ext uri="{FF2B5EF4-FFF2-40B4-BE49-F238E27FC236}">
                <a16:creationId xmlns:a16="http://schemas.microsoft.com/office/drawing/2014/main" id="{B469E8DA-B487-26A5-0B41-51AA3ED8B591}"/>
              </a:ext>
            </a:extLst>
          </p:cNvPr>
          <p:cNvSpPr txBox="1"/>
          <p:nvPr/>
        </p:nvSpPr>
        <p:spPr>
          <a:xfrm>
            <a:off x="9768080" y="1552424"/>
            <a:ext cx="482824" cy="1229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4">
            <a:extLst>
              <a:ext uri="{FF2B5EF4-FFF2-40B4-BE49-F238E27FC236}">
                <a16:creationId xmlns:a16="http://schemas.microsoft.com/office/drawing/2014/main" id="{64BC6BE8-3663-7A76-D467-CDAA4C4F7FAB}"/>
              </a:ext>
            </a:extLst>
          </p:cNvPr>
          <p:cNvSpPr txBox="1"/>
          <p:nvPr/>
        </p:nvSpPr>
        <p:spPr>
          <a:xfrm>
            <a:off x="9761837" y="3377980"/>
            <a:ext cx="482824" cy="2460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2ED0F84-643D-4B30-ED43-F3B7E73CFE14}"/>
              </a:ext>
            </a:extLst>
          </p:cNvPr>
          <p:cNvGrpSpPr/>
          <p:nvPr/>
        </p:nvGrpSpPr>
        <p:grpSpPr>
          <a:xfrm>
            <a:off x="569144" y="906287"/>
            <a:ext cx="3022836" cy="4991294"/>
            <a:chOff x="569144" y="906287"/>
            <a:chExt cx="3022836" cy="4991294"/>
          </a:xfrm>
        </p:grpSpPr>
        <p:pic>
          <p:nvPicPr>
            <p:cNvPr id="19" name="图片 15">
              <a:extLst>
                <a:ext uri="{FF2B5EF4-FFF2-40B4-BE49-F238E27FC236}">
                  <a16:creationId xmlns:a16="http://schemas.microsoft.com/office/drawing/2014/main" id="{11AE2715-5BE2-056C-6F37-E464E6557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787" r="3086"/>
            <a:stretch>
              <a:fillRect/>
            </a:stretch>
          </p:blipFill>
          <p:spPr>
            <a:xfrm>
              <a:off x="576705" y="3444960"/>
              <a:ext cx="3015275" cy="2452621"/>
            </a:xfrm>
            <a:prstGeom prst="rect">
              <a:avLst/>
            </a:prstGeom>
          </p:spPr>
        </p:pic>
        <p:pic>
          <p:nvPicPr>
            <p:cNvPr id="20" name="图片 16">
              <a:extLst>
                <a:ext uri="{FF2B5EF4-FFF2-40B4-BE49-F238E27FC236}">
                  <a16:creationId xmlns:a16="http://schemas.microsoft.com/office/drawing/2014/main" id="{6738524D-A42F-782C-18E8-02569FB3F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" r="52556"/>
            <a:stretch>
              <a:fillRect/>
            </a:stretch>
          </p:blipFill>
          <p:spPr>
            <a:xfrm>
              <a:off x="569144" y="906287"/>
              <a:ext cx="3015275" cy="2567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8645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2">
            <a:extLst>
              <a:ext uri="{FF2B5EF4-FFF2-40B4-BE49-F238E27FC236}">
                <a16:creationId xmlns:a16="http://schemas.microsoft.com/office/drawing/2014/main" id="{0D92587D-275D-2C18-5CEA-C7DDC7BF5E5C}"/>
              </a:ext>
            </a:extLst>
          </p:cNvPr>
          <p:cNvGrpSpPr/>
          <p:nvPr/>
        </p:nvGrpSpPr>
        <p:grpSpPr>
          <a:xfrm>
            <a:off x="3150403" y="5239087"/>
            <a:ext cx="5621433" cy="393086"/>
            <a:chOff x="2591467" y="4482097"/>
            <a:chExt cx="5621433" cy="393086"/>
          </a:xfrm>
        </p:grpSpPr>
        <p:cxnSp>
          <p:nvCxnSpPr>
            <p:cNvPr id="5" name="直接连接符 27">
              <a:extLst>
                <a:ext uri="{FF2B5EF4-FFF2-40B4-BE49-F238E27FC236}">
                  <a16:creationId xmlns:a16="http://schemas.microsoft.com/office/drawing/2014/main" id="{AFD86B83-FD60-4769-3271-D8E65DE8FBA4}"/>
                </a:ext>
              </a:extLst>
            </p:cNvPr>
            <p:cNvCxnSpPr>
              <a:cxnSpLocks/>
            </p:cNvCxnSpPr>
            <p:nvPr/>
          </p:nvCxnSpPr>
          <p:spPr>
            <a:xfrm>
              <a:off x="2591467" y="4675128"/>
              <a:ext cx="577516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28">
              <a:extLst>
                <a:ext uri="{FF2B5EF4-FFF2-40B4-BE49-F238E27FC236}">
                  <a16:creationId xmlns:a16="http://schemas.microsoft.com/office/drawing/2014/main" id="{7061BB04-1CF1-368D-8E6E-C24F781231E9}"/>
                </a:ext>
              </a:extLst>
            </p:cNvPr>
            <p:cNvCxnSpPr>
              <a:cxnSpLocks/>
            </p:cNvCxnSpPr>
            <p:nvPr/>
          </p:nvCxnSpPr>
          <p:spPr>
            <a:xfrm>
              <a:off x="5458425" y="4675128"/>
              <a:ext cx="509245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29">
              <a:extLst>
                <a:ext uri="{FF2B5EF4-FFF2-40B4-BE49-F238E27FC236}">
                  <a16:creationId xmlns:a16="http://schemas.microsoft.com/office/drawing/2014/main" id="{0A99EF22-A763-E849-8FCA-1464A99DB6D1}"/>
                </a:ext>
              </a:extLst>
            </p:cNvPr>
            <p:cNvSpPr txBox="1"/>
            <p:nvPr/>
          </p:nvSpPr>
          <p:spPr>
            <a:xfrm>
              <a:off x="3100712" y="4482097"/>
              <a:ext cx="2276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无限扩散</a:t>
              </a:r>
            </a:p>
          </p:txBody>
        </p:sp>
        <p:sp>
          <p:nvSpPr>
            <p:cNvPr id="8" name="文本框 30">
              <a:extLst>
                <a:ext uri="{FF2B5EF4-FFF2-40B4-BE49-F238E27FC236}">
                  <a16:creationId xmlns:a16="http://schemas.microsoft.com/office/drawing/2014/main" id="{BD87A668-86EB-7B43-B21C-E3D41003BA09}"/>
                </a:ext>
              </a:extLst>
            </p:cNvPr>
            <p:cNvSpPr txBox="1"/>
            <p:nvPr/>
          </p:nvSpPr>
          <p:spPr>
            <a:xfrm>
              <a:off x="5936732" y="4505851"/>
              <a:ext cx="2276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限制扩散</a:t>
              </a:r>
            </a:p>
          </p:txBody>
        </p:sp>
      </p:grpSp>
      <p:sp>
        <p:nvSpPr>
          <p:cNvPr id="9" name="文本框 31">
            <a:extLst>
              <a:ext uri="{FF2B5EF4-FFF2-40B4-BE49-F238E27FC236}">
                <a16:creationId xmlns:a16="http://schemas.microsoft.com/office/drawing/2014/main" id="{6CBB4E89-D266-5492-F296-58EC614B8FAF}"/>
              </a:ext>
            </a:extLst>
          </p:cNvPr>
          <p:cNvSpPr txBox="1"/>
          <p:nvPr/>
        </p:nvSpPr>
        <p:spPr>
          <a:xfrm>
            <a:off x="975558" y="888537"/>
            <a:ext cx="10147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未来气候情景下物种分布面积变化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32">
            <a:extLst>
              <a:ext uri="{FF2B5EF4-FFF2-40B4-BE49-F238E27FC236}">
                <a16:creationId xmlns:a16="http://schemas.microsoft.com/office/drawing/2014/main" id="{8090A735-AB76-89A0-CBB6-9BD6CC0F598B}"/>
              </a:ext>
            </a:extLst>
          </p:cNvPr>
          <p:cNvSpPr txBox="1"/>
          <p:nvPr/>
        </p:nvSpPr>
        <p:spPr>
          <a:xfrm>
            <a:off x="1768038" y="5977630"/>
            <a:ext cx="8848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不考虑扩散限制下，物种未来的潜在分布区面积变化波动更大</a:t>
            </a:r>
          </a:p>
        </p:txBody>
      </p:sp>
      <p:pic>
        <p:nvPicPr>
          <p:cNvPr id="11" name="图片 34">
            <a:extLst>
              <a:ext uri="{FF2B5EF4-FFF2-40B4-BE49-F238E27FC236}">
                <a16:creationId xmlns:a16="http://schemas.microsoft.com/office/drawing/2014/main" id="{F4B402F4-60BC-95D1-453D-F5FCCB2AE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605" y="1515671"/>
            <a:ext cx="11241510" cy="3747170"/>
          </a:xfrm>
          <a:prstGeom prst="rect">
            <a:avLst/>
          </a:prstGeom>
        </p:spPr>
      </p:pic>
      <p:sp>
        <p:nvSpPr>
          <p:cNvPr id="12" name="文本框 35">
            <a:extLst>
              <a:ext uri="{FF2B5EF4-FFF2-40B4-BE49-F238E27FC236}">
                <a16:creationId xmlns:a16="http://schemas.microsoft.com/office/drawing/2014/main" id="{22FB1877-0EAA-483C-00A6-AF85B1B46F31}"/>
              </a:ext>
            </a:extLst>
          </p:cNvPr>
          <p:cNvSpPr txBox="1"/>
          <p:nvPr/>
        </p:nvSpPr>
        <p:spPr>
          <a:xfrm>
            <a:off x="814074" y="1512755"/>
            <a:ext cx="191588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中国雨蛙</a:t>
            </a:r>
          </a:p>
        </p:txBody>
      </p:sp>
      <p:sp>
        <p:nvSpPr>
          <p:cNvPr id="13" name="文本框 36">
            <a:extLst>
              <a:ext uri="{FF2B5EF4-FFF2-40B4-BE49-F238E27FC236}">
                <a16:creationId xmlns:a16="http://schemas.microsoft.com/office/drawing/2014/main" id="{48F8AA61-49FA-BA54-94D6-3D34FE7D5BBE}"/>
              </a:ext>
            </a:extLst>
          </p:cNvPr>
          <p:cNvSpPr txBox="1"/>
          <p:nvPr/>
        </p:nvSpPr>
        <p:spPr>
          <a:xfrm>
            <a:off x="3012988" y="1519627"/>
            <a:ext cx="191588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高原林蛙</a:t>
            </a:r>
          </a:p>
        </p:txBody>
      </p:sp>
      <p:sp>
        <p:nvSpPr>
          <p:cNvPr id="14" name="文本框 37">
            <a:extLst>
              <a:ext uri="{FF2B5EF4-FFF2-40B4-BE49-F238E27FC236}">
                <a16:creationId xmlns:a16="http://schemas.microsoft.com/office/drawing/2014/main" id="{092E14D3-FFD0-B4C5-2D0F-6D1A2F557C28}"/>
              </a:ext>
            </a:extLst>
          </p:cNvPr>
          <p:cNvSpPr txBox="1"/>
          <p:nvPr/>
        </p:nvSpPr>
        <p:spPr>
          <a:xfrm>
            <a:off x="5220611" y="1507404"/>
            <a:ext cx="191588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红嘴钩嘴鹛</a:t>
            </a:r>
          </a:p>
        </p:txBody>
      </p:sp>
      <p:sp>
        <p:nvSpPr>
          <p:cNvPr id="15" name="文本框 38">
            <a:extLst>
              <a:ext uri="{FF2B5EF4-FFF2-40B4-BE49-F238E27FC236}">
                <a16:creationId xmlns:a16="http://schemas.microsoft.com/office/drawing/2014/main" id="{21F65D81-7192-7997-B387-EA4DD3537FC9}"/>
              </a:ext>
            </a:extLst>
          </p:cNvPr>
          <p:cNvSpPr txBox="1"/>
          <p:nvPr/>
        </p:nvSpPr>
        <p:spPr>
          <a:xfrm>
            <a:off x="7452056" y="1507403"/>
            <a:ext cx="191588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条纹噪鹛</a:t>
            </a:r>
          </a:p>
        </p:txBody>
      </p:sp>
      <p:sp>
        <p:nvSpPr>
          <p:cNvPr id="16" name="文本框 39">
            <a:extLst>
              <a:ext uri="{FF2B5EF4-FFF2-40B4-BE49-F238E27FC236}">
                <a16:creationId xmlns:a16="http://schemas.microsoft.com/office/drawing/2014/main" id="{079033DC-AA1C-2476-7F96-CF7E8B2B352C}"/>
              </a:ext>
            </a:extLst>
          </p:cNvPr>
          <p:cNvSpPr txBox="1"/>
          <p:nvPr/>
        </p:nvSpPr>
        <p:spPr>
          <a:xfrm>
            <a:off x="9662638" y="1519434"/>
            <a:ext cx="191588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路德雀鹛</a:t>
            </a:r>
          </a:p>
        </p:txBody>
      </p:sp>
      <p:sp>
        <p:nvSpPr>
          <p:cNvPr id="17" name="文本框 40">
            <a:extLst>
              <a:ext uri="{FF2B5EF4-FFF2-40B4-BE49-F238E27FC236}">
                <a16:creationId xmlns:a16="http://schemas.microsoft.com/office/drawing/2014/main" id="{CF19A1DA-D810-BE3F-8466-BC43164DB303}"/>
              </a:ext>
            </a:extLst>
          </p:cNvPr>
          <p:cNvSpPr txBox="1"/>
          <p:nvPr/>
        </p:nvSpPr>
        <p:spPr>
          <a:xfrm>
            <a:off x="814074" y="3223171"/>
            <a:ext cx="191588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褐喉旋木雀</a:t>
            </a:r>
          </a:p>
        </p:txBody>
      </p:sp>
      <p:sp>
        <p:nvSpPr>
          <p:cNvPr id="18" name="文本框 41">
            <a:extLst>
              <a:ext uri="{FF2B5EF4-FFF2-40B4-BE49-F238E27FC236}">
                <a16:creationId xmlns:a16="http://schemas.microsoft.com/office/drawing/2014/main" id="{1C02D0C8-B274-F238-7BCE-FC15479058B9}"/>
              </a:ext>
            </a:extLst>
          </p:cNvPr>
          <p:cNvSpPr txBox="1"/>
          <p:nvPr/>
        </p:nvSpPr>
        <p:spPr>
          <a:xfrm>
            <a:off x="3012988" y="3223170"/>
            <a:ext cx="191588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钩嘴林鵙</a:t>
            </a:r>
          </a:p>
        </p:txBody>
      </p:sp>
      <p:sp>
        <p:nvSpPr>
          <p:cNvPr id="19" name="文本框 42">
            <a:extLst>
              <a:ext uri="{FF2B5EF4-FFF2-40B4-BE49-F238E27FC236}">
                <a16:creationId xmlns:a16="http://schemas.microsoft.com/office/drawing/2014/main" id="{55407839-86E9-A33A-B5F4-3292695CA413}"/>
              </a:ext>
            </a:extLst>
          </p:cNvPr>
          <p:cNvSpPr txBox="1"/>
          <p:nvPr/>
        </p:nvSpPr>
        <p:spPr>
          <a:xfrm>
            <a:off x="5220611" y="3228388"/>
            <a:ext cx="191588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苹果蠹蛾</a:t>
            </a:r>
          </a:p>
        </p:txBody>
      </p:sp>
      <p:sp>
        <p:nvSpPr>
          <p:cNvPr id="20" name="文本框 43">
            <a:extLst>
              <a:ext uri="{FF2B5EF4-FFF2-40B4-BE49-F238E27FC236}">
                <a16:creationId xmlns:a16="http://schemas.microsoft.com/office/drawing/2014/main" id="{1A011F4D-2670-6D8C-E62E-1C601DF6A54D}"/>
              </a:ext>
            </a:extLst>
          </p:cNvPr>
          <p:cNvSpPr txBox="1"/>
          <p:nvPr/>
        </p:nvSpPr>
        <p:spPr>
          <a:xfrm>
            <a:off x="7452056" y="3223169"/>
            <a:ext cx="191588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番茄潜叶蛾</a:t>
            </a:r>
          </a:p>
        </p:txBody>
      </p:sp>
      <p:sp>
        <p:nvSpPr>
          <p:cNvPr id="21" name="文本框 44">
            <a:extLst>
              <a:ext uri="{FF2B5EF4-FFF2-40B4-BE49-F238E27FC236}">
                <a16:creationId xmlns:a16="http://schemas.microsoft.com/office/drawing/2014/main" id="{5CB6A6E4-CB04-9861-B4E5-08333D76C6E6}"/>
              </a:ext>
            </a:extLst>
          </p:cNvPr>
          <p:cNvSpPr txBox="1"/>
          <p:nvPr/>
        </p:nvSpPr>
        <p:spPr>
          <a:xfrm>
            <a:off x="9662638" y="3223169"/>
            <a:ext cx="191588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马铃薯甲虫</a:t>
            </a:r>
          </a:p>
        </p:txBody>
      </p:sp>
    </p:spTree>
    <p:extLst>
      <p:ext uri="{BB962C8B-B14F-4D97-AF65-F5344CB8AC3E}">
        <p14:creationId xmlns:p14="http://schemas.microsoft.com/office/powerpoint/2010/main" val="27551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12">
            <a:extLst>
              <a:ext uri="{FF2B5EF4-FFF2-40B4-BE49-F238E27FC236}">
                <a16:creationId xmlns:a16="http://schemas.microsoft.com/office/drawing/2014/main" id="{FFC019F9-D7CB-4D35-644F-3871F09F5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98279"/>
              </p:ext>
            </p:extLst>
          </p:nvPr>
        </p:nvGraphicFramePr>
        <p:xfrm>
          <a:off x="1302416" y="1539501"/>
          <a:ext cx="8892666" cy="424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3144">
                  <a:extLst>
                    <a:ext uri="{9D8B030D-6E8A-4147-A177-3AD203B41FA5}">
                      <a16:colId xmlns:a16="http://schemas.microsoft.com/office/drawing/2014/main" val="2727007583"/>
                    </a:ext>
                  </a:extLst>
                </a:gridCol>
                <a:gridCol w="2038857">
                  <a:extLst>
                    <a:ext uri="{9D8B030D-6E8A-4147-A177-3AD203B41FA5}">
                      <a16:colId xmlns:a16="http://schemas.microsoft.com/office/drawing/2014/main" val="3277750306"/>
                    </a:ext>
                  </a:extLst>
                </a:gridCol>
                <a:gridCol w="1477099">
                  <a:extLst>
                    <a:ext uri="{9D8B030D-6E8A-4147-A177-3AD203B41FA5}">
                      <a16:colId xmlns:a16="http://schemas.microsoft.com/office/drawing/2014/main" val="1194878890"/>
                    </a:ext>
                  </a:extLst>
                </a:gridCol>
                <a:gridCol w="1853566">
                  <a:extLst>
                    <a:ext uri="{9D8B030D-6E8A-4147-A177-3AD203B41FA5}">
                      <a16:colId xmlns:a16="http://schemas.microsoft.com/office/drawing/2014/main" val="3555567338"/>
                    </a:ext>
                  </a:extLst>
                </a:gridCol>
              </a:tblGrid>
              <a:tr h="4248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特征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dispersalENM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megaSDM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MIGCLIM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99494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20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物种性状整合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66307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20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底层</a:t>
                      </a:r>
                      <a:r>
                        <a:rPr lang="en-US" sz="20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ENM</a:t>
                      </a:r>
                      <a:r>
                        <a:rPr lang="zh-CN" sz="20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算法支持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✗</a:t>
                      </a:r>
                      <a:endParaRPr lang="zh-CN" sz="2000" b="0" i="0" kern="1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791591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20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计算效率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✗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010294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20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用户友好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alt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68266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20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时间动态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✗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025825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20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环境阻力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✗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707401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20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方向性</a:t>
                      </a:r>
                      <a:r>
                        <a:rPr lang="zh-CN" altLang="en-US" sz="20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驱动</a:t>
                      </a:r>
                      <a:endParaRPr lang="zh-CN" sz="20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✗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✗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865917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20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本土与非本土物种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✓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✗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✗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323182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20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发行时间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2025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2022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2000" b="0" i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2012</a:t>
                      </a:r>
                      <a:endParaRPr lang="zh-CN" sz="2000" b="0" i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888" marR="6688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5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088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486</Words>
  <Application>Microsoft Macintosh PowerPoint</Application>
  <PresentationFormat>Widescreen</PresentationFormat>
  <Paragraphs>155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宋体</vt:lpstr>
      <vt:lpstr>Aptos</vt:lpstr>
      <vt:lpstr>Aptos Display</vt:lpstr>
      <vt:lpstr>Arial</vt:lpstr>
      <vt:lpstr>Times New Roman</vt:lpstr>
      <vt:lpstr>Office Theme</vt:lpstr>
      <vt:lpstr>扩散在SDM中的应用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Huijie Qiao</dc:creator>
  <cp:lastModifiedBy>Huijie Qiao</cp:lastModifiedBy>
  <cp:revision>9</cp:revision>
  <dcterms:created xsi:type="dcterms:W3CDTF">2026-09-15T07:10:18Z</dcterms:created>
  <dcterms:modified xsi:type="dcterms:W3CDTF">2026-09-15T07:45:59Z</dcterms:modified>
</cp:coreProperties>
</file>