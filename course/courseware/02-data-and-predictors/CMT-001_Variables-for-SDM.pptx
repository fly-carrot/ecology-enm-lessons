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418" r:id="rId3"/>
    <p:sldId id="419" r:id="rId4"/>
    <p:sldId id="462" r:id="rId5"/>
    <p:sldId id="259" r:id="rId6"/>
    <p:sldId id="461" r:id="rId7"/>
    <p:sldId id="422" r:id="rId8"/>
    <p:sldId id="442" r:id="rId9"/>
    <p:sldId id="420" r:id="rId10"/>
    <p:sldId id="463" r:id="rId11"/>
    <p:sldId id="424" r:id="rId12"/>
    <p:sldId id="421" r:id="rId13"/>
    <p:sldId id="438" r:id="rId14"/>
    <p:sldId id="423" r:id="rId15"/>
    <p:sldId id="432" r:id="rId16"/>
    <p:sldId id="435" r:id="rId17"/>
    <p:sldId id="436" r:id="rId18"/>
    <p:sldId id="437" r:id="rId19"/>
    <p:sldId id="434" r:id="rId20"/>
    <p:sldId id="425" r:id="rId21"/>
    <p:sldId id="445" r:id="rId22"/>
    <p:sldId id="455" r:id="rId23"/>
    <p:sldId id="456" r:id="rId24"/>
    <p:sldId id="446" r:id="rId25"/>
    <p:sldId id="439" r:id="rId26"/>
    <p:sldId id="440" r:id="rId27"/>
    <p:sldId id="457" r:id="rId28"/>
    <p:sldId id="441" r:id="rId29"/>
    <p:sldId id="453" r:id="rId30"/>
    <p:sldId id="454" r:id="rId31"/>
    <p:sldId id="443" r:id="rId32"/>
    <p:sldId id="464" r:id="rId33"/>
    <p:sldId id="452" r:id="rId34"/>
    <p:sldId id="448" r:id="rId35"/>
    <p:sldId id="426" r:id="rId36"/>
    <p:sldId id="465" r:id="rId37"/>
    <p:sldId id="449" r:id="rId38"/>
    <p:sldId id="447" r:id="rId39"/>
    <p:sldId id="664" r:id="rId40"/>
    <p:sldId id="663" r:id="rId41"/>
    <p:sldId id="63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888ED-F378-4B2C-92BC-1C90BE688313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C8CF2-068D-4E1E-A256-93AEDA15FE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80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82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8F2DDE-1B51-41DE-81B0-464DF54D77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64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C8CF2-068D-4E1E-A256-93AEDA15FE0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2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2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0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108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92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3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8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72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8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1C06-9919-48EC-A4F9-7825A7865E7E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5532-604D-40F1-9141-AD72F9809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engping.zhu@w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E424-DE02-6913-D1A9-922868003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840"/>
            <a:ext cx="9144000" cy="2103121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FF0000"/>
                </a:solidFill>
              </a:rPr>
              <a:t>Variables for SDM</a:t>
            </a:r>
            <a:endParaRPr lang="zh-CN" alt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05F94-253A-E23E-1E65-290028E49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360" y="2494598"/>
            <a:ext cx="8402320" cy="2473642"/>
          </a:xfrm>
        </p:spPr>
        <p:txBody>
          <a:bodyPr>
            <a:normAutofit/>
          </a:bodyPr>
          <a:lstStyle/>
          <a:p>
            <a:pPr marL="457200" indent="-457200" algn="l" fontAlgn="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Characteristics and source of environmental data</a:t>
            </a:r>
          </a:p>
          <a:p>
            <a:pPr marL="457200" indent="-457200" algn="l" fontAlgn="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  <a:ea typeface="等线" panose="02010600030101010101" pitchFamily="2" charset="-122"/>
              </a:rPr>
              <a:t>Processing environmental data for ENM/SDM</a:t>
            </a:r>
            <a:endParaRPr lang="en-US" altLang="zh-CN" sz="3200" dirty="0"/>
          </a:p>
          <a:p>
            <a:pPr marL="457200" indent="-457200" algn="l" fontAlgn="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endParaRPr lang="en-US" altLang="zh-CN" sz="3200" dirty="0"/>
          </a:p>
          <a:p>
            <a:pPr marL="457200" indent="-457200" algn="l" fontAlgn="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n"/>
            </a:pPr>
            <a:endParaRPr lang="zh-CN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206D6-C0E2-8630-AD5C-5711CC2FA285}"/>
              </a:ext>
            </a:extLst>
          </p:cNvPr>
          <p:cNvSpPr txBox="1"/>
          <p:nvPr/>
        </p:nvSpPr>
        <p:spPr>
          <a:xfrm>
            <a:off x="2458720" y="5598160"/>
            <a:ext cx="5201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 Zhu</a:t>
            </a:r>
          </a:p>
          <a:p>
            <a:pPr algn="ctr"/>
            <a:r>
              <a:rPr lang="en-US" altLang="zh-CN" sz="24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gengping.zhu@wsu.edu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761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Gengping\Local Settings\Temporary Internet Files\Content.IE5\V3PLPH9Q\openModeller_overview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2" y="2438558"/>
            <a:ext cx="9128794" cy="2214578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42844" y="1340768"/>
            <a:ext cx="864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ckwell Condensed" pitchFamily="18" charset="0"/>
                <a:ea typeface="+mn-ea"/>
                <a:cs typeface="Times New Roman" pitchFamily="18" charset="0"/>
              </a:rPr>
              <a:t>Correlative approach: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4365" y="5429264"/>
            <a:ext cx="4293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openModeller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http://openmodeller.sourceforge.net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7C88D5-45A9-C30E-5064-A5CCACDFA065}"/>
              </a:ext>
            </a:extLst>
          </p:cNvPr>
          <p:cNvSpPr/>
          <p:nvPr/>
        </p:nvSpPr>
        <p:spPr>
          <a:xfrm>
            <a:off x="3070845" y="0"/>
            <a:ext cx="2987040" cy="6858000"/>
          </a:xfrm>
          <a:prstGeom prst="roundRect">
            <a:avLst/>
          </a:prstGeom>
          <a:noFill/>
          <a:ln w="666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67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9FB3-F856-8B66-C8E4-F84D47B97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03" y="601363"/>
            <a:ext cx="8144647" cy="1005016"/>
          </a:xfrm>
        </p:spPr>
        <p:txBody>
          <a:bodyPr/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data/Raster data: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AF8A-5549-1480-BB49-D62E1DCD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8112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/>
              <a:t>Why call it layer?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Demonstrating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rgbClr val="FF0000"/>
                </a:solidFill>
              </a:rPr>
              <a:t> ArcGIS/</a:t>
            </a:r>
            <a:r>
              <a:rPr lang="en-US" altLang="zh-CN" dirty="0" err="1">
                <a:solidFill>
                  <a:srgbClr val="FF0000"/>
                </a:solidFill>
              </a:rPr>
              <a:t>ArcPro</a:t>
            </a:r>
            <a:r>
              <a:rPr lang="en-US" altLang="zh-CN" dirty="0">
                <a:solidFill>
                  <a:srgbClr val="FF0000"/>
                </a:solidFill>
              </a:rPr>
              <a:t>, QGIS</a:t>
            </a: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Format: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asc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.tif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bil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, 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rst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, 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.txt, 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img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, </a:t>
            </a:r>
          </a:p>
          <a:p>
            <a:pPr marL="457200" lvl="1" indent="0" defTabSz="45720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netCDF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orbel" panose="020B0503020204020204" pitchFamily="34" charset="0"/>
                <a:ea typeface="等线" panose="02010600030101010101" pitchFamily="2" charset="-122"/>
                <a:cs typeface="+mn-cs"/>
              </a:rPr>
              <a:t>,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2698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880E-1FD2-64BC-F57E-2335FA34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86700" cy="65024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What is a raster data looks like?</a:t>
            </a:r>
            <a:endParaRPr lang="zh-CN" altLang="en-US" b="1" dirty="0"/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FB8A2462-BCC0-E77F-2AFA-C6B9908F3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89" y="845229"/>
            <a:ext cx="8232271" cy="51675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DA77F6-E16E-18D0-1D3E-ADA31C9062E9}"/>
              </a:ext>
            </a:extLst>
          </p:cNvPr>
          <p:cNvSpPr txBox="1"/>
          <p:nvPr/>
        </p:nvSpPr>
        <p:spPr>
          <a:xfrm>
            <a:off x="1219200" y="4927600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Longitude</a:t>
            </a:r>
            <a:endParaRPr lang="zh-CN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A9D20-3F30-3F5E-6DF2-558E73C92843}"/>
              </a:ext>
            </a:extLst>
          </p:cNvPr>
          <p:cNvSpPr txBox="1"/>
          <p:nvPr/>
        </p:nvSpPr>
        <p:spPr>
          <a:xfrm rot="16200000">
            <a:off x="-162961" y="3531801"/>
            <a:ext cx="1551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Latitude</a:t>
            </a:r>
            <a:endParaRPr lang="zh-CN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6D5D8-A783-C97D-0C4F-7A854BE0FD71}"/>
              </a:ext>
            </a:extLst>
          </p:cNvPr>
          <p:cNvSpPr txBox="1"/>
          <p:nvPr/>
        </p:nvSpPr>
        <p:spPr>
          <a:xfrm>
            <a:off x="5750560" y="5869555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Longitude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2195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D3ECC-92C8-D097-3381-6B26C0E1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52" y="0"/>
            <a:ext cx="6042768" cy="6841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FB3D8-CCFA-03F9-53E3-96D1FBAE4DDB}"/>
              </a:ext>
            </a:extLst>
          </p:cNvPr>
          <p:cNvSpPr txBox="1"/>
          <p:nvPr/>
        </p:nvSpPr>
        <p:spPr>
          <a:xfrm>
            <a:off x="264160" y="2235200"/>
            <a:ext cx="2844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i="0" u="none" strike="noStrike" baseline="0" dirty="0">
                <a:solidFill>
                  <a:srgbClr val="FF0000"/>
                </a:solidFill>
                <a:latin typeface="Cambria-Bold"/>
              </a:rPr>
              <a:t>Data structures and object types in </a:t>
            </a:r>
            <a:r>
              <a:rPr lang="en-US" altLang="zh-CN" sz="2800" b="1" i="0" u="none" strike="noStrike" baseline="0" dirty="0">
                <a:latin typeface="Cambria-Bold"/>
              </a:rPr>
              <a:t>R</a:t>
            </a:r>
            <a:endParaRPr lang="zh-CN" altLang="en-US" sz="2800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F74A27B1-3D02-547B-1DC4-475FA9D86A19}"/>
              </a:ext>
            </a:extLst>
          </p:cNvPr>
          <p:cNvSpPr/>
          <p:nvPr/>
        </p:nvSpPr>
        <p:spPr>
          <a:xfrm>
            <a:off x="2420512" y="721360"/>
            <a:ext cx="650240" cy="508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EAEAC-BA80-BD14-DFD1-17C02D39D5D5}"/>
              </a:ext>
            </a:extLst>
          </p:cNvPr>
          <p:cNvSpPr txBox="1"/>
          <p:nvPr/>
        </p:nvSpPr>
        <p:spPr>
          <a:xfrm>
            <a:off x="632352" y="751840"/>
            <a:ext cx="1788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Raster data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1944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880E-1FD2-64BC-F57E-2335FA34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86700" cy="65024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What is a raster data looks like?</a:t>
            </a:r>
            <a:endParaRPr lang="zh-CN" alt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4C6D1D-064C-3F3F-54BB-033452D5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62" y="538480"/>
            <a:ext cx="6660779" cy="632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9853E-3121-6CB6-4A5E-80DAA7FA6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78" y="431028"/>
            <a:ext cx="7886700" cy="47513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General characteristics of raster data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E9F81-3B9A-AB77-B362-25D8F9B61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82569"/>
            <a:ext cx="9185183" cy="2673885"/>
          </a:xfrm>
          <a:prstGeom prst="rect">
            <a:avLst/>
          </a:prstGeom>
        </p:spPr>
      </p:pic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9FDA69A1-05CC-A82B-8171-9962C82E9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710" y="3756454"/>
            <a:ext cx="4967840" cy="311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7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7F0A-338D-8FC2-733B-29C4585F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Unifying raster layers-</a:t>
            </a:r>
            <a:r>
              <a:rPr lang="en-US" altLang="zh-CN" b="1" dirty="0">
                <a:solidFill>
                  <a:srgbClr val="FF0000"/>
                </a:solidFill>
              </a:rPr>
              <a:t>why?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FACED-ED20-6430-5318-730C0028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23698"/>
            <a:ext cx="7886700" cy="4351338"/>
          </a:xfrm>
        </p:spPr>
        <p:txBody>
          <a:bodyPr/>
          <a:lstStyle/>
          <a:p>
            <a:r>
              <a:rPr lang="en-US" altLang="zh-CN" dirty="0"/>
              <a:t>Many times, we are using environmental variables from different sources;</a:t>
            </a:r>
          </a:p>
          <a:p>
            <a:pPr marL="0" indent="0">
              <a:buNone/>
            </a:pPr>
            <a:r>
              <a:rPr lang="en-US" altLang="zh-CN" dirty="0"/>
              <a:t>e.g., climate, topographic, landcover,  et al.,</a:t>
            </a:r>
            <a:r>
              <a:rPr lang="zh-CN" altLang="en-US" dirty="0"/>
              <a:t> </a:t>
            </a:r>
            <a:r>
              <a:rPr lang="en-US" altLang="zh-CN" dirty="0"/>
              <a:t>these variables are provided red by different originations, they use their unique way to deposit/organize the data...</a:t>
            </a:r>
          </a:p>
          <a:p>
            <a:r>
              <a:rPr lang="en-US" altLang="zh-CN" dirty="0"/>
              <a:t>These variables/data have different extent and resolution.., you need to unify them before fitting the model;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7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vertebrate, coelenterate&#10;&#10;Description automatically generated">
            <a:extLst>
              <a:ext uri="{FF2B5EF4-FFF2-40B4-BE49-F238E27FC236}">
                <a16:creationId xmlns:a16="http://schemas.microsoft.com/office/drawing/2014/main" id="{FBCDA564-5B5E-803B-1B5A-C95498BD4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66" y="556054"/>
            <a:ext cx="4896880" cy="2338530"/>
          </a:xfrm>
          <a:prstGeom prst="rect">
            <a:avLst/>
          </a:prstGeom>
        </p:spPr>
      </p:pic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25ADA662-EF92-F139-9A04-1F1C0BE83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66" y="3870928"/>
            <a:ext cx="8401049" cy="2800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23FF61-7331-17C3-FD5C-F57A37006DE6}"/>
              </a:ext>
            </a:extLst>
          </p:cNvPr>
          <p:cNvSpPr txBox="1"/>
          <p:nvPr/>
        </p:nvSpPr>
        <p:spPr>
          <a:xfrm>
            <a:off x="185866" y="18672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Raster as surface maps---continuous data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F0C2B-A1A8-EDAC-17AC-8A992584D040}"/>
              </a:ext>
            </a:extLst>
          </p:cNvPr>
          <p:cNvSpPr txBox="1"/>
          <p:nvPr/>
        </p:nvSpPr>
        <p:spPr>
          <a:xfrm>
            <a:off x="127686" y="35015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Raster as thematic maps--- categorized data</a:t>
            </a:r>
            <a:endParaRPr lang="zh-CN" altLang="en-US" dirty="0"/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4F475F92-8653-E066-E4A3-893487A3B1E0}"/>
              </a:ext>
            </a:extLst>
          </p:cNvPr>
          <p:cNvSpPr/>
          <p:nvPr/>
        </p:nvSpPr>
        <p:spPr>
          <a:xfrm rot="5400000">
            <a:off x="4716162" y="2178912"/>
            <a:ext cx="3031524" cy="10791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A793A-1F9F-1D28-C55D-B705E097F563}"/>
              </a:ext>
            </a:extLst>
          </p:cNvPr>
          <p:cNvSpPr txBox="1"/>
          <p:nvPr/>
        </p:nvSpPr>
        <p:spPr>
          <a:xfrm>
            <a:off x="6903308" y="2372501"/>
            <a:ext cx="1890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Reclassify 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0634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hart&#10;&#10;Description automatically generated">
            <a:extLst>
              <a:ext uri="{FF2B5EF4-FFF2-40B4-BE49-F238E27FC236}">
                <a16:creationId xmlns:a16="http://schemas.microsoft.com/office/drawing/2014/main" id="{ECDF0091-38A4-8A74-73A3-C07EBEB5C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62" y="1099530"/>
            <a:ext cx="8231475" cy="5487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3D2973-9DDA-8C74-462B-21EAD67FDD4C}"/>
              </a:ext>
            </a:extLst>
          </p:cNvPr>
          <p:cNvSpPr txBox="1"/>
          <p:nvPr/>
        </p:nvSpPr>
        <p:spPr>
          <a:xfrm>
            <a:off x="225853" y="149953"/>
            <a:ext cx="86922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Reclassify-</a:t>
            </a:r>
          </a:p>
          <a:p>
            <a:r>
              <a:rPr lang="en-US" altLang="zh-CN" sz="3200" b="1" dirty="0">
                <a:solidFill>
                  <a:srgbClr val="FF0000"/>
                </a:solidFill>
              </a:rPr>
              <a:t>suitability prediction </a:t>
            </a:r>
            <a:r>
              <a:rPr lang="en-US" altLang="zh-CN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zh-CN" sz="3200" b="1" dirty="0">
                <a:solidFill>
                  <a:srgbClr val="FF0000"/>
                </a:solidFill>
              </a:rPr>
              <a:t> binary prediction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5" name="Arrow: Curved Down 4">
            <a:extLst>
              <a:ext uri="{FF2B5EF4-FFF2-40B4-BE49-F238E27FC236}">
                <a16:creationId xmlns:a16="http://schemas.microsoft.com/office/drawing/2014/main" id="{2F28A940-BC9B-4CBD-BB42-F48BA8312C82}"/>
              </a:ext>
            </a:extLst>
          </p:cNvPr>
          <p:cNvSpPr/>
          <p:nvPr/>
        </p:nvSpPr>
        <p:spPr>
          <a:xfrm flipV="1">
            <a:off x="3088639" y="6154854"/>
            <a:ext cx="3149600" cy="519213"/>
          </a:xfrm>
          <a:prstGeom prst="curved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D5893-2FD1-1AF3-63D7-74E989BB7BBD}"/>
              </a:ext>
            </a:extLst>
          </p:cNvPr>
          <p:cNvSpPr txBox="1"/>
          <p:nvPr/>
        </p:nvSpPr>
        <p:spPr>
          <a:xfrm>
            <a:off x="3784599" y="6125515"/>
            <a:ext cx="157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Threshold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CB9775-2564-69F3-78C7-147F032314BE}"/>
              </a:ext>
            </a:extLst>
          </p:cNvPr>
          <p:cNvCxnSpPr>
            <a:cxnSpLocks/>
          </p:cNvCxnSpPr>
          <p:nvPr/>
        </p:nvCxnSpPr>
        <p:spPr>
          <a:xfrm flipH="1">
            <a:off x="4670854" y="3352799"/>
            <a:ext cx="395417" cy="0"/>
          </a:xfrm>
          <a:prstGeom prst="straightConnector1">
            <a:avLst/>
          </a:prstGeom>
          <a:ln w="508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9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ap&#10;&#10;Description automatically generated">
            <a:extLst>
              <a:ext uri="{FF2B5EF4-FFF2-40B4-BE49-F238E27FC236}">
                <a16:creationId xmlns:a16="http://schemas.microsoft.com/office/drawing/2014/main" id="{DED2EC10-3865-33A7-26F9-32D54DB7A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7" y="1840513"/>
            <a:ext cx="9099855" cy="3566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7EBB17-DD0E-4330-97ED-985B8A15D5E3}"/>
              </a:ext>
            </a:extLst>
          </p:cNvPr>
          <p:cNvSpPr txBox="1"/>
          <p:nvPr/>
        </p:nvSpPr>
        <p:spPr>
          <a:xfrm>
            <a:off x="33237" y="743441"/>
            <a:ext cx="8632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Change extent-- 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等线 Light" panose="02010600030101010101" pitchFamily="2" charset="-122"/>
                <a:cs typeface="+mj-cs"/>
              </a:rPr>
              <a:t>clip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51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11C2-5416-B268-8F58-EF21D34C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46" y="414553"/>
            <a:ext cx="8309404" cy="985879"/>
          </a:xfrm>
        </p:spPr>
        <p:txBody>
          <a:bodyPr>
            <a:normAutofit/>
          </a:bodyPr>
          <a:lstStyle/>
          <a:p>
            <a:r>
              <a:rPr lang="en-US" altLang="zh-CN" sz="4000" b="1" dirty="0"/>
              <a:t>Change resolution--</a:t>
            </a:r>
            <a:r>
              <a:rPr lang="en-US" altLang="zh-CN" sz="4000" b="1" dirty="0">
                <a:solidFill>
                  <a:srgbClr val="FF0000"/>
                </a:solidFill>
              </a:rPr>
              <a:t>resample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picture containing square&#10;&#10;Description automatically generated">
            <a:extLst>
              <a:ext uri="{FF2B5EF4-FFF2-40B4-BE49-F238E27FC236}">
                <a16:creationId xmlns:a16="http://schemas.microsoft.com/office/drawing/2014/main" id="{C26240F0-ACB9-7251-B5F0-E0A15FC54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29" y="1517882"/>
            <a:ext cx="6936381" cy="522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3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D60F-F1FE-DF02-A3CB-FFBC217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365126"/>
            <a:ext cx="8777288" cy="1073535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Extract by mask</a:t>
            </a:r>
            <a:r>
              <a:rPr lang="en-US" altLang="zh-CN" b="1" dirty="0"/>
              <a:t>– raster and polygon</a:t>
            </a:r>
            <a:endParaRPr lang="zh-CN" altLang="en-US" b="1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9BE1CA0-DAE6-FECD-E29D-429928FF6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3" y="1232715"/>
            <a:ext cx="8410575" cy="5133975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B6F0BBF9-E071-4EAE-8C54-374A8C589332}"/>
              </a:ext>
            </a:extLst>
          </p:cNvPr>
          <p:cNvSpPr/>
          <p:nvPr/>
        </p:nvSpPr>
        <p:spPr>
          <a:xfrm>
            <a:off x="4572000" y="3429000"/>
            <a:ext cx="551935" cy="46749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526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FB2A9-D8D5-8524-CB5E-62C4E7EDE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646"/>
            <a:ext cx="9144000" cy="478470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FE580A-4F16-BBDF-048C-980C248B5497}"/>
              </a:ext>
            </a:extLst>
          </p:cNvPr>
          <p:cNvCxnSpPr>
            <a:cxnSpLocks/>
          </p:cNvCxnSpPr>
          <p:nvPr/>
        </p:nvCxnSpPr>
        <p:spPr>
          <a:xfrm>
            <a:off x="1565189" y="3921211"/>
            <a:ext cx="74140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FDAB28-C1B6-3D5F-C48A-8EA32EC65490}"/>
              </a:ext>
            </a:extLst>
          </p:cNvPr>
          <p:cNvCxnSpPr>
            <a:cxnSpLocks/>
          </p:cNvCxnSpPr>
          <p:nvPr/>
        </p:nvCxnSpPr>
        <p:spPr>
          <a:xfrm>
            <a:off x="1565189" y="4650260"/>
            <a:ext cx="74140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AEC158-7396-8206-AE17-4610CAD26D88}"/>
              </a:ext>
            </a:extLst>
          </p:cNvPr>
          <p:cNvCxnSpPr>
            <a:cxnSpLocks/>
          </p:cNvCxnSpPr>
          <p:nvPr/>
        </p:nvCxnSpPr>
        <p:spPr>
          <a:xfrm>
            <a:off x="1231556" y="751042"/>
            <a:ext cx="0" cy="5712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C6BADA-A9F3-225C-6BB7-7D45BEC947F2}"/>
              </a:ext>
            </a:extLst>
          </p:cNvPr>
          <p:cNvCxnSpPr>
            <a:cxnSpLocks/>
          </p:cNvCxnSpPr>
          <p:nvPr/>
        </p:nvCxnSpPr>
        <p:spPr>
          <a:xfrm>
            <a:off x="2603156" y="778552"/>
            <a:ext cx="0" cy="5712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77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3B03-3EF2-324F-66FB-C3069F56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60" y="365126"/>
            <a:ext cx="8283390" cy="1325563"/>
          </a:xfrm>
        </p:spPr>
        <p:txBody>
          <a:bodyPr/>
          <a:lstStyle/>
          <a:p>
            <a:r>
              <a:rPr lang="en-US" altLang="zh-CN" b="1" dirty="0"/>
              <a:t>Classical map algebra</a:t>
            </a:r>
            <a:br>
              <a:rPr lang="en-US" altLang="zh-CN" b="1" dirty="0"/>
            </a:br>
            <a:r>
              <a:rPr lang="en-US" altLang="zh-CN" b="1" dirty="0"/>
              <a:t>-</a:t>
            </a:r>
            <a:r>
              <a:rPr lang="en-US" altLang="zh-CN" b="1" dirty="0">
                <a:solidFill>
                  <a:srgbClr val="FF0000"/>
                </a:solidFill>
              </a:rPr>
              <a:t>local analysis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4FB8C-4EAC-60BD-62B0-24C0224B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4494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Local: cell-by-cell basis</a:t>
            </a:r>
            <a:endParaRPr lang="zh-CN" altLang="en-US" dirty="0"/>
          </a:p>
        </p:txBody>
      </p:sp>
      <p:pic>
        <p:nvPicPr>
          <p:cNvPr id="5" name="Picture 4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353EB122-505B-2511-3BF4-9E4C62D84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60" y="3079406"/>
            <a:ext cx="8668793" cy="2143383"/>
          </a:xfrm>
          <a:prstGeom prst="rect">
            <a:avLst/>
          </a:prstGeom>
        </p:spPr>
      </p:pic>
      <p:pic>
        <p:nvPicPr>
          <p:cNvPr id="7" name="Picture 6" descr="A close-up of a book&#10;&#10;Description automatically generated with medium confidence">
            <a:extLst>
              <a:ext uri="{FF2B5EF4-FFF2-40B4-BE49-F238E27FC236}">
                <a16:creationId xmlns:a16="http://schemas.microsoft.com/office/drawing/2014/main" id="{5230BC47-984B-DF09-825C-A085308DBB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119" y="1341093"/>
            <a:ext cx="2205293" cy="160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5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4FB8C-4EAC-60BD-62B0-24C0224B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8233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Focal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</a:p>
          <a:p>
            <a:pPr marL="0" indent="0">
              <a:buNone/>
            </a:pPr>
            <a:r>
              <a:rPr lang="en-US" altLang="zh-CN" dirty="0"/>
              <a:t>compute an output value of each cell using neighborhood values. </a:t>
            </a:r>
            <a:endParaRPr lang="zh-CN" altLang="en-US" dirty="0"/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EB55A5E5-AD27-A697-B626-7983BBBC5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141" y="2572737"/>
            <a:ext cx="6176862" cy="41711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A12D60-C2DB-801F-CF59-D78A9B9F571D}"/>
              </a:ext>
            </a:extLst>
          </p:cNvPr>
          <p:cNvSpPr txBox="1">
            <a:spLocks/>
          </p:cNvSpPr>
          <p:nvPr/>
        </p:nvSpPr>
        <p:spPr>
          <a:xfrm>
            <a:off x="231960" y="422062"/>
            <a:ext cx="82833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Classical map algebra</a:t>
            </a:r>
            <a:br>
              <a:rPr lang="en-US" altLang="zh-CN" b="1" dirty="0"/>
            </a:br>
            <a:r>
              <a:rPr lang="en-US" altLang="zh-CN" b="1" dirty="0"/>
              <a:t>-</a:t>
            </a:r>
            <a:r>
              <a:rPr lang="en-US" altLang="zh-CN" b="1" dirty="0">
                <a:solidFill>
                  <a:srgbClr val="FF0000"/>
                </a:solidFill>
              </a:rPr>
              <a:t>Focal analysis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87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7F80D708-2F9E-EFA3-F6AC-6CAE4C740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5" y="2763794"/>
            <a:ext cx="9128655" cy="32003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87475A2-81DE-B927-2A49-0BEC112D7928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Map algebra/Raster Math-</a:t>
            </a:r>
            <a:r>
              <a:rPr lang="en-US" altLang="zh-CN" b="1">
                <a:solidFill>
                  <a:srgbClr val="FF0000"/>
                </a:solidFill>
              </a:rPr>
              <a:t>Focal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9034E2-430B-BEA8-2098-E0B3D699E110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108233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solidFill>
                  <a:srgbClr val="FF0000"/>
                </a:solidFill>
              </a:rPr>
              <a:t>Focal: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compute an output value of each cell using neighborhood values.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520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7475A2-81DE-B927-2A49-0BEC112D7928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Map algebra-</a:t>
            </a:r>
            <a:r>
              <a:rPr lang="en-US" altLang="zh-CN" b="1" dirty="0">
                <a:solidFill>
                  <a:srgbClr val="FF0000"/>
                </a:solidFill>
              </a:rPr>
              <a:t>Zonal Operation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9034E2-430B-BEA8-2098-E0B3D699E110}"/>
              </a:ext>
            </a:extLst>
          </p:cNvPr>
          <p:cNvSpPr txBox="1">
            <a:spLocks/>
          </p:cNvSpPr>
          <p:nvPr/>
        </p:nvSpPr>
        <p:spPr>
          <a:xfrm>
            <a:off x="628650" y="1463160"/>
            <a:ext cx="7886700" cy="10823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Zonal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operations apply a math function to a group of cells within a specified zone. </a:t>
            </a:r>
            <a:endParaRPr lang="zh-CN" altLang="en-US" dirty="0"/>
          </a:p>
        </p:txBody>
      </p:sp>
      <p:pic>
        <p:nvPicPr>
          <p:cNvPr id="6" name="Picture 5" descr="A close-up of a book&#10;&#10;Description automatically generated with medium confidence">
            <a:extLst>
              <a:ext uri="{FF2B5EF4-FFF2-40B4-BE49-F238E27FC236}">
                <a16:creationId xmlns:a16="http://schemas.microsoft.com/office/drawing/2014/main" id="{A6279FD9-EA67-2BE1-1135-46A6F6A94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91" y="2070313"/>
            <a:ext cx="6279671" cy="423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9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4FBC-92BB-47B6-B803-4FA682F2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15B2B-FD7E-8133-4EC2-E676BDAE1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D0964-184B-A39D-83EA-326A43DA7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240"/>
            <a:ext cx="914400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9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83A4-5B4C-EB42-A5A8-D1441D63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Source of environmental/raster data for model:  </a:t>
            </a:r>
            <a:r>
              <a:rPr lang="en-US" altLang="zh-CN" b="1" dirty="0" err="1"/>
              <a:t>WorldClim</a:t>
            </a:r>
            <a:r>
              <a:rPr lang="en-US" altLang="zh-CN" b="1" dirty="0"/>
              <a:t>-bioclimate data</a:t>
            </a: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575F-A6CE-04CA-1282-DC4D0375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57" y="1690689"/>
            <a:ext cx="6579458" cy="4491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6C3F7C-A747-EE52-A7AC-35200EC12B19}"/>
              </a:ext>
            </a:extLst>
          </p:cNvPr>
          <p:cNvSpPr txBox="1"/>
          <p:nvPr/>
        </p:nvSpPr>
        <p:spPr>
          <a:xfrm>
            <a:off x="2914907" y="630820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https://www.worldclim.org</a:t>
            </a:r>
          </a:p>
        </p:txBody>
      </p:sp>
    </p:spTree>
    <p:extLst>
      <p:ext uri="{BB962C8B-B14F-4D97-AF65-F5344CB8AC3E}">
        <p14:creationId xmlns:p14="http://schemas.microsoft.com/office/powerpoint/2010/main" val="165472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CFAFF-4D6F-31D2-DB5A-AC12A80A0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22" y="0"/>
            <a:ext cx="6507892" cy="6858000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BIO1 = Annual Mean Temperature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BIO2 = Mean Diurnal Range (Mean of monthly (max temp - min temp))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BIO3 = Isothermality (BIO2/BIO7) (×100)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BIO4 = Temperature Seasonality (standard deviation ×100)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BIO5 = Max Temperature of Warmest Month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BIO6 = Min Temperature of Coldest Month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BIO7 = Temperature Annual Range (BIO5-BIO6)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BIO8 = Mean Temperature of Wettest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BIO9 = Mean Temperature of Driest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BIO10 = Mean Temperature of Warmest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BIO11 = Mean Temperature of Coldest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BIO12 = Annual Precipitation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BIO13 = Precipitation of Wettest Month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BIO14 = Precipitation of Driest Month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BIO15 = Precipitation Seasonality (Coefficient of Variation)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BIO16 = Precipitation of Wettest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BIO17 = Precipitation of Driest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BIO18 = Precipitation of Warmest Quarter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zh-CN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BIO19 = Precipitation of Coldest Quarter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FE4EA3-DEC9-F7A0-19A9-598AA53625DC}"/>
              </a:ext>
            </a:extLst>
          </p:cNvPr>
          <p:cNvSpPr/>
          <p:nvPr/>
        </p:nvSpPr>
        <p:spPr>
          <a:xfrm>
            <a:off x="832022" y="6096000"/>
            <a:ext cx="3838832" cy="762000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21DFCE-6338-58BC-1FC8-9DE4A28B5ADA}"/>
              </a:ext>
            </a:extLst>
          </p:cNvPr>
          <p:cNvSpPr/>
          <p:nvPr/>
        </p:nvSpPr>
        <p:spPr>
          <a:xfrm>
            <a:off x="823784" y="2533135"/>
            <a:ext cx="4357813" cy="679622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37A63B-A3F0-98C9-BDFC-FA587A3419A3}"/>
              </a:ext>
            </a:extLst>
          </p:cNvPr>
          <p:cNvCxnSpPr>
            <a:cxnSpLocks/>
          </p:cNvCxnSpPr>
          <p:nvPr/>
        </p:nvCxnSpPr>
        <p:spPr>
          <a:xfrm>
            <a:off x="653364" y="4081848"/>
            <a:ext cx="0" cy="1462216"/>
          </a:xfrm>
          <a:prstGeom prst="straightConnector1">
            <a:avLst/>
          </a:prstGeom>
          <a:ln w="412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5AFF17-5202-D0DF-E50A-4F76F6B40A8A}"/>
              </a:ext>
            </a:extLst>
          </p:cNvPr>
          <p:cNvCxnSpPr>
            <a:cxnSpLocks/>
          </p:cNvCxnSpPr>
          <p:nvPr/>
        </p:nvCxnSpPr>
        <p:spPr>
          <a:xfrm flipV="1">
            <a:off x="653364" y="2150076"/>
            <a:ext cx="0" cy="184527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DE1AF8-4073-D7A5-A68A-2EB0EFC36F28}"/>
              </a:ext>
            </a:extLst>
          </p:cNvPr>
          <p:cNvCxnSpPr>
            <a:cxnSpLocks/>
          </p:cNvCxnSpPr>
          <p:nvPr/>
        </p:nvCxnSpPr>
        <p:spPr>
          <a:xfrm flipV="1">
            <a:off x="4225241" y="61786"/>
            <a:ext cx="0" cy="308917"/>
          </a:xfrm>
          <a:prstGeom prst="straightConnector1">
            <a:avLst/>
          </a:prstGeom>
          <a:ln w="412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5E11CE5-2417-75DB-894C-D549A0F9AF0F}"/>
              </a:ext>
            </a:extLst>
          </p:cNvPr>
          <p:cNvSpPr/>
          <p:nvPr/>
        </p:nvSpPr>
        <p:spPr>
          <a:xfrm>
            <a:off x="823785" y="2533135"/>
            <a:ext cx="4357812" cy="146221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5B5F09-207D-31E7-6F05-BB1F4E0772DE}"/>
              </a:ext>
            </a:extLst>
          </p:cNvPr>
          <p:cNvSpPr/>
          <p:nvPr/>
        </p:nvSpPr>
        <p:spPr>
          <a:xfrm>
            <a:off x="822497" y="5395784"/>
            <a:ext cx="3838832" cy="146221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459DC0-EE56-7375-3A81-394A4EEFC988}"/>
              </a:ext>
            </a:extLst>
          </p:cNvPr>
          <p:cNvCxnSpPr>
            <a:cxnSpLocks/>
          </p:cNvCxnSpPr>
          <p:nvPr/>
        </p:nvCxnSpPr>
        <p:spPr>
          <a:xfrm flipV="1">
            <a:off x="3792755" y="4003589"/>
            <a:ext cx="0" cy="308917"/>
          </a:xfrm>
          <a:prstGeom prst="straightConnector1">
            <a:avLst/>
          </a:prstGeom>
          <a:ln w="412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44C521-CC80-DB50-165D-62686B35B916}"/>
              </a:ext>
            </a:extLst>
          </p:cNvPr>
          <p:cNvSpPr txBox="1"/>
          <p:nvPr/>
        </p:nvSpPr>
        <p:spPr>
          <a:xfrm>
            <a:off x="7035114" y="-26975"/>
            <a:ext cx="2191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www.worldclim.org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7EEE49-4440-FB2F-88DE-BB96B3887676}"/>
              </a:ext>
            </a:extLst>
          </p:cNvPr>
          <p:cNvSpPr txBox="1"/>
          <p:nvPr/>
        </p:nvSpPr>
        <p:spPr>
          <a:xfrm>
            <a:off x="6549081" y="1586469"/>
            <a:ext cx="2520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19 Bioclimatic variables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96B29F9-9FCF-4ED1-2096-2C99EAAC6D8D}"/>
              </a:ext>
            </a:extLst>
          </p:cNvPr>
          <p:cNvSpPr/>
          <p:nvPr/>
        </p:nvSpPr>
        <p:spPr>
          <a:xfrm>
            <a:off x="5248273" y="2751095"/>
            <a:ext cx="288324" cy="24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0E95DEA-72C4-CE91-6259-72A50BEF9E1B}"/>
              </a:ext>
            </a:extLst>
          </p:cNvPr>
          <p:cNvSpPr/>
          <p:nvPr/>
        </p:nvSpPr>
        <p:spPr>
          <a:xfrm>
            <a:off x="4767389" y="6334780"/>
            <a:ext cx="288324" cy="24370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00FD3B-1C8D-E6C8-AECE-17ACA44179B5}"/>
              </a:ext>
            </a:extLst>
          </p:cNvPr>
          <p:cNvSpPr txBox="1"/>
          <p:nvPr/>
        </p:nvSpPr>
        <p:spPr>
          <a:xfrm>
            <a:off x="5536597" y="2549780"/>
            <a:ext cx="2677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Temperature and precipitation combination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D50438-824F-2A29-2E97-5C8A69750A1B}"/>
              </a:ext>
            </a:extLst>
          </p:cNvPr>
          <p:cNvSpPr txBox="1"/>
          <p:nvPr/>
        </p:nvSpPr>
        <p:spPr>
          <a:xfrm>
            <a:off x="5083131" y="6133067"/>
            <a:ext cx="2677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Temperature and precipitation combination</a:t>
            </a:r>
          </a:p>
        </p:txBody>
      </p:sp>
    </p:spTree>
    <p:extLst>
      <p:ext uri="{BB962C8B-B14F-4D97-AF65-F5344CB8AC3E}">
        <p14:creationId xmlns:p14="http://schemas.microsoft.com/office/powerpoint/2010/main" val="23035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8D22CD-1F7D-E5A0-4C4E-26BA2E88F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53" y="0"/>
            <a:ext cx="748289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CE71A-5F2F-E2D0-AC71-B1C37CB88238}"/>
              </a:ext>
            </a:extLst>
          </p:cNvPr>
          <p:cNvSpPr txBox="1"/>
          <p:nvPr/>
        </p:nvSpPr>
        <p:spPr>
          <a:xfrm>
            <a:off x="5968314" y="280771"/>
            <a:ext cx="3052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WorldClim</a:t>
            </a:r>
            <a:r>
              <a:rPr lang="en-US" altLang="zh-CN" b="1" dirty="0"/>
              <a:t> present 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84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008DF4-D18B-06A0-126F-85D43FADF074}"/>
              </a:ext>
            </a:extLst>
          </p:cNvPr>
          <p:cNvSpPr txBox="1"/>
          <p:nvPr/>
        </p:nvSpPr>
        <p:spPr>
          <a:xfrm>
            <a:off x="5976552" y="0"/>
            <a:ext cx="3052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/>
              <a:t>WorldClim</a:t>
            </a:r>
            <a:r>
              <a:rPr lang="en-US" altLang="zh-CN" b="1" dirty="0"/>
              <a:t> future data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9199C-AE5D-E70D-AD0C-9F13E9C5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64169" cy="4291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F80F88-6CA5-E050-CA34-B1898DE0C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438" y="369332"/>
            <a:ext cx="4405289" cy="3337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401242-0194-9363-5290-A4DB8B611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76" y="4135395"/>
            <a:ext cx="3533976" cy="2509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E94AD-B56A-930E-0376-8BB4208B9A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931" y="3509319"/>
            <a:ext cx="4509591" cy="31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in graphic">
            <a:extLst>
              <a:ext uri="{FF2B5EF4-FFF2-40B4-BE49-F238E27FC236}">
                <a16:creationId xmlns:a16="http://schemas.microsoft.com/office/drawing/2014/main" id="{097D6090-1BDA-82A0-C825-504BF5F0936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347783" y="0"/>
            <a:ext cx="6573795" cy="685800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87718-3756-B1D9-5329-2513E296231F}"/>
              </a:ext>
            </a:extLst>
          </p:cNvPr>
          <p:cNvSpPr txBox="1"/>
          <p:nvPr/>
        </p:nvSpPr>
        <p:spPr>
          <a:xfrm>
            <a:off x="0" y="458956"/>
            <a:ext cx="266905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How these data generated?</a:t>
            </a:r>
          </a:p>
          <a:p>
            <a:r>
              <a:rPr lang="en-US" altLang="zh-CN" sz="2000" dirty="0"/>
              <a:t>From weather station by interpolation method.</a:t>
            </a:r>
          </a:p>
          <a:p>
            <a:endParaRPr lang="en-US" altLang="zh-CN" sz="20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sz="1600" b="0" strike="noStrike" spc="-1" dirty="0" err="1">
                <a:solidFill>
                  <a:srgbClr val="000000"/>
                </a:solidFill>
                <a:latin typeface="Arial"/>
              </a:rPr>
              <a:t>WorldClim</a:t>
            </a:r>
            <a:r>
              <a:rPr lang="en-US" altLang="zh-CN" sz="1600" b="0" strike="noStrike" spc="-1" dirty="0">
                <a:solidFill>
                  <a:srgbClr val="000000"/>
                </a:solidFill>
                <a:latin typeface="Arial"/>
              </a:rPr>
              <a:t> 2</a:t>
            </a:r>
          </a:p>
          <a:p>
            <a:endParaRPr lang="en-US" altLang="zh-CN" sz="1600" spc="-1" dirty="0">
              <a:solidFill>
                <a:srgbClr val="000000"/>
              </a:solidFill>
              <a:latin typeface="Arial"/>
            </a:endParaRPr>
          </a:p>
          <a:p>
            <a:endParaRPr lang="en-US" altLang="zh-CN" sz="1600" spc="-1" dirty="0">
              <a:solidFill>
                <a:srgbClr val="000000"/>
              </a:solidFill>
              <a:latin typeface="Arial"/>
            </a:endParaRPr>
          </a:p>
          <a:p>
            <a:r>
              <a:rPr lang="en-US" altLang="zh-CN" sz="1600" b="1" spc="-1" dirty="0">
                <a:solidFill>
                  <a:srgbClr val="FF0000"/>
                </a:solidFill>
                <a:latin typeface="Arial"/>
              </a:rPr>
              <a:t>There is spatial uncertainty…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75B79-25F7-415F-6742-5968710B2819}"/>
              </a:ext>
            </a:extLst>
          </p:cNvPr>
          <p:cNvSpPr txBox="1"/>
          <p:nvPr/>
        </p:nvSpPr>
        <p:spPr>
          <a:xfrm>
            <a:off x="5964195" y="5546294"/>
            <a:ext cx="2800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rgbClr val="FF0000"/>
                </a:solidFill>
              </a:rPr>
              <a:t>Global spatial distribution of weather stations</a:t>
            </a:r>
          </a:p>
        </p:txBody>
      </p:sp>
    </p:spTree>
    <p:extLst>
      <p:ext uri="{BB962C8B-B14F-4D97-AF65-F5344CB8AC3E}">
        <p14:creationId xmlns:p14="http://schemas.microsoft.com/office/powerpoint/2010/main" val="416487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31DDE6-86E4-240E-08B1-8DB177B4C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759"/>
            <a:ext cx="9144000" cy="5904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1DCE48-155D-C71B-FEED-E5F82C171C9C}"/>
              </a:ext>
            </a:extLst>
          </p:cNvPr>
          <p:cNvSpPr txBox="1"/>
          <p:nvPr/>
        </p:nvSpPr>
        <p:spPr>
          <a:xfrm>
            <a:off x="2916195" y="107427"/>
            <a:ext cx="4629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https://chelsa-climate.org/bioclim/</a:t>
            </a:r>
          </a:p>
        </p:txBody>
      </p:sp>
    </p:spTree>
    <p:extLst>
      <p:ext uri="{BB962C8B-B14F-4D97-AF65-F5344CB8AC3E}">
        <p14:creationId xmlns:p14="http://schemas.microsoft.com/office/powerpoint/2010/main" val="417915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0785A6-E527-5F9C-2CBF-B8AEFE45C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002"/>
            <a:ext cx="9144000" cy="6257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E00A28-0C33-362B-1B28-BBA9E44B852C}"/>
              </a:ext>
            </a:extLst>
          </p:cNvPr>
          <p:cNvSpPr txBox="1"/>
          <p:nvPr/>
        </p:nvSpPr>
        <p:spPr>
          <a:xfrm>
            <a:off x="3080951" y="-69330"/>
            <a:ext cx="4629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https://adaptwest.databasin.org/</a:t>
            </a:r>
          </a:p>
        </p:txBody>
      </p:sp>
    </p:spTree>
    <p:extLst>
      <p:ext uri="{BB962C8B-B14F-4D97-AF65-F5344CB8AC3E}">
        <p14:creationId xmlns:p14="http://schemas.microsoft.com/office/powerpoint/2010/main" val="258023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923DC0-5D1F-C6EF-A371-D3E2DE702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104"/>
            <a:ext cx="9144000" cy="625692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8CEDC1F-A25A-0414-4C83-E2D712659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884"/>
            <a:ext cx="84190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Bioclimatic variables</a:t>
            </a:r>
            <a:r>
              <a:rPr kumimoji="0" lang="en-US" altLang="zh-CN" sz="2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in </a:t>
            </a:r>
            <a:r>
              <a:rPr lang="fr-FR" altLang="zh-CN" sz="2800" b="1" dirty="0" err="1">
                <a:solidFill>
                  <a:srgbClr val="0000FF"/>
                </a:solidFill>
              </a:rPr>
              <a:t>AdaptWest</a:t>
            </a:r>
            <a:r>
              <a:rPr lang="fr-FR" altLang="zh-CN" sz="2800" b="1" dirty="0">
                <a:solidFill>
                  <a:srgbClr val="FF0000"/>
                </a:solidFill>
              </a:rPr>
              <a:t> </a:t>
            </a:r>
            <a:r>
              <a:rPr lang="fr-FR" altLang="zh-CN" sz="2800" b="1" dirty="0" err="1">
                <a:solidFill>
                  <a:srgbClr val="FF0000"/>
                </a:solidFill>
              </a:rPr>
              <a:t>Climate</a:t>
            </a:r>
            <a:r>
              <a:rPr lang="fr-FR" altLang="zh-CN" sz="2800" b="1" dirty="0">
                <a:solidFill>
                  <a:srgbClr val="FF0000"/>
                </a:solidFill>
              </a:rPr>
              <a:t> center</a:t>
            </a:r>
          </a:p>
        </p:txBody>
      </p:sp>
    </p:spTree>
    <p:extLst>
      <p:ext uri="{BB962C8B-B14F-4D97-AF65-F5344CB8AC3E}">
        <p14:creationId xmlns:p14="http://schemas.microsoft.com/office/powerpoint/2010/main" val="407037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D3458-C520-9D67-949A-E307B366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21" y="0"/>
            <a:ext cx="7940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4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A2E99-CA38-C392-1AAE-877635691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2360"/>
            <a:ext cx="9144000" cy="5373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80E80-13DE-5D5C-29CB-74CA2D3ACC73}"/>
              </a:ext>
            </a:extLst>
          </p:cNvPr>
          <p:cNvSpPr txBox="1"/>
          <p:nvPr/>
        </p:nvSpPr>
        <p:spPr>
          <a:xfrm>
            <a:off x="0" y="18123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Satellite data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01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EE2CD-276E-672B-B5E9-AEF1AEBD2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143"/>
            <a:ext cx="9144000" cy="4951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5FB004-FB5D-1200-D928-43FF78DC291B}"/>
              </a:ext>
            </a:extLst>
          </p:cNvPr>
          <p:cNvSpPr txBox="1"/>
          <p:nvPr/>
        </p:nvSpPr>
        <p:spPr>
          <a:xfrm>
            <a:off x="0" y="368368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FF0000"/>
                </a:solidFill>
              </a:rPr>
              <a:t>Satellite data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6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15D90-EC2E-3237-0DB1-1EDAA99C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30" y="0"/>
            <a:ext cx="8114269" cy="6857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D0532-B715-E3B9-6B6C-53DD6A0645BE}"/>
              </a:ext>
            </a:extLst>
          </p:cNvPr>
          <p:cNvSpPr txBox="1"/>
          <p:nvPr/>
        </p:nvSpPr>
        <p:spPr>
          <a:xfrm>
            <a:off x="2491947" y="6488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www.paleoclim.org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25E83-5161-2A8C-CC37-259CE2942A4A}"/>
              </a:ext>
            </a:extLst>
          </p:cNvPr>
          <p:cNvSpPr txBox="1"/>
          <p:nvPr/>
        </p:nvSpPr>
        <p:spPr>
          <a:xfrm>
            <a:off x="0" y="181232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Paleoclimate data---reconstruction historical distribution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02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A15B-6F83-ED46-3C92-BF9E08E7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How to use these database?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0AAD5-74D8-997C-8541-82367AF2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8448"/>
            <a:ext cx="78867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Go through database official website, read instructions/practice tutorial materials carefully;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What are these </a:t>
            </a:r>
            <a:r>
              <a:rPr lang="en-US" altLang="zh-CN" dirty="0" err="1"/>
              <a:t>dat</a:t>
            </a:r>
            <a:r>
              <a:rPr lang="en-US" altLang="zh-CN" dirty="0"/>
              <a:t>? check data structure and frame;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What is the resolution, extent, coordinate system et al.?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Are there specific software that used to download their data? they will recommend ways to process their data..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424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D6B9-7FE8-BAAA-C50F-D77E1C4B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365126"/>
            <a:ext cx="8788400" cy="1460499"/>
          </a:xfrm>
        </p:spPr>
        <p:txBody>
          <a:bodyPr/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Ecological Niche Model</a:t>
            </a:r>
            <a:br>
              <a:rPr lang="en-US" altLang="zh-CN" sz="4400" b="1" dirty="0"/>
            </a:br>
            <a:r>
              <a:rPr lang="en-US" altLang="zh-CN" sz="4400" b="1" dirty="0"/>
              <a:t>How many variables should be used?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FA12-0562-9A24-0017-BCA918BA4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Too many variables</a:t>
            </a:r>
          </a:p>
          <a:p>
            <a:pPr marL="0" indent="0">
              <a:buNone/>
            </a:pPr>
            <a:r>
              <a:rPr lang="en-US" altLang="zh-CN" dirty="0"/>
              <a:t>variable might be highly correlated… 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Too less variables </a:t>
            </a:r>
          </a:p>
          <a:p>
            <a:pPr marL="0" indent="0">
              <a:buNone/>
            </a:pPr>
            <a:r>
              <a:rPr lang="en-US" altLang="zh-CN" dirty="0"/>
              <a:t>Might not enough to characterize species ecological requirement and potential distribution…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01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278B56-DD74-2D33-F610-9DB96DF3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943" y="0"/>
            <a:ext cx="69170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F7B3A-2E7C-BC1E-D555-4BF02EF3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4" y="2037407"/>
            <a:ext cx="3402226" cy="2007371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5-8 variables would be enough 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6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1936-D621-73F6-BD94-563FDBFC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81" y="365126"/>
            <a:ext cx="8806249" cy="1325563"/>
          </a:xfrm>
        </p:spPr>
        <p:txBody>
          <a:bodyPr/>
          <a:lstStyle/>
          <a:p>
            <a:r>
              <a:rPr lang="en-US" altLang="zh-CN" b="1" dirty="0"/>
              <a:t>How to select environmental variables?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CC199-12B2-2E28-6555-F7F9E1AD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8054" y="1690689"/>
            <a:ext cx="6812692" cy="403460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/>
              <a:t>Ecological relevance</a:t>
            </a:r>
            <a:r>
              <a:rPr lang="en-US" altLang="zh-CN" dirty="0"/>
              <a:t>: </a:t>
            </a:r>
          </a:p>
          <a:p>
            <a:pPr marL="0" indent="0">
              <a:buNone/>
            </a:pPr>
            <a:r>
              <a:rPr lang="en-US" altLang="zh-CN" dirty="0"/>
              <a:t>How to rank variable importance?</a:t>
            </a:r>
          </a:p>
          <a:p>
            <a:pPr marL="0" indent="0">
              <a:buNone/>
            </a:pPr>
            <a:r>
              <a:rPr lang="en-US" altLang="zh-CN" dirty="0"/>
              <a:t>expert opinion, </a:t>
            </a:r>
          </a:p>
          <a:p>
            <a:pPr marL="0" indent="0">
              <a:buNone/>
            </a:pPr>
            <a:r>
              <a:rPr lang="en-US" altLang="zh-CN" dirty="0"/>
              <a:t>Many statistical approach,…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/>
              <a:t>Correlation: </a:t>
            </a:r>
            <a:r>
              <a:rPr lang="en-US" altLang="zh-CN" b="1" dirty="0">
                <a:solidFill>
                  <a:srgbClr val="FF0000"/>
                </a:solidFill>
              </a:rPr>
              <a:t>Pearson &lt; 0.7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Resolution: cell size--resample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Extent: clip/crop, extract by mask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42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08178B2-313D-9285-CF31-1E79F3348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916" y="263611"/>
            <a:ext cx="4748084" cy="3165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5B2B93-EBB0-0577-613C-3F58BE80DE4D}"/>
              </a:ext>
            </a:extLst>
          </p:cNvPr>
          <p:cNvSpPr txBox="1"/>
          <p:nvPr/>
        </p:nvSpPr>
        <p:spPr>
          <a:xfrm>
            <a:off x="42218" y="692143"/>
            <a:ext cx="435369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Pearson correlation</a:t>
            </a:r>
          </a:p>
          <a:p>
            <a:endParaRPr lang="en-US" altLang="zh-CN" sz="800" b="1" dirty="0">
              <a:solidFill>
                <a:srgbClr val="FF0000"/>
              </a:solidFill>
            </a:endParaRPr>
          </a:p>
          <a:p>
            <a:endParaRPr lang="en-US" altLang="zh-CN" sz="8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The </a:t>
            </a:r>
            <a:r>
              <a:rPr lang="en-US" altLang="zh-CN" b="1" dirty="0"/>
              <a:t>Pearson correlation coefficient (</a:t>
            </a:r>
            <a:r>
              <a:rPr lang="en-US" altLang="zh-CN" b="1" i="1" dirty="0"/>
              <a:t>r</a:t>
            </a:r>
            <a:r>
              <a:rPr lang="en-US" altLang="zh-CN" b="1" dirty="0"/>
              <a:t>)</a:t>
            </a:r>
            <a:r>
              <a:rPr lang="en-US" altLang="zh-CN" dirty="0"/>
              <a:t> is the most common way of measuring a linear correlation.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It is a number between –1 and 1 that measures the strength and direction of the relationship between two variables.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Pearson &lt; 0.7 is acceptable in our model! </a:t>
            </a:r>
            <a:endParaRPr lang="zh-CN" altLang="en-US" dirty="0"/>
          </a:p>
        </p:txBody>
      </p:sp>
      <p:pic>
        <p:nvPicPr>
          <p:cNvPr id="11" name="Picture 10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03063825-6878-5860-0E67-2D5A37FAF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438" y="3758636"/>
            <a:ext cx="4868562" cy="3106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0457F3-0C71-FB15-E621-E35DF0C4B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0" y="3568422"/>
            <a:ext cx="4345621" cy="296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6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2C3C7-E544-9F29-F291-6A2D2A91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344" y="0"/>
            <a:ext cx="637104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DCA9D0-EAB5-A742-E3D0-789D4DAC0C88}"/>
              </a:ext>
            </a:extLst>
          </p:cNvPr>
          <p:cNvSpPr txBox="1"/>
          <p:nvPr/>
        </p:nvSpPr>
        <p:spPr>
          <a:xfrm>
            <a:off x="0" y="1929883"/>
            <a:ext cx="282557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700" b="1" dirty="0"/>
              <a:t>Correlation is not an issue in Maxent “calibrating” prediction; </a:t>
            </a:r>
          </a:p>
          <a:p>
            <a:pPr marL="0" indent="0">
              <a:buNone/>
            </a:pPr>
            <a:r>
              <a:rPr lang="en-US" altLang="zh-CN" sz="1700" b="1" dirty="0"/>
              <a:t>Feng et al. 2019 Eco &amp; Evo</a:t>
            </a:r>
          </a:p>
        </p:txBody>
      </p:sp>
    </p:spTree>
    <p:extLst>
      <p:ext uri="{BB962C8B-B14F-4D97-AF65-F5344CB8AC3E}">
        <p14:creationId xmlns:p14="http://schemas.microsoft.com/office/powerpoint/2010/main" val="63963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CF4CF-24B0-BA20-BAEF-235D6640F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8" y="1005840"/>
            <a:ext cx="8337657" cy="58521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31CA51A-271C-F78C-66B9-3939FB43C473}"/>
              </a:ext>
            </a:extLst>
          </p:cNvPr>
          <p:cNvSpPr txBox="1">
            <a:spLocks/>
          </p:cNvSpPr>
          <p:nvPr/>
        </p:nvSpPr>
        <p:spPr>
          <a:xfrm>
            <a:off x="0" y="307462"/>
            <a:ext cx="8534399" cy="52456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Why can’t every model calibrate on global extent</a:t>
            </a:r>
            <a:r>
              <a:rPr lang="en-US" altLang="zh-CN" sz="3200" b="1" dirty="0"/>
              <a:t>? </a:t>
            </a:r>
            <a:endParaRPr lang="zh-CN" altLang="en-US" sz="32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49A41D-66A2-1D33-CE6F-C6B532252339}"/>
              </a:ext>
            </a:extLst>
          </p:cNvPr>
          <p:cNvSpPr/>
          <p:nvPr/>
        </p:nvSpPr>
        <p:spPr>
          <a:xfrm>
            <a:off x="321276" y="2866768"/>
            <a:ext cx="8485939" cy="733167"/>
          </a:xfrm>
          <a:prstGeom prst="roundRect">
            <a:avLst/>
          </a:prstGeom>
          <a:noFill/>
          <a:ln w="508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52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D496F999-F7D9-F417-EA93-4BF477AC7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3456"/>
            <a:ext cx="9144000" cy="190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1F4517-F683-B461-19CB-3D010C7F5AEA}"/>
              </a:ext>
            </a:extLst>
          </p:cNvPr>
          <p:cNvSpPr txBox="1"/>
          <p:nvPr/>
        </p:nvSpPr>
        <p:spPr>
          <a:xfrm>
            <a:off x="41189" y="4332416"/>
            <a:ext cx="90616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Schematic example of how different factors may affect the distribution of species across varying spatial scales.</a:t>
            </a:r>
          </a:p>
          <a:p>
            <a:endParaRPr lang="en-US" altLang="zh-CN" b="1" dirty="0"/>
          </a:p>
          <a:p>
            <a:r>
              <a:rPr lang="en-US" altLang="zh-CN" b="1" dirty="0"/>
              <a:t>Pearson &amp; Dawson 2003</a:t>
            </a:r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77DDF-DBB2-2A85-893F-57E3BB28DD14}"/>
              </a:ext>
            </a:extLst>
          </p:cNvPr>
          <p:cNvSpPr txBox="1"/>
          <p:nvPr/>
        </p:nvSpPr>
        <p:spPr>
          <a:xfrm>
            <a:off x="41189" y="724930"/>
            <a:ext cx="8625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Different factors operating species distribution at different scales !!!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3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94D44E-9454-7ED4-B967-BEAEBC8693DE}"/>
              </a:ext>
            </a:extLst>
          </p:cNvPr>
          <p:cNvSpPr/>
          <p:nvPr/>
        </p:nvSpPr>
        <p:spPr>
          <a:xfrm>
            <a:off x="329513" y="1252151"/>
            <a:ext cx="3649362" cy="3616411"/>
          </a:xfrm>
          <a:prstGeom prst="rect">
            <a:avLst/>
          </a:prstGeom>
          <a:noFill/>
          <a:ln w="3492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AB6C08-7064-42E0-4571-9FFA4F418120}"/>
              </a:ext>
            </a:extLst>
          </p:cNvPr>
          <p:cNvSpPr/>
          <p:nvPr/>
        </p:nvSpPr>
        <p:spPr>
          <a:xfrm>
            <a:off x="4983892" y="2045043"/>
            <a:ext cx="1812324" cy="1814383"/>
          </a:xfrm>
          <a:prstGeom prst="rect">
            <a:avLst/>
          </a:prstGeom>
          <a:noFill/>
          <a:ln w="3492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78869-9034-FFFE-DBC8-3D8C1567CC03}"/>
              </a:ext>
            </a:extLst>
          </p:cNvPr>
          <p:cNvSpPr/>
          <p:nvPr/>
        </p:nvSpPr>
        <p:spPr>
          <a:xfrm>
            <a:off x="7570573" y="2475470"/>
            <a:ext cx="914400" cy="953530"/>
          </a:xfrm>
          <a:prstGeom prst="rect">
            <a:avLst/>
          </a:prstGeom>
          <a:noFill/>
          <a:ln w="34925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49333-94AE-D667-9573-F413832A3B33}"/>
              </a:ext>
            </a:extLst>
          </p:cNvPr>
          <p:cNvSpPr txBox="1"/>
          <p:nvPr/>
        </p:nvSpPr>
        <p:spPr>
          <a:xfrm>
            <a:off x="329513" y="39610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Scale effect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1DE5ED-E540-8105-7809-93C841E4AFCD}"/>
              </a:ext>
            </a:extLst>
          </p:cNvPr>
          <p:cNvCxnSpPr>
            <a:cxnSpLocks/>
          </p:cNvCxnSpPr>
          <p:nvPr/>
        </p:nvCxnSpPr>
        <p:spPr>
          <a:xfrm flipV="1">
            <a:off x="1458097" y="4357816"/>
            <a:ext cx="7265773" cy="1692302"/>
          </a:xfrm>
          <a:prstGeom prst="straightConnector1">
            <a:avLst/>
          </a:prstGeom>
          <a:ln w="889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B5CC4C4-806F-B155-AAC3-3059D258C959}"/>
              </a:ext>
            </a:extLst>
          </p:cNvPr>
          <p:cNvSpPr txBox="1"/>
          <p:nvPr/>
        </p:nvSpPr>
        <p:spPr>
          <a:xfrm rot="20834428">
            <a:off x="1136822" y="5865781"/>
            <a:ext cx="240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Climate factor</a:t>
            </a:r>
            <a:endParaRPr lang="zh-CN" alt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435A32-503C-6AF2-6FA6-6E1CFF8716BE}"/>
              </a:ext>
            </a:extLst>
          </p:cNvPr>
          <p:cNvSpPr txBox="1"/>
          <p:nvPr/>
        </p:nvSpPr>
        <p:spPr>
          <a:xfrm rot="20834428">
            <a:off x="6215888" y="4586539"/>
            <a:ext cx="2676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Non-climate factor</a:t>
            </a:r>
          </a:p>
          <a:p>
            <a:pPr algn="ctr"/>
            <a:r>
              <a:rPr lang="en-US" altLang="zh-CN" sz="2400" b="1" dirty="0"/>
              <a:t>Biotic interaction</a:t>
            </a:r>
            <a:endParaRPr lang="zh-CN" altLang="en-US" sz="2400" b="1" dirty="0"/>
          </a:p>
        </p:txBody>
      </p:sp>
      <p:pic>
        <p:nvPicPr>
          <p:cNvPr id="15" name="Graphic 14" descr="Bee with solid fill">
            <a:extLst>
              <a:ext uri="{FF2B5EF4-FFF2-40B4-BE49-F238E27FC236}">
                <a16:creationId xmlns:a16="http://schemas.microsoft.com/office/drawing/2014/main" id="{E67FDD95-0316-B361-C2E3-EB856D8EAC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96" y="1510667"/>
            <a:ext cx="462865" cy="462865"/>
          </a:xfrm>
          <a:prstGeom prst="rect">
            <a:avLst/>
          </a:prstGeom>
        </p:spPr>
      </p:pic>
      <p:pic>
        <p:nvPicPr>
          <p:cNvPr id="16" name="Graphic 15" descr="Bee with solid fill">
            <a:extLst>
              <a:ext uri="{FF2B5EF4-FFF2-40B4-BE49-F238E27FC236}">
                <a16:creationId xmlns:a16="http://schemas.microsoft.com/office/drawing/2014/main" id="{A375D766-0169-C03D-EEAF-36E403B6A0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644" y="2734702"/>
            <a:ext cx="462865" cy="462865"/>
          </a:xfrm>
          <a:prstGeom prst="rect">
            <a:avLst/>
          </a:prstGeom>
        </p:spPr>
      </p:pic>
      <p:pic>
        <p:nvPicPr>
          <p:cNvPr id="17" name="Graphic 16" descr="Bee with solid fill">
            <a:extLst>
              <a:ext uri="{FF2B5EF4-FFF2-40B4-BE49-F238E27FC236}">
                <a16:creationId xmlns:a16="http://schemas.microsoft.com/office/drawing/2014/main" id="{C10CDC7D-9717-95F7-EEFA-C147815BB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675" y="3197567"/>
            <a:ext cx="462865" cy="462865"/>
          </a:xfrm>
          <a:prstGeom prst="rect">
            <a:avLst/>
          </a:prstGeom>
        </p:spPr>
      </p:pic>
      <p:pic>
        <p:nvPicPr>
          <p:cNvPr id="18" name="Graphic 17" descr="Bee with solid fill">
            <a:extLst>
              <a:ext uri="{FF2B5EF4-FFF2-40B4-BE49-F238E27FC236}">
                <a16:creationId xmlns:a16="http://schemas.microsoft.com/office/drawing/2014/main" id="{A86D35AF-70FD-7DA2-E7D7-F4A77167B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3740" y="3919664"/>
            <a:ext cx="462865" cy="462865"/>
          </a:xfrm>
          <a:prstGeom prst="rect">
            <a:avLst/>
          </a:prstGeom>
        </p:spPr>
      </p:pic>
      <p:pic>
        <p:nvPicPr>
          <p:cNvPr id="19" name="Graphic 18" descr="Bee with solid fill">
            <a:extLst>
              <a:ext uri="{FF2B5EF4-FFF2-40B4-BE49-F238E27FC236}">
                <a16:creationId xmlns:a16="http://schemas.microsoft.com/office/drawing/2014/main" id="{F39B36AB-3944-C9F9-7508-1B6B98FFE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0648" y="1813610"/>
            <a:ext cx="462865" cy="462865"/>
          </a:xfrm>
          <a:prstGeom prst="rect">
            <a:avLst/>
          </a:prstGeom>
        </p:spPr>
      </p:pic>
      <p:pic>
        <p:nvPicPr>
          <p:cNvPr id="20" name="Graphic 19" descr="Bee with solid fill">
            <a:extLst>
              <a:ext uri="{FF2B5EF4-FFF2-40B4-BE49-F238E27FC236}">
                <a16:creationId xmlns:a16="http://schemas.microsoft.com/office/drawing/2014/main" id="{895AA3EF-9A6A-3C25-657C-2816F2054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0907" y="2110686"/>
            <a:ext cx="462865" cy="462865"/>
          </a:xfrm>
          <a:prstGeom prst="rect">
            <a:avLst/>
          </a:prstGeom>
        </p:spPr>
      </p:pic>
      <p:pic>
        <p:nvPicPr>
          <p:cNvPr id="21" name="Graphic 20" descr="Bee with solid fill">
            <a:extLst>
              <a:ext uri="{FF2B5EF4-FFF2-40B4-BE49-F238E27FC236}">
                <a16:creationId xmlns:a16="http://schemas.microsoft.com/office/drawing/2014/main" id="{3E9317CA-00E7-68F6-1C64-1063EDAE1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60993" y="2343404"/>
            <a:ext cx="462865" cy="462865"/>
          </a:xfrm>
          <a:prstGeom prst="rect">
            <a:avLst/>
          </a:prstGeom>
        </p:spPr>
      </p:pic>
      <p:pic>
        <p:nvPicPr>
          <p:cNvPr id="22" name="Graphic 21" descr="Bee with solid fill">
            <a:extLst>
              <a:ext uri="{FF2B5EF4-FFF2-40B4-BE49-F238E27FC236}">
                <a16:creationId xmlns:a16="http://schemas.microsoft.com/office/drawing/2014/main" id="{E377C542-1354-41F2-9FBD-AC161A489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3772" y="2690810"/>
            <a:ext cx="462865" cy="462865"/>
          </a:xfrm>
          <a:prstGeom prst="rect">
            <a:avLst/>
          </a:prstGeom>
        </p:spPr>
      </p:pic>
      <p:pic>
        <p:nvPicPr>
          <p:cNvPr id="23" name="Graphic 22" descr="Bee with solid fill">
            <a:extLst>
              <a:ext uri="{FF2B5EF4-FFF2-40B4-BE49-F238E27FC236}">
                <a16:creationId xmlns:a16="http://schemas.microsoft.com/office/drawing/2014/main" id="{78C37B06-9596-4EAB-252D-7FF67884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9940" y="3202256"/>
            <a:ext cx="462865" cy="462865"/>
          </a:xfrm>
          <a:prstGeom prst="rect">
            <a:avLst/>
          </a:prstGeom>
        </p:spPr>
      </p:pic>
      <p:pic>
        <p:nvPicPr>
          <p:cNvPr id="24" name="Graphic 23" descr="Bee with solid fill">
            <a:extLst>
              <a:ext uri="{FF2B5EF4-FFF2-40B4-BE49-F238E27FC236}">
                <a16:creationId xmlns:a16="http://schemas.microsoft.com/office/drawing/2014/main" id="{87F07BEC-607E-C2C7-7CF0-70C67B30D8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9896" y="3270935"/>
            <a:ext cx="462865" cy="462865"/>
          </a:xfrm>
          <a:prstGeom prst="rect">
            <a:avLst/>
          </a:prstGeom>
        </p:spPr>
      </p:pic>
      <p:pic>
        <p:nvPicPr>
          <p:cNvPr id="25" name="Graphic 24" descr="Bee with solid fill">
            <a:extLst>
              <a:ext uri="{FF2B5EF4-FFF2-40B4-BE49-F238E27FC236}">
                <a16:creationId xmlns:a16="http://schemas.microsoft.com/office/drawing/2014/main" id="{A249C265-FDFF-C17A-4DF4-127E32A87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53929" y="2477138"/>
            <a:ext cx="462865" cy="462865"/>
          </a:xfrm>
          <a:prstGeom prst="rect">
            <a:avLst/>
          </a:prstGeom>
        </p:spPr>
      </p:pic>
      <p:pic>
        <p:nvPicPr>
          <p:cNvPr id="26" name="Graphic 25" descr="Bee with solid fill">
            <a:extLst>
              <a:ext uri="{FF2B5EF4-FFF2-40B4-BE49-F238E27FC236}">
                <a16:creationId xmlns:a16="http://schemas.microsoft.com/office/drawing/2014/main" id="{F908EF19-EC7D-F89E-00C9-7BB5BD2A5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10150" y="2368118"/>
            <a:ext cx="462865" cy="462865"/>
          </a:xfrm>
          <a:prstGeom prst="rect">
            <a:avLst/>
          </a:prstGeom>
        </p:spPr>
      </p:pic>
      <p:pic>
        <p:nvPicPr>
          <p:cNvPr id="27" name="Graphic 26" descr="Bee with solid fill">
            <a:extLst>
              <a:ext uri="{FF2B5EF4-FFF2-40B4-BE49-F238E27FC236}">
                <a16:creationId xmlns:a16="http://schemas.microsoft.com/office/drawing/2014/main" id="{C3ADF371-57EE-0000-5FB6-39703FC22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87726" y="2665453"/>
            <a:ext cx="462865" cy="462865"/>
          </a:xfrm>
          <a:prstGeom prst="rect">
            <a:avLst/>
          </a:prstGeom>
        </p:spPr>
      </p:pic>
      <p:pic>
        <p:nvPicPr>
          <p:cNvPr id="28" name="Graphic 27" descr="Bee with solid fill">
            <a:extLst>
              <a:ext uri="{FF2B5EF4-FFF2-40B4-BE49-F238E27FC236}">
                <a16:creationId xmlns:a16="http://schemas.microsoft.com/office/drawing/2014/main" id="{664F1A26-C933-C035-3CDD-AC60D2E72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0573" y="2915290"/>
            <a:ext cx="462865" cy="462865"/>
          </a:xfrm>
          <a:prstGeom prst="rect">
            <a:avLst/>
          </a:prstGeom>
        </p:spPr>
      </p:pic>
      <p:pic>
        <p:nvPicPr>
          <p:cNvPr id="29" name="Graphic 28" descr="Bee with solid fill">
            <a:extLst>
              <a:ext uri="{FF2B5EF4-FFF2-40B4-BE49-F238E27FC236}">
                <a16:creationId xmlns:a16="http://schemas.microsoft.com/office/drawing/2014/main" id="{439F779C-D629-4721-5D9F-E295AA6B0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2852" y="2995536"/>
            <a:ext cx="462865" cy="4628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F517AD5-9E5A-8F39-C8B7-BFB3AFB5AB29}"/>
              </a:ext>
            </a:extLst>
          </p:cNvPr>
          <p:cNvSpPr txBox="1"/>
          <p:nvPr/>
        </p:nvSpPr>
        <p:spPr>
          <a:xfrm>
            <a:off x="288358" y="4801996"/>
            <a:ext cx="3649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Bioclimate envelope </a:t>
            </a:r>
          </a:p>
        </p:txBody>
      </p:sp>
    </p:spTree>
    <p:extLst>
      <p:ext uri="{BB962C8B-B14F-4D97-AF65-F5344CB8AC3E}">
        <p14:creationId xmlns:p14="http://schemas.microsoft.com/office/powerpoint/2010/main" val="147978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02EF9780-3B12-4721-851D-25C189D4F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3808" y="80111"/>
            <a:ext cx="5832648" cy="6697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F11BEC-5DBD-422C-BE94-1E9684E42D9F}"/>
              </a:ext>
            </a:extLst>
          </p:cNvPr>
          <p:cNvSpPr txBox="1"/>
          <p:nvPr/>
        </p:nvSpPr>
        <p:spPr>
          <a:xfrm>
            <a:off x="82450" y="5877272"/>
            <a:ext cx="2977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Hortal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2010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Ecography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5EC4F-397E-4719-A0C7-255FB63ADB33}"/>
              </a:ext>
            </a:extLst>
          </p:cNvPr>
          <p:cNvSpPr txBox="1"/>
          <p:nvPr/>
        </p:nvSpPr>
        <p:spPr>
          <a:xfrm>
            <a:off x="57396" y="1628800"/>
            <a:ext cx="2786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Understanding (insect) species distributions across spatial scales</a:t>
            </a:r>
          </a:p>
        </p:txBody>
      </p:sp>
    </p:spTree>
    <p:extLst>
      <p:ext uri="{BB962C8B-B14F-4D97-AF65-F5344CB8AC3E}">
        <p14:creationId xmlns:p14="http://schemas.microsoft.com/office/powerpoint/2010/main" val="383707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3036</TotalTime>
  <Words>1476</Words>
  <Application>Microsoft Office PowerPoint</Application>
  <PresentationFormat>On-screen Show (4:3)</PresentationFormat>
  <Paragraphs>140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 Unicode MS</vt:lpstr>
      <vt:lpstr>Cambria-Bold</vt:lpstr>
      <vt:lpstr>等线</vt:lpstr>
      <vt:lpstr>Arial</vt:lpstr>
      <vt:lpstr>Calibri</vt:lpstr>
      <vt:lpstr>Calibri Light</vt:lpstr>
      <vt:lpstr>Corbel</vt:lpstr>
      <vt:lpstr>Rockwell Condensed</vt:lpstr>
      <vt:lpstr>Times New Roman</vt:lpstr>
      <vt:lpstr>Wingdings</vt:lpstr>
      <vt:lpstr>Office Theme</vt:lpstr>
      <vt:lpstr>Variables for SDM</vt:lpstr>
      <vt:lpstr>PowerPoint Presentation</vt:lpstr>
      <vt:lpstr>Environmental data/Raster data:</vt:lpstr>
      <vt:lpstr>What is a raster data looks like?</vt:lpstr>
      <vt:lpstr>PowerPoint Presentation</vt:lpstr>
      <vt:lpstr>What is a raster data looks like?</vt:lpstr>
      <vt:lpstr>General characteristics of raster data</vt:lpstr>
      <vt:lpstr>Unifying raster layers-why?</vt:lpstr>
      <vt:lpstr>PowerPoint Presentation</vt:lpstr>
      <vt:lpstr>PowerPoint Presentation</vt:lpstr>
      <vt:lpstr>PowerPoint Presentation</vt:lpstr>
      <vt:lpstr>Change resolution--resample</vt:lpstr>
      <vt:lpstr>Extract by mask– raster and polygon</vt:lpstr>
      <vt:lpstr>PowerPoint Presentation</vt:lpstr>
      <vt:lpstr>Classical map algebra -local analysis</vt:lpstr>
      <vt:lpstr>PowerPoint Presentation</vt:lpstr>
      <vt:lpstr>PowerPoint Presentation</vt:lpstr>
      <vt:lpstr>PowerPoint Presentation</vt:lpstr>
      <vt:lpstr>PowerPoint Presentation</vt:lpstr>
      <vt:lpstr>Source of environmental/raster data for model:  WorldClim-bioclimate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these database?</vt:lpstr>
      <vt:lpstr>Ecological Niche Model How many variables should be used?</vt:lpstr>
      <vt:lpstr>5-8 variables would be enough </vt:lpstr>
      <vt:lpstr>How to select environmental variables?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ONE</dc:title>
  <dc:creator>ZHU Gengping</dc:creator>
  <cp:lastModifiedBy>Zhu, Gengping</cp:lastModifiedBy>
  <cp:revision>119</cp:revision>
  <dcterms:created xsi:type="dcterms:W3CDTF">2023-01-08T05:02:36Z</dcterms:created>
  <dcterms:modified xsi:type="dcterms:W3CDTF">2026-09-16T07:32:59Z</dcterms:modified>
</cp:coreProperties>
</file>