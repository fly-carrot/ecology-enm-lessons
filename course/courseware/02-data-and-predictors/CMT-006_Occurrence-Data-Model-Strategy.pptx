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418" r:id="rId2"/>
    <p:sldId id="652" r:id="rId3"/>
    <p:sldId id="678" r:id="rId4"/>
    <p:sldId id="681" r:id="rId5"/>
    <p:sldId id="680" r:id="rId6"/>
    <p:sldId id="655" r:id="rId7"/>
    <p:sldId id="657" r:id="rId8"/>
    <p:sldId id="656" r:id="rId9"/>
    <p:sldId id="674" r:id="rId10"/>
    <p:sldId id="676" r:id="rId11"/>
    <p:sldId id="670" r:id="rId12"/>
    <p:sldId id="677" r:id="rId13"/>
    <p:sldId id="679" r:id="rId14"/>
    <p:sldId id="686" r:id="rId15"/>
    <p:sldId id="669" r:id="rId16"/>
    <p:sldId id="659" r:id="rId17"/>
    <p:sldId id="660" r:id="rId18"/>
    <p:sldId id="662" r:id="rId19"/>
    <p:sldId id="658" r:id="rId20"/>
    <p:sldId id="673" r:id="rId21"/>
    <p:sldId id="663" r:id="rId22"/>
    <p:sldId id="664" r:id="rId23"/>
    <p:sldId id="665" r:id="rId24"/>
    <p:sldId id="687" r:id="rId25"/>
    <p:sldId id="668" r:id="rId26"/>
    <p:sldId id="690" r:id="rId27"/>
    <p:sldId id="688" r:id="rId28"/>
    <p:sldId id="689" r:id="rId29"/>
    <p:sldId id="691" r:id="rId30"/>
    <p:sldId id="661" r:id="rId31"/>
    <p:sldId id="684" r:id="rId32"/>
    <p:sldId id="693" r:id="rId33"/>
    <p:sldId id="692" r:id="rId34"/>
    <p:sldId id="694" r:id="rId35"/>
    <p:sldId id="685" r:id="rId36"/>
    <p:sldId id="69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888ED-F378-4B2C-92BC-1C90BE68831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C8CF2-068D-4E1E-A256-93AEDA15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8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F2DDE-1B51-41DE-81B0-464DF54D77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644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CF2-068D-4E1E-A256-93AEDA15FE0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746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CF2-068D-4E1E-A256-93AEDA15FE0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250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CF2-068D-4E1E-A256-93AEDA15FE0A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644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3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2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10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9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8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2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8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cc.gov/media/radio/dms-decima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georeferencing.org/georefcalculator/gc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Gengping\Local Settings\Temporary Internet Files\Content.IE5\V3PLPH9Q\openModeller_overview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2438558"/>
            <a:ext cx="9128794" cy="221457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44" y="1340768"/>
            <a:ext cx="864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black">
                    <a:lumMod val="95000"/>
                    <a:lumOff val="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itchFamily="18" charset="0"/>
                <a:cs typeface="Times New Roman" pitchFamily="18" charset="0"/>
              </a:rPr>
              <a:t>O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ckwell Condensed" pitchFamily="18" charset="0"/>
                <a:ea typeface="+mn-ea"/>
                <a:cs typeface="Times New Roman" pitchFamily="18" charset="0"/>
              </a:rPr>
              <a:t>ccurrance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ckwell Condensed" pitchFamily="18" charset="0"/>
                <a:ea typeface="+mn-ea"/>
                <a:cs typeface="Times New Roman" pitchFamily="18" charset="0"/>
              </a:rPr>
              <a:t> data-Model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4365" y="5429264"/>
            <a:ext cx="4293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openModeller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http://openmodeller.sourceforge.net</a:t>
            </a:r>
          </a:p>
        </p:txBody>
      </p:sp>
    </p:spTree>
    <p:extLst>
      <p:ext uri="{BB962C8B-B14F-4D97-AF65-F5344CB8AC3E}">
        <p14:creationId xmlns:p14="http://schemas.microsoft.com/office/powerpoint/2010/main" val="386267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DEAC-CA23-7658-98B6-848CBA00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b="1" dirty="0">
                <a:latin typeface="Amasis MT Pro Black" panose="02040A04050005020304" pitchFamily="18" charset="0"/>
              </a:rPr>
              <a:t>Input</a:t>
            </a:r>
            <a:r>
              <a:rPr lang="en-US" altLang="zh-CN" sz="4800" dirty="0"/>
              <a:t>-</a:t>
            </a:r>
            <a:r>
              <a:rPr lang="en-US" altLang="zh-CN" sz="4800" b="1" dirty="0">
                <a:solidFill>
                  <a:srgbClr val="FF0000"/>
                </a:solidFill>
              </a:rPr>
              <a:t>occurrence data</a:t>
            </a:r>
            <a:endParaRPr lang="zh-CN" alt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F777D-032C-FF65-0F25-29F27A421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dirty="0"/>
              <a:t>Latitude/longitude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dirty="0"/>
              <a:t>Format: </a:t>
            </a:r>
          </a:p>
          <a:p>
            <a:pPr marL="0" indent="0">
              <a:buNone/>
            </a:pPr>
            <a:r>
              <a:rPr lang="en-US" altLang="zh-CN" dirty="0"/>
              <a:t>Degree/minute/second</a:t>
            </a:r>
          </a:p>
          <a:p>
            <a:pPr marL="0" indent="0">
              <a:buNone/>
            </a:pPr>
            <a:r>
              <a:rPr lang="en-US" altLang="zh-CN" dirty="0"/>
              <a:t>Decimal format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Location/site </a:t>
            </a:r>
            <a:r>
              <a:rPr lang="en-US" altLang="zh-CN" dirty="0">
                <a:sym typeface="Wingdings" panose="05000000000000000000" pitchFamily="2" charset="2"/>
              </a:rPr>
              <a:t> coordinates (</a:t>
            </a:r>
            <a:r>
              <a:rPr lang="en-US" altLang="zh-CN" dirty="0" err="1">
                <a:sym typeface="Wingdings" panose="05000000000000000000" pitchFamily="2" charset="2"/>
              </a:rPr>
              <a:t>lat</a:t>
            </a:r>
            <a:r>
              <a:rPr lang="en-US" altLang="zh-CN" dirty="0">
                <a:sym typeface="Wingdings" panose="05000000000000000000" pitchFamily="2" charset="2"/>
              </a:rPr>
              <a:t>/long)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138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AF6B-CE8B-7FB1-71E1-155492DDE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5894070" cy="4399914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Degree, minute, second</a:t>
            </a:r>
            <a:br>
              <a:rPr lang="en-US" altLang="zh-CN" sz="36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altLang="zh-CN" sz="36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altLang="zh-CN" sz="36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altLang="zh-CN" sz="36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altLang="zh-CN" sz="36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Decimal degrees</a:t>
            </a:r>
            <a:br>
              <a:rPr lang="en-US" altLang="zh-CN" dirty="0"/>
            </a:br>
            <a:endParaRPr lang="zh-CN" alt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7591BC-36B4-EFF7-A6B1-6B9082D8E920}"/>
              </a:ext>
            </a:extLst>
          </p:cNvPr>
          <p:cNvCxnSpPr>
            <a:cxnSpLocks/>
          </p:cNvCxnSpPr>
          <p:nvPr/>
        </p:nvCxnSpPr>
        <p:spPr>
          <a:xfrm>
            <a:off x="1645920" y="1808480"/>
            <a:ext cx="0" cy="1178560"/>
          </a:xfrm>
          <a:prstGeom prst="straightConnector1">
            <a:avLst/>
          </a:prstGeom>
          <a:ln w="635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851055-55C6-99A0-D794-F2802FDAC1DE}"/>
              </a:ext>
            </a:extLst>
          </p:cNvPr>
          <p:cNvCxnSpPr>
            <a:cxnSpLocks/>
          </p:cNvCxnSpPr>
          <p:nvPr/>
        </p:nvCxnSpPr>
        <p:spPr>
          <a:xfrm>
            <a:off x="2072640" y="1808480"/>
            <a:ext cx="0" cy="1178560"/>
          </a:xfrm>
          <a:prstGeom prst="straightConnector1">
            <a:avLst/>
          </a:prstGeom>
          <a:ln w="698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C84EE6-A0AC-F412-0F55-EDCD019DF70A}"/>
              </a:ext>
            </a:extLst>
          </p:cNvPr>
          <p:cNvSpPr txBox="1"/>
          <p:nvPr/>
        </p:nvSpPr>
        <p:spPr>
          <a:xfrm>
            <a:off x="3555999" y="4095492"/>
            <a:ext cx="4145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2400" dirty="0"/>
              <a:t>Latitude: 46° 43' 57.36" N </a:t>
            </a:r>
          </a:p>
          <a:p>
            <a:r>
              <a:rPr lang="pt-BR" altLang="zh-CN" sz="2400" dirty="0"/>
              <a:t>Longitude: 117° 10' 18.48" W</a:t>
            </a:r>
          </a:p>
          <a:p>
            <a:endParaRPr lang="pt-BR" altLang="zh-CN" sz="2400" dirty="0"/>
          </a:p>
          <a:p>
            <a:endParaRPr lang="pt-BR" altLang="zh-CN" sz="2400" dirty="0"/>
          </a:p>
          <a:p>
            <a:r>
              <a:rPr lang="pt-BR" altLang="zh-CN" sz="2400" dirty="0"/>
              <a:t>Latitude: </a:t>
            </a:r>
            <a:r>
              <a:rPr lang="en-US" altLang="zh-CN" sz="2400" dirty="0"/>
              <a:t>46.7298</a:t>
            </a:r>
            <a:r>
              <a:rPr lang="pt-BR" altLang="zh-CN" sz="2400" dirty="0"/>
              <a:t>°</a:t>
            </a:r>
            <a:endParaRPr lang="en-US" altLang="zh-CN" sz="2400" dirty="0"/>
          </a:p>
          <a:p>
            <a:r>
              <a:rPr lang="pt-BR" altLang="zh-CN" sz="2400" dirty="0"/>
              <a:t>Longitude: -</a:t>
            </a:r>
            <a:r>
              <a:rPr lang="en-US" altLang="zh-CN" sz="2400" dirty="0"/>
              <a:t>117.1817</a:t>
            </a:r>
            <a:r>
              <a:rPr lang="pt-BR" altLang="zh-CN" sz="2400" dirty="0"/>
              <a:t>°</a:t>
            </a:r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251D68-A127-C5A2-5998-E6889D00EA5D}"/>
              </a:ext>
            </a:extLst>
          </p:cNvPr>
          <p:cNvSpPr txBox="1"/>
          <p:nvPr/>
        </p:nvSpPr>
        <p:spPr>
          <a:xfrm>
            <a:off x="1340760" y="4199108"/>
            <a:ext cx="2072640" cy="646331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Pullman: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7A0F7D-B1CD-4B8C-5198-380581DD6D18}"/>
              </a:ext>
            </a:extLst>
          </p:cNvPr>
          <p:cNvCxnSpPr>
            <a:cxnSpLocks/>
          </p:cNvCxnSpPr>
          <p:nvPr/>
        </p:nvCxnSpPr>
        <p:spPr>
          <a:xfrm>
            <a:off x="4104640" y="5008880"/>
            <a:ext cx="0" cy="607645"/>
          </a:xfrm>
          <a:prstGeom prst="straightConnector1">
            <a:avLst/>
          </a:prstGeom>
          <a:ln w="635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9BF49F-13CC-0928-9E27-DFF9A70A33F1}"/>
              </a:ext>
            </a:extLst>
          </p:cNvPr>
          <p:cNvCxnSpPr>
            <a:cxnSpLocks/>
          </p:cNvCxnSpPr>
          <p:nvPr/>
        </p:nvCxnSpPr>
        <p:spPr>
          <a:xfrm flipV="1">
            <a:off x="4297680" y="5008879"/>
            <a:ext cx="0" cy="60764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9FDEE5-650A-8AF4-D52D-E322DF226F2B}"/>
              </a:ext>
            </a:extLst>
          </p:cNvPr>
          <p:cNvSpPr/>
          <p:nvPr/>
        </p:nvSpPr>
        <p:spPr>
          <a:xfrm>
            <a:off x="167642" y="3988227"/>
            <a:ext cx="8808716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96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C98FA0F-51A3-91EA-1EB0-2122E8BAB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71"/>
            <a:ext cx="9144000" cy="609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98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063A0-5E6C-7C15-3B14-87574C773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115" y="157365"/>
            <a:ext cx="6111770" cy="2621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BB72E-E16C-2D19-070D-0AB54EB66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978" y="3011603"/>
            <a:ext cx="6508044" cy="3299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278160-AC7E-E5C2-9757-712B202CE3B8}"/>
              </a:ext>
            </a:extLst>
          </p:cNvPr>
          <p:cNvSpPr txBox="1"/>
          <p:nvPr/>
        </p:nvSpPr>
        <p:spPr>
          <a:xfrm>
            <a:off x="1952368" y="6449068"/>
            <a:ext cx="61756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hlinkClick r:id="rId4"/>
              </a:rPr>
              <a:t>https://www.fcc.gov/media/radio/dms-decimal</a:t>
            </a:r>
            <a:r>
              <a:rPr lang="zh-CN" alt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267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D204-CFC4-315F-BD66-EA2F047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Where can you get these records?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15BEC-DB8C-3D6E-69AC-353BFB567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35" y="3432681"/>
            <a:ext cx="7498730" cy="29796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557199-0A8C-979C-8AAA-AE771800C5C2}"/>
              </a:ext>
            </a:extLst>
          </p:cNvPr>
          <p:cNvSpPr txBox="1"/>
          <p:nvPr/>
        </p:nvSpPr>
        <p:spPr>
          <a:xfrm>
            <a:off x="441960" y="1325563"/>
            <a:ext cx="8082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dirty="0"/>
              <a:t>Field survey, observation;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zh-CN" sz="12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dirty="0"/>
              <a:t>Published literatures, monographs, papers, atlases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zh-CN" sz="12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dirty="0"/>
              <a:t>Museum &amp; herbaria: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99219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BA1894-22E6-3C00-47BF-2226BEBBD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9050"/>
            <a:ext cx="9144000" cy="735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D222DD-54DC-AD3C-D57C-67D2190E1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610" y="1302097"/>
            <a:ext cx="4015829" cy="425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7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FC73F-4B56-8F38-B66D-9BBAC1848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How to get longitude/latitude ?</a:t>
            </a:r>
            <a:br>
              <a:rPr lang="en-US" altLang="zh-CN" b="1" dirty="0">
                <a:solidFill>
                  <a:srgbClr val="FF0000"/>
                </a:solidFill>
              </a:rPr>
            </a:b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76100-C187-DE51-D7C5-8D9A9CB55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25015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longitude/latitude --&gt; 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x/y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Online database -&gt; longitude/latitude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Locality -&gt; longitude/latitude </a:t>
            </a: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107A37-7027-5A33-94CB-28845F1B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850640"/>
            <a:ext cx="7468247" cy="8077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371A2E-FE6B-C257-1BC1-78B963090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82" y="4900250"/>
            <a:ext cx="2248095" cy="13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9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846614-37C7-A378-8FFF-D41C14DFA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489"/>
            <a:ext cx="9144000" cy="51070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80D828-C266-0C09-909A-3364C5D20CAB}"/>
              </a:ext>
            </a:extLst>
          </p:cNvPr>
          <p:cNvSpPr txBox="1"/>
          <p:nvPr/>
        </p:nvSpPr>
        <p:spPr>
          <a:xfrm>
            <a:off x="873760" y="149275"/>
            <a:ext cx="8117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hlinkClick r:id="rId3"/>
              </a:rPr>
              <a:t>http://georeferencing.org/georefcalculator/gc.html</a:t>
            </a:r>
            <a:r>
              <a:rPr lang="zh-CN" altLang="en-US" sz="2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4981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7F6D16-D894-64F7-2C39-E2A666F4D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000"/>
            <a:ext cx="91440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7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D33E96-67FD-078C-DA3A-0059392CD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246"/>
            <a:ext cx="9144000" cy="568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4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DAFB2-024A-A8D8-B79A-461B4C1EA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720"/>
            <a:ext cx="9144000" cy="51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06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D712CC-5535-1E9A-9B65-6187C2905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976"/>
            <a:ext cx="7536833" cy="4237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F513EB-8BDC-89DB-8668-3CF4F2A3E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5185"/>
            <a:ext cx="5258256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87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8055AF-1198-8542-3316-4FAE7E03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63" y="669200"/>
            <a:ext cx="7552074" cy="2065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F5B0D5-56D0-A80D-73AC-9BE680008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53" y="3125418"/>
            <a:ext cx="7666384" cy="11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4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A7CC10-08AC-EC09-DE44-B41B2D485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427"/>
            <a:ext cx="9161508" cy="50929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EA1F40-ABCD-D5BB-299B-C485C1B75432}"/>
              </a:ext>
            </a:extLst>
          </p:cNvPr>
          <p:cNvSpPr txBox="1"/>
          <p:nvPr/>
        </p:nvSpPr>
        <p:spPr>
          <a:xfrm>
            <a:off x="0" y="548640"/>
            <a:ext cx="8564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Getting online data: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538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7BE638-8355-1E78-0BA8-9ACA1559C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06" y="502666"/>
            <a:ext cx="8405588" cy="58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90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72E753-E4EC-A0E5-E492-55925AD6A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77" y="0"/>
            <a:ext cx="3764606" cy="807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534E0C-2179-C23B-3B3D-0819EC4E2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87" y="929568"/>
            <a:ext cx="6515665" cy="1646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C75DCB-1398-1507-EF76-197062AEE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6469941" cy="929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90FE9B-758D-9D09-6FCD-98EA639EB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87" y="4358721"/>
            <a:ext cx="5159187" cy="128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86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BC1737-2496-93D9-AEE6-7A3209F5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374"/>
            <a:ext cx="9145474" cy="4296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C84094-2D85-5DC5-D400-D382D30C9871}"/>
              </a:ext>
            </a:extLst>
          </p:cNvPr>
          <p:cNvSpPr txBox="1"/>
          <p:nvPr/>
        </p:nvSpPr>
        <p:spPr>
          <a:xfrm>
            <a:off x="0" y="223520"/>
            <a:ext cx="474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00FF"/>
                </a:solidFill>
              </a:rPr>
              <a:t>Step 1: Clean errors</a:t>
            </a:r>
            <a:endParaRPr lang="zh-CN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43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A22DE-764F-65C4-72D0-E9D02BB0B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40" y="648727"/>
            <a:ext cx="9188136" cy="59552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2ED3C7-684C-73B4-250F-697F014BB83F}"/>
              </a:ext>
            </a:extLst>
          </p:cNvPr>
          <p:cNvSpPr txBox="1"/>
          <p:nvPr/>
        </p:nvSpPr>
        <p:spPr>
          <a:xfrm>
            <a:off x="4162031" y="1737360"/>
            <a:ext cx="258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Any pattern / problem?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0B1AE8-D46E-B951-81B4-07EF72298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327" y="116077"/>
            <a:ext cx="1249788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99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4CDD0-FDE5-A0B9-73DC-EBAB1F3CF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33" y="632217"/>
            <a:ext cx="8458933" cy="55935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33B1F5-3A34-BEC7-96C6-AB864B85EE44}"/>
              </a:ext>
            </a:extLst>
          </p:cNvPr>
          <p:cNvSpPr txBox="1"/>
          <p:nvPr/>
        </p:nvSpPr>
        <p:spPr>
          <a:xfrm>
            <a:off x="4162031" y="1737360"/>
            <a:ext cx="258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Any pattern / problem?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FB69C8-C1CF-4305-CF34-8C7F0D3AF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327" y="116077"/>
            <a:ext cx="1249788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74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11D2F0-C2D4-E2D3-3B3F-CE01B261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79" y="152116"/>
            <a:ext cx="8794242" cy="6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18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0782D-EB7C-3DF5-8197-19D51EA75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03" y="190219"/>
            <a:ext cx="8702794" cy="64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38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EBDF4-2F39-FE11-C723-CFE6E18FD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89" y="708424"/>
            <a:ext cx="8786621" cy="54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37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FF1372-4827-A8E0-9C3E-9EB861A12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46" y="1414300"/>
            <a:ext cx="7841348" cy="4934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3E91F1-0360-DB29-CC9E-770D3E97B449}"/>
              </a:ext>
            </a:extLst>
          </p:cNvPr>
          <p:cNvSpPr txBox="1"/>
          <p:nvPr/>
        </p:nvSpPr>
        <p:spPr>
          <a:xfrm>
            <a:off x="0" y="989936"/>
            <a:ext cx="8868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Occurrence filtering and dealing with bias/autocorrelation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17198-6FB9-6DF2-3DC1-EE630B455883}"/>
              </a:ext>
            </a:extLst>
          </p:cNvPr>
          <p:cNvSpPr txBox="1"/>
          <p:nvPr/>
        </p:nvSpPr>
        <p:spPr>
          <a:xfrm>
            <a:off x="0" y="223520"/>
            <a:ext cx="474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00FF"/>
                </a:solidFill>
              </a:rPr>
              <a:t>Step 2: Remove bias</a:t>
            </a:r>
            <a:endParaRPr lang="zh-CN" altLang="en-US" sz="3600" b="1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FCAB0-0907-3041-554B-1237C523D027}"/>
              </a:ext>
            </a:extLst>
          </p:cNvPr>
          <p:cNvSpPr txBox="1"/>
          <p:nvPr/>
        </p:nvSpPr>
        <p:spPr>
          <a:xfrm>
            <a:off x="0" y="6211669"/>
            <a:ext cx="914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The First Law of Geography, according to Waldo Tobler, is "</a:t>
            </a:r>
            <a:r>
              <a:rPr lang="en-US" altLang="zh-CN" b="1" dirty="0">
                <a:solidFill>
                  <a:srgbClr val="FF0000"/>
                </a:solidFill>
              </a:rPr>
              <a:t>everything is related to everything else, but near things are more related than distant things</a:t>
            </a:r>
            <a:r>
              <a:rPr lang="en-US" altLang="zh-CN" dirty="0">
                <a:solidFill>
                  <a:srgbClr val="FF0000"/>
                </a:solidFill>
              </a:rPr>
              <a:t>."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474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B515C-AC72-F9CA-FDA2-C04D584BD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89" y="0"/>
            <a:ext cx="8560221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8303907-ACF3-52D1-CE47-6225E1BE525E}"/>
              </a:ext>
            </a:extLst>
          </p:cNvPr>
          <p:cNvSpPr/>
          <p:nvPr/>
        </p:nvSpPr>
        <p:spPr>
          <a:xfrm>
            <a:off x="4968240" y="1849120"/>
            <a:ext cx="1940560" cy="1290320"/>
          </a:xfrm>
          <a:prstGeom prst="ellipse">
            <a:avLst/>
          </a:prstGeom>
          <a:noFill/>
          <a:ln w="6032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5E7DCE-68C2-33B8-46DD-16A3A3DE86B5}"/>
              </a:ext>
            </a:extLst>
          </p:cNvPr>
          <p:cNvSpPr/>
          <p:nvPr/>
        </p:nvSpPr>
        <p:spPr>
          <a:xfrm rot="1957806">
            <a:off x="3344325" y="2447011"/>
            <a:ext cx="1351926" cy="720521"/>
          </a:xfrm>
          <a:prstGeom prst="ellipse">
            <a:avLst/>
          </a:prstGeom>
          <a:noFill/>
          <a:ln w="6032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90C8FC-81C2-7526-737C-BE03E5C5BE01}"/>
              </a:ext>
            </a:extLst>
          </p:cNvPr>
          <p:cNvSpPr/>
          <p:nvPr/>
        </p:nvSpPr>
        <p:spPr>
          <a:xfrm>
            <a:off x="2054649" y="3332480"/>
            <a:ext cx="6195271" cy="1798320"/>
          </a:xfrm>
          <a:prstGeom prst="ellipse">
            <a:avLst/>
          </a:prstGeom>
          <a:noFill/>
          <a:ln w="603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13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609992-1D30-2DCD-3EEA-EC96AD35E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3" y="445511"/>
            <a:ext cx="823031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20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97B5D-8049-9B85-D22A-1D6A62E46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99" y="834165"/>
            <a:ext cx="8558002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69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BFC53F-4AEF-FD58-BC49-02C6F0605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493754"/>
            <a:ext cx="8209279" cy="59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2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ap&#10;&#10;Description automatically generated">
            <a:extLst>
              <a:ext uri="{FF2B5EF4-FFF2-40B4-BE49-F238E27FC236}">
                <a16:creationId xmlns:a16="http://schemas.microsoft.com/office/drawing/2014/main" id="{A401878B-FE72-D84B-A2BF-01F72CFBC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63359"/>
            <a:ext cx="4573042" cy="4573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97E33C-2002-E954-4CFD-395ED5F73609}"/>
              </a:ext>
            </a:extLst>
          </p:cNvPr>
          <p:cNvSpPr txBox="1"/>
          <p:nvPr/>
        </p:nvSpPr>
        <p:spPr>
          <a:xfrm>
            <a:off x="325120" y="818420"/>
            <a:ext cx="58216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Addressing spatial autocorrelation </a:t>
            </a:r>
          </a:p>
          <a:p>
            <a:r>
              <a:rPr lang="en-US" altLang="zh-CN" sz="2800" dirty="0"/>
              <a:t>Presence only models</a:t>
            </a:r>
          </a:p>
          <a:p>
            <a:endParaRPr lang="en-US" altLang="zh-CN" sz="2800" dirty="0"/>
          </a:p>
          <a:p>
            <a:r>
              <a:rPr lang="en-US" altLang="zh-CN" sz="2800" u="sng" dirty="0"/>
              <a:t>Area weighted method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Select the number of points according </a:t>
            </a:r>
          </a:p>
          <a:p>
            <a:r>
              <a:rPr lang="en-US" altLang="zh-CN" sz="2400" dirty="0"/>
              <a:t>the areas of administration unit;</a:t>
            </a:r>
          </a:p>
          <a:p>
            <a:r>
              <a:rPr lang="en-US" altLang="zh-CN" sz="2400" dirty="0"/>
              <a:t>Lage state -&gt; reserve more points;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79303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26FF-C02E-8E17-F473-97F5E3FB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/>
              <a:t>Model calibration and evaluation strategy:</a:t>
            </a:r>
            <a:endParaRPr lang="zh-CN" alt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7513C-C41D-D354-9077-AAEE95D7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Species with many records:</a:t>
            </a:r>
          </a:p>
          <a:p>
            <a:pPr marL="0" indent="0">
              <a:buNone/>
            </a:pPr>
            <a:r>
              <a:rPr lang="en-US" altLang="zh-CN" dirty="0"/>
              <a:t>      e.g., invasive species, data splitting (30/70%), checkboard, block, effect of replicate (machine learning);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Species with limited records:</a:t>
            </a:r>
          </a:p>
          <a:p>
            <a:pPr marL="0" indent="0">
              <a:buNone/>
            </a:pPr>
            <a:r>
              <a:rPr lang="en-US" altLang="zh-CN" dirty="0"/>
              <a:t>    e.g., rare and endemic species, ensemble of small model, Pearson method (Jackknife-1)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4330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7184-1E18-B21F-1F27-ADD30649F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" y="0"/>
            <a:ext cx="885952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data splitting-species with many records</a:t>
            </a:r>
            <a:endParaRPr lang="zh-CN" altLang="en-US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F23CC-BF38-0735-3D6F-7796065E3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1009440"/>
            <a:ext cx="7384420" cy="4839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58BB0E-2735-75F5-C1E9-554A02F1831E}"/>
              </a:ext>
            </a:extLst>
          </p:cNvPr>
          <p:cNvSpPr txBox="1"/>
          <p:nvPr/>
        </p:nvSpPr>
        <p:spPr>
          <a:xfrm>
            <a:off x="264160" y="5848559"/>
            <a:ext cx="863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The simplest way is random data splitting (70% training, 30% testing), however they are not independent.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626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atter chart&#10;&#10;Description automatically generated with medium confidence">
            <a:extLst>
              <a:ext uri="{FF2B5EF4-FFF2-40B4-BE49-F238E27FC236}">
                <a16:creationId xmlns:a16="http://schemas.microsoft.com/office/drawing/2014/main" id="{B79E9E4D-E893-449A-FB87-A7D579ED6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719"/>
            <a:ext cx="9151978" cy="37674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3B7451-C2E4-A40E-3BC8-8F8331A9400D}"/>
              </a:ext>
            </a:extLst>
          </p:cNvPr>
          <p:cNvSpPr txBox="1"/>
          <p:nvPr/>
        </p:nvSpPr>
        <p:spPr>
          <a:xfrm>
            <a:off x="233680" y="386080"/>
            <a:ext cx="8107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Method 1: Spatial block cross validations</a:t>
            </a:r>
            <a:endParaRPr lang="zh-CN" altLang="en-US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C50DB-C04F-8B23-17F9-2A92A853F774}"/>
              </a:ext>
            </a:extLst>
          </p:cNvPr>
          <p:cNvSpPr txBox="1"/>
          <p:nvPr/>
        </p:nvSpPr>
        <p:spPr>
          <a:xfrm>
            <a:off x="388620" y="5299949"/>
            <a:ext cx="457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R package: blockCV</a:t>
            </a:r>
          </a:p>
        </p:txBody>
      </p:sp>
    </p:spTree>
    <p:extLst>
      <p:ext uri="{BB962C8B-B14F-4D97-AF65-F5344CB8AC3E}">
        <p14:creationId xmlns:p14="http://schemas.microsoft.com/office/powerpoint/2010/main" val="2923461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05CEEC-B23C-61FB-0ADD-21D028D4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0772"/>
            <a:ext cx="9144000" cy="463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88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EBC3A3-33B8-5C37-DA81-2F7CA95FDC76}"/>
              </a:ext>
            </a:extLst>
          </p:cNvPr>
          <p:cNvSpPr txBox="1"/>
          <p:nvPr/>
        </p:nvSpPr>
        <p:spPr>
          <a:xfrm>
            <a:off x="396240" y="501134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Method 2: </a:t>
            </a:r>
            <a:r>
              <a:rPr lang="en-US" altLang="zh-CN" sz="3200" b="1" i="0" u="none" strike="noStrike" baseline="0" dirty="0">
                <a:latin typeface="Calibri" panose="020F0502020204030204" pitchFamily="34" charset="0"/>
              </a:rPr>
              <a:t>Spatial checkerboard</a:t>
            </a:r>
            <a:endParaRPr lang="zh-CN" alt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A9E5F-C105-0E1C-D47D-F243622D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" y="1085909"/>
            <a:ext cx="9141910" cy="4095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3B3836-36F8-7807-1FB0-06437ED8511B}"/>
              </a:ext>
            </a:extLst>
          </p:cNvPr>
          <p:cNvSpPr txBox="1"/>
          <p:nvPr/>
        </p:nvSpPr>
        <p:spPr>
          <a:xfrm>
            <a:off x="396240" y="5765874"/>
            <a:ext cx="417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R package: </a:t>
            </a:r>
            <a:r>
              <a:rPr lang="en-US" altLang="zh-CN" b="1" dirty="0" err="1"/>
              <a:t>ENMeval</a:t>
            </a:r>
            <a:r>
              <a:rPr lang="en-US" altLang="zh-C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3568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8897-6B61-26E1-C9CA-C19A424B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Rare, endemic species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0AE8-FE71-2D7E-C0C5-4540C05D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524000"/>
            <a:ext cx="8332470" cy="4652963"/>
          </a:xfrm>
        </p:spPr>
        <p:txBody>
          <a:bodyPr/>
          <a:lstStyle/>
          <a:p>
            <a:r>
              <a:rPr lang="en-US" altLang="zh-CN" dirty="0"/>
              <a:t>Leaving-one-out method;</a:t>
            </a:r>
          </a:p>
          <a:p>
            <a:pPr marL="0" indent="0">
              <a:buNone/>
            </a:pPr>
            <a:r>
              <a:rPr lang="en-US" altLang="zh-CN" dirty="0"/>
              <a:t>  Propose by Richard Pearson et al. 2007</a:t>
            </a:r>
          </a:p>
          <a:p>
            <a:pPr marL="0" indent="0">
              <a:buNone/>
            </a:pPr>
            <a:r>
              <a:rPr lang="en-US" altLang="zh-CN" dirty="0"/>
              <a:t>  lowest presence threshold (LPT)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Ensemble of small model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Proposed by </a:t>
            </a:r>
            <a:r>
              <a:rPr lang="en-US" altLang="zh-CN" dirty="0" err="1"/>
              <a:t>Guisan</a:t>
            </a:r>
            <a:r>
              <a:rPr lang="en-US" altLang="zh-CN" dirty="0"/>
              <a:t> group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ecospat</a:t>
            </a:r>
            <a:r>
              <a:rPr lang="en-US" altLang="zh-CN" dirty="0">
                <a:solidFill>
                  <a:srgbClr val="FF0000"/>
                </a:solidFill>
              </a:rPr>
              <a:t> package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5098D-A338-5785-5C4D-2E4B5545C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854" y="1189037"/>
            <a:ext cx="2606266" cy="2514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9A6C0-26F4-EBC6-411D-C2B3F8809A28}"/>
              </a:ext>
            </a:extLst>
          </p:cNvPr>
          <p:cNvSpPr txBox="1"/>
          <p:nvPr/>
        </p:nvSpPr>
        <p:spPr>
          <a:xfrm>
            <a:off x="6354854" y="3749160"/>
            <a:ext cx="260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Calibri" panose="020F0502020204030204" pitchFamily="34" charset="0"/>
              </a:rPr>
              <a:t>leave-one-out (jackknife)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14F9CC-CA1F-441A-EF3E-95AD32D6D039}"/>
              </a:ext>
            </a:extLst>
          </p:cNvPr>
          <p:cNvCxnSpPr>
            <a:cxnSpLocks/>
          </p:cNvCxnSpPr>
          <p:nvPr/>
        </p:nvCxnSpPr>
        <p:spPr>
          <a:xfrm>
            <a:off x="335280" y="3986412"/>
            <a:ext cx="4714240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3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BEDD683C-013C-EF8A-ADC5-CEC275E5A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9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5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2358</TotalTime>
  <Words>460</Words>
  <Application>Microsoft Office PowerPoint</Application>
  <PresentationFormat>On-screen Show (4:3)</PresentationFormat>
  <Paragraphs>73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Adobe Gothic Std B</vt:lpstr>
      <vt:lpstr>等线</vt:lpstr>
      <vt:lpstr>Amasis MT Pro Black</vt:lpstr>
      <vt:lpstr>Arial</vt:lpstr>
      <vt:lpstr>Calibri</vt:lpstr>
      <vt:lpstr>Calibri Light</vt:lpstr>
      <vt:lpstr>Rockwell Condensed</vt:lpstr>
      <vt:lpstr>Times New Roman</vt:lpstr>
      <vt:lpstr>Wingdings</vt:lpstr>
      <vt:lpstr>Office Theme</vt:lpstr>
      <vt:lpstr>PowerPoint Presentation</vt:lpstr>
      <vt:lpstr>Input-occurrence data</vt:lpstr>
      <vt:lpstr>Degree, minute, second    Decimal degrees </vt:lpstr>
      <vt:lpstr>PowerPoint Presentation</vt:lpstr>
      <vt:lpstr>PowerPoint Presentation</vt:lpstr>
      <vt:lpstr>Where can you get these records?</vt:lpstr>
      <vt:lpstr>PowerPoint Presentation</vt:lpstr>
      <vt:lpstr>How to get longitude/latitude 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calibration and evaluation strategy:</vt:lpstr>
      <vt:lpstr>data splitting-species with many records</vt:lpstr>
      <vt:lpstr>PowerPoint Presentation</vt:lpstr>
      <vt:lpstr>PowerPoint Presentation</vt:lpstr>
      <vt:lpstr>PowerPoint Presentation</vt:lpstr>
      <vt:lpstr>Rare, endemic species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ONE</dc:title>
  <dc:creator>ZHU Gengping</dc:creator>
  <cp:lastModifiedBy>Zhu, Gengping</cp:lastModifiedBy>
  <cp:revision>84</cp:revision>
  <dcterms:created xsi:type="dcterms:W3CDTF">2023-01-08T05:02:36Z</dcterms:created>
  <dcterms:modified xsi:type="dcterms:W3CDTF">2026-09-16T06:50:13Z</dcterms:modified>
</cp:coreProperties>
</file>